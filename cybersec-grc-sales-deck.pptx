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Hero. Open with confidence — this is the most comprehensive security programme in India covering both hacking and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Problem. This is the "why not just CEH" slide. Data-backed. Be direct about the market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Market opportunity. Let the numbers land. Pause on 860K jobs unfilled — that is the demand gap students can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Two tracks. The key insight: these tracks reinforce each other. A pentester with GRC knowledge writes better reports. A GRC analyst who can run Burp Suite does better audits.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AI module. This is the differentiator. No other course in India covers AI for pentesting, AI for SOC, AND AI security (LLM threats)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Career paths. The range is the point. Students do not need to decide which path before enrolling — the programme keeps all doors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The GRC objection handler. This is the most important slide for students who think they only want pentesting. Use the ₹6 LPA ceiling vs ₹18-25 LPA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12-week roadmap. The pace is comfortable — 2–3 hrs/day. Emphasise Week 12 is dedicated to mock interviews and job applications, not more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India-specific content. This is the reason students should choose this over EC-Council or CompTIA. Indian salary ranges, Indian breach examples, Indian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Portfolio. Emphasise that employers at the L1-L2 level care more about a documented GitHub portfolio than a certificate they cannot verify. These 6 deliverables prove real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FOMO. Let this breathe. The 87% statistic and the 3-months framing are the most powerful. Do not rush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CTA. Keep this confident. The programme summary box on the right lets prospects photograph the slide as a reference. End with the enrollment link spoken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Shape 1"/>
          <p:cNvSpPr/>
          <p:nvPr/>
        </p:nvSpPr>
        <p:spPr>
          <a:xfrm>
            <a:off x="0" y="0"/>
            <a:ext cx="54864" cy="6858000"/>
          </a:xfrm>
          <a:prstGeom prst="rect">
            <a:avLst/>
          </a:prstGeom>
          <a:solidFill>
            <a:srgbClr val="A855F7"/>
          </a:solidFill>
          <a:ln/>
        </p:spPr>
      </p:sp>
      <p:sp>
        <p:nvSpPr>
          <p:cNvPr id="4" name="Text 2"/>
          <p:cNvSpPr/>
          <p:nvPr/>
        </p:nvSpPr>
        <p:spPr>
          <a:xfrm>
            <a:off x="457200" y="502920"/>
            <a:ext cx="6400800" cy="274320"/>
          </a:xfrm>
          <a:prstGeom prst="rect">
            <a:avLst/>
          </a:prstGeom>
          <a:noFill/>
          <a:ln/>
        </p:spPr>
        <p:txBody>
          <a:bodyPr wrap="square" rtlCol="0" anchor="ctr"/>
          <a:lstStyle/>
          <a:p>
            <a:pPr indent="0" marL="0">
              <a:buNone/>
            </a:pPr>
            <a:r>
              <a:rPr lang="en-US" sz="1100" b="1" spc="600" kern="0" dirty="0">
                <a:solidFill>
                  <a:srgbClr val="A855F7"/>
                </a:solidFill>
                <a:latin typeface="Courier New" pitchFamily="34" charset="0"/>
                <a:ea typeface="Courier New" pitchFamily="34" charset="-122"/>
                <a:cs typeface="Courier New" pitchFamily="34" charset="-120"/>
              </a:rPr>
              <a:t>CYBERAMAN ACADEMY</a:t>
            </a:r>
            <a:endParaRPr lang="en-US" sz="1100" dirty="0"/>
          </a:p>
        </p:txBody>
      </p:sp>
      <p:sp>
        <p:nvSpPr>
          <p:cNvPr id="5" name="Text 3"/>
          <p:cNvSpPr/>
          <p:nvPr/>
        </p:nvSpPr>
        <p:spPr>
          <a:xfrm>
            <a:off x="457200" y="914400"/>
            <a:ext cx="7132320" cy="2560320"/>
          </a:xfrm>
          <a:prstGeom prst="rect">
            <a:avLst/>
          </a:prstGeom>
          <a:noFill/>
          <a:ln/>
        </p:spPr>
        <p:txBody>
          <a:bodyPr wrap="square" rtlCol="0" anchor="ctr"/>
          <a:lstStyle/>
          <a:p>
            <a:pPr indent="0" marL="0">
              <a:lnSpc>
                <a:spcPct val="95000"/>
              </a:lnSpc>
              <a:buNone/>
            </a:pPr>
            <a:r>
              <a:rPr lang="en-US" sz="6800" b="1" dirty="0">
                <a:solidFill>
                  <a:srgbClr val="FFFFFF"/>
                </a:solidFill>
                <a:latin typeface="Arial Black" pitchFamily="34" charset="0"/>
                <a:ea typeface="Arial Black" pitchFamily="34" charset="-122"/>
                <a:cs typeface="Arial Black" pitchFamily="34" charset="-120"/>
              </a:rPr>
              <a:t>One Course.</a:t>
            </a:r>
            <a:endParaRPr lang="en-US" sz="6800" dirty="0"/>
          </a:p>
          <a:p>
            <a:pPr indent="0" marL="0">
              <a:lnSpc>
                <a:spcPct val="95000"/>
              </a:lnSpc>
              <a:buNone/>
            </a:pPr>
            <a:r>
              <a:rPr lang="en-US" sz="6800" b="1" dirty="0">
                <a:solidFill>
                  <a:srgbClr val="FFFFFF"/>
                </a:solidFill>
                <a:latin typeface="Arial Black" pitchFamily="34" charset="0"/>
                <a:ea typeface="Arial Black" pitchFamily="34" charset="-122"/>
                <a:cs typeface="Arial Black" pitchFamily="34" charset="-120"/>
              </a:rPr>
              <a:t>Every Security Job.</a:t>
            </a:r>
            <a:endParaRPr lang="en-US" sz="6800" dirty="0"/>
          </a:p>
        </p:txBody>
      </p:sp>
      <p:sp>
        <p:nvSpPr>
          <p:cNvPr id="6" name="Text 4"/>
          <p:cNvSpPr/>
          <p:nvPr/>
        </p:nvSpPr>
        <p:spPr>
          <a:xfrm>
            <a:off x="457200" y="3566160"/>
            <a:ext cx="6858000" cy="822960"/>
          </a:xfrm>
          <a:prstGeom prst="rect">
            <a:avLst/>
          </a:prstGeom>
          <a:noFill/>
          <a:ln/>
        </p:spPr>
        <p:txBody>
          <a:bodyPr wrap="square" rtlCol="0" anchor="ctr"/>
          <a:lstStyle/>
          <a:p>
            <a:pPr indent="0" marL="0">
              <a:lnSpc>
                <a:spcPct val="140000"/>
              </a:lnSpc>
              <a:buNone/>
            </a:pPr>
            <a:r>
              <a:rPr lang="en-US" sz="1800" dirty="0">
                <a:solidFill>
                  <a:srgbClr val="8888AA"/>
                </a:solidFill>
                <a:latin typeface="Arial" pitchFamily="34" charset="0"/>
                <a:ea typeface="Arial" pitchFamily="34" charset="-122"/>
                <a:cs typeface="Arial" pitchFamily="34" charset="-120"/>
              </a:rPr>
              <a:t>The only 3-month programme that teaches both</a:t>
            </a:r>
            <a:endParaRPr lang="en-US" sz="1800" dirty="0"/>
          </a:p>
          <a:p>
            <a:pPr indent="0" marL="0">
              <a:lnSpc>
                <a:spcPct val="140000"/>
              </a:lnSpc>
              <a:buNone/>
            </a:pPr>
            <a:r>
              <a:rPr lang="en-US" sz="1800" dirty="0">
                <a:solidFill>
                  <a:srgbClr val="8888AA"/>
                </a:solidFill>
                <a:latin typeface="Arial" pitchFamily="34" charset="0"/>
                <a:ea typeface="Arial" pitchFamily="34" charset="-122"/>
                <a:cs typeface="Arial" pitchFamily="34" charset="-120"/>
              </a:rPr>
              <a:t>technical hacking AND governance, risk &amp; compliance.</a:t>
            </a:r>
            <a:endParaRPr lang="en-US" sz="1800" dirty="0"/>
          </a:p>
        </p:txBody>
      </p:sp>
      <p:sp>
        <p:nvSpPr>
          <p:cNvPr id="7" name="Shape 5"/>
          <p:cNvSpPr/>
          <p:nvPr/>
        </p:nvSpPr>
        <p:spPr>
          <a:xfrm>
            <a:off x="457200" y="4617720"/>
            <a:ext cx="1691640" cy="384048"/>
          </a:xfrm>
          <a:prstGeom prst="roundRect">
            <a:avLst>
              <a:gd name="adj" fmla="val 9524"/>
            </a:avLst>
          </a:prstGeom>
          <a:solidFill>
            <a:srgbClr val="1A1A28"/>
          </a:solidFill>
          <a:ln w="12700">
            <a:solidFill>
              <a:srgbClr val="FB7185"/>
            </a:solidFill>
            <a:prstDash val="solid"/>
          </a:ln>
        </p:spPr>
      </p:sp>
      <p:sp>
        <p:nvSpPr>
          <p:cNvPr id="8" name="Text 6"/>
          <p:cNvSpPr/>
          <p:nvPr/>
        </p:nvSpPr>
        <p:spPr>
          <a:xfrm>
            <a:off x="457200" y="4617720"/>
            <a:ext cx="1691640" cy="384048"/>
          </a:xfrm>
          <a:prstGeom prst="rect">
            <a:avLst/>
          </a:prstGeom>
          <a:noFill/>
          <a:ln/>
        </p:spPr>
        <p:txBody>
          <a:bodyPr wrap="square" lIns="0" tIns="0" rIns="0" bIns="0" rtlCol="0" anchor="ctr"/>
          <a:lstStyle/>
          <a:p>
            <a:pPr algn="ctr" indent="0" marL="0">
              <a:buNone/>
            </a:pPr>
            <a:r>
              <a:rPr lang="en-US" sz="1100" b="1" dirty="0">
                <a:solidFill>
                  <a:srgbClr val="FB7185"/>
                </a:solidFill>
                <a:latin typeface="Courier New" pitchFamily="34" charset="0"/>
                <a:ea typeface="Courier New" pitchFamily="34" charset="-122"/>
                <a:cs typeface="Courier New" pitchFamily="34" charset="-120"/>
              </a:rPr>
              <a:t>⚔  VAPT &amp; CEH</a:t>
            </a:r>
            <a:endParaRPr lang="en-US" sz="1100" dirty="0"/>
          </a:p>
        </p:txBody>
      </p:sp>
      <p:sp>
        <p:nvSpPr>
          <p:cNvPr id="9" name="Shape 7"/>
          <p:cNvSpPr/>
          <p:nvPr/>
        </p:nvSpPr>
        <p:spPr>
          <a:xfrm>
            <a:off x="2286000" y="4617720"/>
            <a:ext cx="1691640" cy="384048"/>
          </a:xfrm>
          <a:prstGeom prst="roundRect">
            <a:avLst>
              <a:gd name="adj" fmla="val 9524"/>
            </a:avLst>
          </a:prstGeom>
          <a:solidFill>
            <a:srgbClr val="1A1A28"/>
          </a:solidFill>
          <a:ln w="12700">
            <a:solidFill>
              <a:srgbClr val="2DD4BF"/>
            </a:solidFill>
            <a:prstDash val="solid"/>
          </a:ln>
        </p:spPr>
      </p:sp>
      <p:sp>
        <p:nvSpPr>
          <p:cNvPr id="10" name="Text 8"/>
          <p:cNvSpPr/>
          <p:nvPr/>
        </p:nvSpPr>
        <p:spPr>
          <a:xfrm>
            <a:off x="2286000" y="4617720"/>
            <a:ext cx="1691640" cy="384048"/>
          </a:xfrm>
          <a:prstGeom prst="rect">
            <a:avLst/>
          </a:prstGeom>
          <a:noFill/>
          <a:ln/>
        </p:spPr>
        <p:txBody>
          <a:bodyPr wrap="square" lIns="0" tIns="0" rIns="0" bIns="0" rtlCol="0" anchor="ctr"/>
          <a:lstStyle/>
          <a:p>
            <a:pPr algn="ctr" indent="0" marL="0">
              <a:buNone/>
            </a:pPr>
            <a:r>
              <a:rPr lang="en-US" sz="1100" b="1" dirty="0">
                <a:solidFill>
                  <a:srgbClr val="2DD4BF"/>
                </a:solidFill>
                <a:latin typeface="Courier New" pitchFamily="34" charset="0"/>
                <a:ea typeface="Courier New" pitchFamily="34" charset="-122"/>
                <a:cs typeface="Courier New" pitchFamily="34" charset="-120"/>
              </a:rPr>
              <a:t>📡  SOC &amp; SIEM</a:t>
            </a:r>
            <a:endParaRPr lang="en-US" sz="1100" dirty="0"/>
          </a:p>
        </p:txBody>
      </p:sp>
      <p:sp>
        <p:nvSpPr>
          <p:cNvPr id="11" name="Shape 9"/>
          <p:cNvSpPr/>
          <p:nvPr/>
        </p:nvSpPr>
        <p:spPr>
          <a:xfrm>
            <a:off x="4114800" y="4617720"/>
            <a:ext cx="1691640" cy="384048"/>
          </a:xfrm>
          <a:prstGeom prst="roundRect">
            <a:avLst>
              <a:gd name="adj" fmla="val 9524"/>
            </a:avLst>
          </a:prstGeom>
          <a:solidFill>
            <a:srgbClr val="1A1A28"/>
          </a:solidFill>
          <a:ln w="12700">
            <a:solidFill>
              <a:srgbClr val="A855F7"/>
            </a:solidFill>
            <a:prstDash val="solid"/>
          </a:ln>
        </p:spPr>
      </p:sp>
      <p:sp>
        <p:nvSpPr>
          <p:cNvPr id="12" name="Text 10"/>
          <p:cNvSpPr/>
          <p:nvPr/>
        </p:nvSpPr>
        <p:spPr>
          <a:xfrm>
            <a:off x="4114800" y="4617720"/>
            <a:ext cx="1691640" cy="384048"/>
          </a:xfrm>
          <a:prstGeom prst="rect">
            <a:avLst/>
          </a:prstGeom>
          <a:noFill/>
          <a:ln/>
        </p:spPr>
        <p:txBody>
          <a:bodyPr wrap="square" lIns="0" tIns="0" rIns="0" bIns="0" rtlCol="0" anchor="ctr"/>
          <a:lstStyle/>
          <a:p>
            <a:pPr algn="ctr" indent="0" marL="0">
              <a:buNone/>
            </a:pPr>
            <a:r>
              <a:rPr lang="en-US" sz="1100" b="1" dirty="0">
                <a:solidFill>
                  <a:srgbClr val="A855F7"/>
                </a:solidFill>
                <a:latin typeface="Courier New" pitchFamily="34" charset="0"/>
                <a:ea typeface="Courier New" pitchFamily="34" charset="-122"/>
                <a:cs typeface="Courier New" pitchFamily="34" charset="-120"/>
              </a:rPr>
              <a:t>📋  GRC &amp; ISO 27001</a:t>
            </a:r>
            <a:endParaRPr lang="en-US" sz="1100" dirty="0"/>
          </a:p>
        </p:txBody>
      </p:sp>
      <p:sp>
        <p:nvSpPr>
          <p:cNvPr id="13" name="Shape 11"/>
          <p:cNvSpPr/>
          <p:nvPr/>
        </p:nvSpPr>
        <p:spPr>
          <a:xfrm>
            <a:off x="5943600" y="4617720"/>
            <a:ext cx="1691640" cy="384048"/>
          </a:xfrm>
          <a:prstGeom prst="roundRect">
            <a:avLst>
              <a:gd name="adj" fmla="val 9524"/>
            </a:avLst>
          </a:prstGeom>
          <a:solidFill>
            <a:srgbClr val="1A1A28"/>
          </a:solidFill>
          <a:ln w="12700">
            <a:solidFill>
              <a:srgbClr val="F5C518"/>
            </a:solidFill>
            <a:prstDash val="solid"/>
          </a:ln>
        </p:spPr>
      </p:sp>
      <p:sp>
        <p:nvSpPr>
          <p:cNvPr id="14" name="Text 12"/>
          <p:cNvSpPr/>
          <p:nvPr/>
        </p:nvSpPr>
        <p:spPr>
          <a:xfrm>
            <a:off x="5943600" y="4617720"/>
            <a:ext cx="1691640" cy="384048"/>
          </a:xfrm>
          <a:prstGeom prst="rect">
            <a:avLst/>
          </a:prstGeom>
          <a:noFill/>
          <a:ln/>
        </p:spPr>
        <p:txBody>
          <a:bodyPr wrap="square" lIns="0" tIns="0" rIns="0" bIns="0" rtlCol="0" anchor="ctr"/>
          <a:lstStyle/>
          <a:p>
            <a:pPr algn="ctr" indent="0" marL="0">
              <a:buNone/>
            </a:pPr>
            <a:r>
              <a:rPr lang="en-US" sz="1100" b="1" dirty="0">
                <a:solidFill>
                  <a:srgbClr val="F5C518"/>
                </a:solidFill>
                <a:latin typeface="Courier New" pitchFamily="34" charset="0"/>
                <a:ea typeface="Courier New" pitchFamily="34" charset="-122"/>
                <a:cs typeface="Courier New" pitchFamily="34" charset="-120"/>
              </a:rPr>
              <a:t>🤖  AI Security</a:t>
            </a:r>
            <a:endParaRPr lang="en-US" sz="1100" dirty="0"/>
          </a:p>
        </p:txBody>
      </p:sp>
      <p:sp>
        <p:nvSpPr>
          <p:cNvPr id="15" name="Text 13"/>
          <p:cNvSpPr/>
          <p:nvPr/>
        </p:nvSpPr>
        <p:spPr>
          <a:xfrm>
            <a:off x="457200" y="5394960"/>
            <a:ext cx="1645920" cy="502920"/>
          </a:xfrm>
          <a:prstGeom prst="rect">
            <a:avLst/>
          </a:prstGeom>
          <a:noFill/>
          <a:ln/>
        </p:spPr>
        <p:txBody>
          <a:bodyPr wrap="square" rtlCol="0" anchor="ctr"/>
          <a:lstStyle/>
          <a:p>
            <a:pPr algn="l" indent="0" marL="0">
              <a:buNone/>
            </a:pPr>
            <a:r>
              <a:rPr lang="en-US" sz="3600" b="1" dirty="0">
                <a:solidFill>
                  <a:srgbClr val="F5C518"/>
                </a:solidFill>
                <a:latin typeface="Arial Black" pitchFamily="34" charset="0"/>
                <a:ea typeface="Arial Black" pitchFamily="34" charset="-122"/>
                <a:cs typeface="Arial Black" pitchFamily="34" charset="-120"/>
              </a:rPr>
              <a:t>12</a:t>
            </a:r>
            <a:endParaRPr lang="en-US" sz="3600" dirty="0"/>
          </a:p>
        </p:txBody>
      </p:sp>
      <p:sp>
        <p:nvSpPr>
          <p:cNvPr id="16" name="Text 14"/>
          <p:cNvSpPr/>
          <p:nvPr/>
        </p:nvSpPr>
        <p:spPr>
          <a:xfrm>
            <a:off x="457200" y="5897880"/>
            <a:ext cx="1645920" cy="274320"/>
          </a:xfrm>
          <a:prstGeom prst="rect">
            <a:avLst/>
          </a:prstGeom>
          <a:noFill/>
          <a:ln/>
        </p:spPr>
        <p:txBody>
          <a:bodyPr wrap="square" rtlCol="0" anchor="ctr"/>
          <a:lstStyle/>
          <a:p>
            <a:pPr algn="l" indent="0" marL="0">
              <a:buNone/>
            </a:pPr>
            <a:r>
              <a:rPr lang="en-US" sz="1100" dirty="0">
                <a:solidFill>
                  <a:srgbClr val="8888AA"/>
                </a:solidFill>
                <a:latin typeface="Arial" pitchFamily="34" charset="0"/>
                <a:ea typeface="Arial" pitchFamily="34" charset="-122"/>
                <a:cs typeface="Arial" pitchFamily="34" charset="-120"/>
              </a:rPr>
              <a:t>Weeks</a:t>
            </a:r>
            <a:endParaRPr lang="en-US" sz="1100" dirty="0"/>
          </a:p>
        </p:txBody>
      </p:sp>
      <p:sp>
        <p:nvSpPr>
          <p:cNvPr id="17" name="Text 15"/>
          <p:cNvSpPr/>
          <p:nvPr/>
        </p:nvSpPr>
        <p:spPr>
          <a:xfrm>
            <a:off x="2194560" y="5394960"/>
            <a:ext cx="1645920" cy="502920"/>
          </a:xfrm>
          <a:prstGeom prst="rect">
            <a:avLst/>
          </a:prstGeom>
          <a:noFill/>
          <a:ln/>
        </p:spPr>
        <p:txBody>
          <a:bodyPr wrap="square" rtlCol="0" anchor="ctr"/>
          <a:lstStyle/>
          <a:p>
            <a:pPr algn="l" indent="0" marL="0">
              <a:buNone/>
            </a:pPr>
            <a:r>
              <a:rPr lang="en-US" sz="3600" b="1" dirty="0">
                <a:solidFill>
                  <a:srgbClr val="F5C518"/>
                </a:solidFill>
                <a:latin typeface="Arial Black" pitchFamily="34" charset="0"/>
                <a:ea typeface="Arial Black" pitchFamily="34" charset="-122"/>
                <a:cs typeface="Arial Black" pitchFamily="34" charset="-120"/>
              </a:rPr>
              <a:t>231</a:t>
            </a:r>
            <a:endParaRPr lang="en-US" sz="3600" dirty="0"/>
          </a:p>
        </p:txBody>
      </p:sp>
      <p:sp>
        <p:nvSpPr>
          <p:cNvPr id="18" name="Text 16"/>
          <p:cNvSpPr/>
          <p:nvPr/>
        </p:nvSpPr>
        <p:spPr>
          <a:xfrm>
            <a:off x="2194560" y="5897880"/>
            <a:ext cx="1645920" cy="274320"/>
          </a:xfrm>
          <a:prstGeom prst="rect">
            <a:avLst/>
          </a:prstGeom>
          <a:noFill/>
          <a:ln/>
        </p:spPr>
        <p:txBody>
          <a:bodyPr wrap="square" rtlCol="0" anchor="ctr"/>
          <a:lstStyle/>
          <a:p>
            <a:pPr algn="l" indent="0" marL="0">
              <a:buNone/>
            </a:pPr>
            <a:r>
              <a:rPr lang="en-US" sz="1100" dirty="0">
                <a:solidFill>
                  <a:srgbClr val="8888AA"/>
                </a:solidFill>
                <a:latin typeface="Arial" pitchFamily="34" charset="0"/>
                <a:ea typeface="Arial" pitchFamily="34" charset="-122"/>
                <a:cs typeface="Arial" pitchFamily="34" charset="-120"/>
              </a:rPr>
              <a:t>Topics</a:t>
            </a:r>
            <a:endParaRPr lang="en-US" sz="1100" dirty="0"/>
          </a:p>
        </p:txBody>
      </p:sp>
      <p:sp>
        <p:nvSpPr>
          <p:cNvPr id="19" name="Text 17"/>
          <p:cNvSpPr/>
          <p:nvPr/>
        </p:nvSpPr>
        <p:spPr>
          <a:xfrm>
            <a:off x="3931920" y="5394960"/>
            <a:ext cx="1645920" cy="502920"/>
          </a:xfrm>
          <a:prstGeom prst="rect">
            <a:avLst/>
          </a:prstGeom>
          <a:noFill/>
          <a:ln/>
        </p:spPr>
        <p:txBody>
          <a:bodyPr wrap="square" rtlCol="0" anchor="ctr"/>
          <a:lstStyle/>
          <a:p>
            <a:pPr algn="l" indent="0" marL="0">
              <a:buNone/>
            </a:pPr>
            <a:r>
              <a:rPr lang="en-US" sz="3600" b="1" dirty="0">
                <a:solidFill>
                  <a:srgbClr val="F5C518"/>
                </a:solidFill>
                <a:latin typeface="Arial Black" pitchFamily="34" charset="0"/>
                <a:ea typeface="Arial Black" pitchFamily="34" charset="-122"/>
                <a:cs typeface="Arial Black" pitchFamily="34" charset="-120"/>
              </a:rPr>
              <a:t>50+</a:t>
            </a:r>
            <a:endParaRPr lang="en-US" sz="3600" dirty="0"/>
          </a:p>
        </p:txBody>
      </p:sp>
      <p:sp>
        <p:nvSpPr>
          <p:cNvPr id="20" name="Text 18"/>
          <p:cNvSpPr/>
          <p:nvPr/>
        </p:nvSpPr>
        <p:spPr>
          <a:xfrm>
            <a:off x="3931920" y="5897880"/>
            <a:ext cx="1645920" cy="274320"/>
          </a:xfrm>
          <a:prstGeom prst="rect">
            <a:avLst/>
          </a:prstGeom>
          <a:noFill/>
          <a:ln/>
        </p:spPr>
        <p:txBody>
          <a:bodyPr wrap="square" rtlCol="0" anchor="ctr"/>
          <a:lstStyle/>
          <a:p>
            <a:pPr algn="l" indent="0" marL="0">
              <a:buNone/>
            </a:pPr>
            <a:r>
              <a:rPr lang="en-US" sz="1100" dirty="0">
                <a:solidFill>
                  <a:srgbClr val="8888AA"/>
                </a:solidFill>
                <a:latin typeface="Arial" pitchFamily="34" charset="0"/>
                <a:ea typeface="Arial" pitchFamily="34" charset="-122"/>
                <a:cs typeface="Arial" pitchFamily="34" charset="-120"/>
              </a:rPr>
              <a:t>Labs</a:t>
            </a:r>
            <a:endParaRPr lang="en-US" sz="1100" dirty="0"/>
          </a:p>
        </p:txBody>
      </p:sp>
      <p:sp>
        <p:nvSpPr>
          <p:cNvPr id="21" name="Text 19"/>
          <p:cNvSpPr/>
          <p:nvPr/>
        </p:nvSpPr>
        <p:spPr>
          <a:xfrm>
            <a:off x="5669280" y="5394960"/>
            <a:ext cx="1645920" cy="502920"/>
          </a:xfrm>
          <a:prstGeom prst="rect">
            <a:avLst/>
          </a:prstGeom>
          <a:noFill/>
          <a:ln/>
        </p:spPr>
        <p:txBody>
          <a:bodyPr wrap="square" rtlCol="0" anchor="ctr"/>
          <a:lstStyle/>
          <a:p>
            <a:pPr algn="l" indent="0" marL="0">
              <a:buNone/>
            </a:pPr>
            <a:r>
              <a:rPr lang="en-US" sz="3600" b="1" dirty="0">
                <a:solidFill>
                  <a:srgbClr val="F5C518"/>
                </a:solidFill>
                <a:latin typeface="Arial Black" pitchFamily="34" charset="0"/>
                <a:ea typeface="Arial Black" pitchFamily="34" charset="-122"/>
                <a:cs typeface="Arial Black" pitchFamily="34" charset="-120"/>
              </a:rPr>
              <a:t>8</a:t>
            </a:r>
            <a:endParaRPr lang="en-US" sz="3600" dirty="0"/>
          </a:p>
        </p:txBody>
      </p:sp>
      <p:sp>
        <p:nvSpPr>
          <p:cNvPr id="22" name="Text 20"/>
          <p:cNvSpPr/>
          <p:nvPr/>
        </p:nvSpPr>
        <p:spPr>
          <a:xfrm>
            <a:off x="5669280" y="5897880"/>
            <a:ext cx="1645920" cy="274320"/>
          </a:xfrm>
          <a:prstGeom prst="rect">
            <a:avLst/>
          </a:prstGeom>
          <a:noFill/>
          <a:ln/>
        </p:spPr>
        <p:txBody>
          <a:bodyPr wrap="square" rtlCol="0" anchor="ctr"/>
          <a:lstStyle/>
          <a:p>
            <a:pPr algn="l" indent="0" marL="0">
              <a:buNone/>
            </a:pPr>
            <a:r>
              <a:rPr lang="en-US" sz="1100" dirty="0">
                <a:solidFill>
                  <a:srgbClr val="8888AA"/>
                </a:solidFill>
                <a:latin typeface="Arial" pitchFamily="34" charset="0"/>
                <a:ea typeface="Arial" pitchFamily="34" charset="-122"/>
                <a:cs typeface="Arial" pitchFamily="34" charset="-120"/>
              </a:rPr>
              <a:t>Portfolio Projects</a:t>
            </a:r>
            <a:endParaRPr lang="en-US" sz="1100" dirty="0"/>
          </a:p>
        </p:txBody>
      </p:sp>
      <p:sp>
        <p:nvSpPr>
          <p:cNvPr id="23" name="Shape 21"/>
          <p:cNvSpPr/>
          <p:nvPr/>
        </p:nvSpPr>
        <p:spPr>
          <a:xfrm>
            <a:off x="8412480" y="548640"/>
            <a:ext cx="3383280" cy="5303520"/>
          </a:xfrm>
          <a:prstGeom prst="rect">
            <a:avLst/>
          </a:prstGeom>
          <a:solidFill>
            <a:srgbClr val="1A1A28"/>
          </a:solidFill>
          <a:ln w="12700">
            <a:solidFill>
              <a:srgbClr val="2A2A40"/>
            </a:solidFill>
            <a:prstDash val="solid"/>
          </a:ln>
        </p:spPr>
      </p:sp>
      <p:sp>
        <p:nvSpPr>
          <p:cNvPr id="24" name="Shape 22"/>
          <p:cNvSpPr/>
          <p:nvPr/>
        </p:nvSpPr>
        <p:spPr>
          <a:xfrm>
            <a:off x="8412480" y="548640"/>
            <a:ext cx="3383280" cy="36576"/>
          </a:xfrm>
          <a:prstGeom prst="rect">
            <a:avLst/>
          </a:prstGeom>
          <a:solidFill>
            <a:srgbClr val="A855F7"/>
          </a:solidFill>
          <a:ln/>
        </p:spPr>
      </p:sp>
      <p:sp>
        <p:nvSpPr>
          <p:cNvPr id="25" name="Text 23"/>
          <p:cNvSpPr/>
          <p:nvPr/>
        </p:nvSpPr>
        <p:spPr>
          <a:xfrm>
            <a:off x="8549640" y="7772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Security Foundations + OS</a:t>
            </a:r>
            <a:endParaRPr lang="en-US" sz="1150" dirty="0"/>
          </a:p>
        </p:txBody>
      </p:sp>
      <p:sp>
        <p:nvSpPr>
          <p:cNvPr id="26" name="Text 24"/>
          <p:cNvSpPr/>
          <p:nvPr/>
        </p:nvSpPr>
        <p:spPr>
          <a:xfrm>
            <a:off x="8549640" y="12344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Cryptography &amp; PKI</a:t>
            </a:r>
            <a:endParaRPr lang="en-US" sz="1150" dirty="0"/>
          </a:p>
        </p:txBody>
      </p:sp>
      <p:sp>
        <p:nvSpPr>
          <p:cNvPr id="27" name="Text 25"/>
          <p:cNvSpPr/>
          <p:nvPr/>
        </p:nvSpPr>
        <p:spPr>
          <a:xfrm>
            <a:off x="8549640" y="16916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Network Security &amp; VAPT</a:t>
            </a:r>
            <a:endParaRPr lang="en-US" sz="1150" dirty="0"/>
          </a:p>
        </p:txBody>
      </p:sp>
      <p:sp>
        <p:nvSpPr>
          <p:cNvPr id="28" name="Text 26"/>
          <p:cNvSpPr/>
          <p:nvPr/>
        </p:nvSpPr>
        <p:spPr>
          <a:xfrm>
            <a:off x="8549640" y="21488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Web App Security (OWASP)</a:t>
            </a:r>
            <a:endParaRPr lang="en-US" sz="1150" dirty="0"/>
          </a:p>
        </p:txBody>
      </p:sp>
      <p:sp>
        <p:nvSpPr>
          <p:cNvPr id="29" name="Text 27"/>
          <p:cNvSpPr/>
          <p:nvPr/>
        </p:nvSpPr>
        <p:spPr>
          <a:xfrm>
            <a:off x="8549640" y="26060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Ethical Hacking — CEH</a:t>
            </a:r>
            <a:endParaRPr lang="en-US" sz="1150" dirty="0"/>
          </a:p>
        </p:txBody>
      </p:sp>
      <p:sp>
        <p:nvSpPr>
          <p:cNvPr id="30" name="Text 28"/>
          <p:cNvSpPr/>
          <p:nvPr/>
        </p:nvSpPr>
        <p:spPr>
          <a:xfrm>
            <a:off x="8549640" y="30632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SOC &amp; SIEM Operations</a:t>
            </a:r>
            <a:endParaRPr lang="en-US" sz="1150" dirty="0"/>
          </a:p>
        </p:txBody>
      </p:sp>
      <p:sp>
        <p:nvSpPr>
          <p:cNvPr id="31" name="Text 29"/>
          <p:cNvSpPr/>
          <p:nvPr/>
        </p:nvSpPr>
        <p:spPr>
          <a:xfrm>
            <a:off x="8549640" y="35204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Cloud Security AWS/Azure</a:t>
            </a:r>
            <a:endParaRPr lang="en-US" sz="1150" dirty="0"/>
          </a:p>
        </p:txBody>
      </p:sp>
      <p:sp>
        <p:nvSpPr>
          <p:cNvPr id="32" name="Text 30"/>
          <p:cNvSpPr/>
          <p:nvPr/>
        </p:nvSpPr>
        <p:spPr>
          <a:xfrm>
            <a:off x="8549640" y="3977640"/>
            <a:ext cx="3108960" cy="384048"/>
          </a:xfrm>
          <a:prstGeom prst="rect">
            <a:avLst/>
          </a:prstGeom>
          <a:noFill/>
          <a:ln/>
        </p:spPr>
        <p:txBody>
          <a:bodyPr wrap="square" rtlCol="0" anchor="ctr"/>
          <a:lstStyle/>
          <a:p>
            <a:pPr indent="0" marL="0">
              <a:buNone/>
            </a:pPr>
            <a:r>
              <a:rPr lang="en-US" sz="1150" dirty="0">
                <a:solidFill>
                  <a:srgbClr val="E8E4F8"/>
                </a:solidFill>
                <a:latin typeface="Courier New" pitchFamily="34" charset="0"/>
                <a:ea typeface="Courier New" pitchFamily="34" charset="-122"/>
                <a:cs typeface="Courier New" pitchFamily="34" charset="-120"/>
              </a:rPr>
              <a:t>📋  GRC, ISO 27001, DPDP Act</a:t>
            </a:r>
            <a:endParaRPr lang="en-US" sz="1150" dirty="0"/>
          </a:p>
        </p:txBody>
      </p:sp>
      <p:sp>
        <p:nvSpPr>
          <p:cNvPr id="33" name="Text 31"/>
          <p:cNvSpPr/>
          <p:nvPr/>
        </p:nvSpPr>
        <p:spPr>
          <a:xfrm>
            <a:off x="8549640" y="4434840"/>
            <a:ext cx="3108960" cy="384048"/>
          </a:xfrm>
          <a:prstGeom prst="rect">
            <a:avLst/>
          </a:prstGeom>
          <a:noFill/>
          <a:ln/>
        </p:spPr>
        <p:txBody>
          <a:bodyPr wrap="square" rtlCol="0" anchor="ctr"/>
          <a:lstStyle/>
          <a:p>
            <a:pPr indent="0" marL="0">
              <a:buNone/>
            </a:pPr>
            <a:r>
              <a:rPr lang="en-US" sz="1150" dirty="0">
                <a:solidFill>
                  <a:srgbClr val="F5C518"/>
                </a:solidFill>
                <a:latin typeface="Courier New" pitchFamily="34" charset="0"/>
                <a:ea typeface="Courier New" pitchFamily="34" charset="-122"/>
                <a:cs typeface="Courier New" pitchFamily="34" charset="-120"/>
              </a:rPr>
              <a:t>🤖  AI-Augmented Security</a:t>
            </a:r>
            <a:endParaRPr lang="en-US" sz="1150" dirty="0"/>
          </a:p>
        </p:txBody>
      </p:sp>
      <p:sp>
        <p:nvSpPr>
          <p:cNvPr id="34" name="Text 32"/>
          <p:cNvSpPr/>
          <p:nvPr/>
        </p:nvSpPr>
        <p:spPr>
          <a:xfrm>
            <a:off x="8549640" y="4892040"/>
            <a:ext cx="3108960" cy="384048"/>
          </a:xfrm>
          <a:prstGeom prst="rect">
            <a:avLst/>
          </a:prstGeom>
          <a:noFill/>
          <a:ln/>
        </p:spPr>
        <p:txBody>
          <a:bodyPr wrap="square" rtlCol="0" anchor="ctr"/>
          <a:lstStyle/>
          <a:p>
            <a:pPr indent="0" marL="0">
              <a:buNone/>
            </a:pPr>
            <a:r>
              <a:rPr lang="en-US" sz="1150" dirty="0">
                <a:solidFill>
                  <a:srgbClr val="84CC16"/>
                </a:solidFill>
                <a:latin typeface="Courier New" pitchFamily="34" charset="0"/>
                <a:ea typeface="Courier New" pitchFamily="34" charset="-122"/>
                <a:cs typeface="Courier New" pitchFamily="34" charset="-120"/>
              </a:rPr>
              <a:t>🚀  Capstone + Career Launch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A855F7"/>
                </a:solidFill>
                <a:latin typeface="Courier New" pitchFamily="34" charset="0"/>
                <a:ea typeface="Courier New" pitchFamily="34" charset="-122"/>
                <a:cs typeface="Courier New" pitchFamily="34" charset="-120"/>
              </a:rPr>
              <a:t>THE PROBLEM WITH SINGLE-TRACK LEARNING</a:t>
            </a:r>
            <a:endParaRPr lang="en-US" sz="1100" dirty="0"/>
          </a:p>
        </p:txBody>
      </p:sp>
      <p:sp>
        <p:nvSpPr>
          <p:cNvPr id="4" name="Text 2"/>
          <p:cNvSpPr/>
          <p:nvPr/>
        </p:nvSpPr>
        <p:spPr>
          <a:xfrm>
            <a:off x="457200" y="713232"/>
            <a:ext cx="6400800" cy="1371600"/>
          </a:xfrm>
          <a:prstGeom prst="rect">
            <a:avLst/>
          </a:prstGeom>
          <a:noFill/>
          <a:ln/>
        </p:spPr>
        <p:txBody>
          <a:bodyPr wrap="square" rtlCol="0" anchor="ctr"/>
          <a:lstStyle/>
          <a:p>
            <a:pPr indent="0" marL="0">
              <a:lnSpc>
                <a:spcPct val="100000"/>
              </a:lnSpc>
              <a:buNone/>
            </a:pPr>
            <a:r>
              <a:rPr lang="en-US" sz="4400" b="1" dirty="0">
                <a:solidFill>
                  <a:srgbClr val="FFFFFF"/>
                </a:solidFill>
                <a:latin typeface="Arial Black" pitchFamily="34" charset="0"/>
                <a:ea typeface="Arial Black" pitchFamily="34" charset="-122"/>
                <a:cs typeface="Arial Black" pitchFamily="34" charset="-120"/>
              </a:rPr>
              <a:t>Why "Just CEH"</a:t>
            </a:r>
            <a:endParaRPr lang="en-US" sz="4400" dirty="0"/>
          </a:p>
          <a:p>
            <a:pPr indent="0" marL="0">
              <a:lnSpc>
                <a:spcPct val="100000"/>
              </a:lnSpc>
              <a:buNone/>
            </a:pPr>
            <a:r>
              <a:rPr lang="en-US" sz="4400" b="1" dirty="0">
                <a:solidFill>
                  <a:srgbClr val="FFFFFF"/>
                </a:solidFill>
                <a:latin typeface="Arial Black" pitchFamily="34" charset="0"/>
                <a:ea typeface="Arial Black" pitchFamily="34" charset="-122"/>
                <a:cs typeface="Arial Black" pitchFamily="34" charset="-120"/>
              </a:rPr>
              <a:t>Leaves You Behind</a:t>
            </a:r>
            <a:endParaRPr lang="en-US" sz="4400" dirty="0"/>
          </a:p>
        </p:txBody>
      </p:sp>
      <p:sp>
        <p:nvSpPr>
          <p:cNvPr id="5" name="Shape 3"/>
          <p:cNvSpPr/>
          <p:nvPr/>
        </p:nvSpPr>
        <p:spPr>
          <a:xfrm>
            <a:off x="457200" y="2286000"/>
            <a:ext cx="5303520" cy="4023360"/>
          </a:xfrm>
          <a:prstGeom prst="rect">
            <a:avLst/>
          </a:prstGeom>
          <a:solidFill>
            <a:srgbClr val="1A1A28"/>
          </a:solidFill>
          <a:ln w="12700">
            <a:solidFill>
              <a:srgbClr val="FF4444"/>
            </a:solidFill>
            <a:prstDash val="solid"/>
          </a:ln>
        </p:spPr>
      </p:sp>
      <p:sp>
        <p:nvSpPr>
          <p:cNvPr id="6" name="Shape 4"/>
          <p:cNvSpPr/>
          <p:nvPr/>
        </p:nvSpPr>
        <p:spPr>
          <a:xfrm>
            <a:off x="457200" y="2286000"/>
            <a:ext cx="5303520" cy="36576"/>
          </a:xfrm>
          <a:prstGeom prst="rect">
            <a:avLst/>
          </a:prstGeom>
          <a:solidFill>
            <a:srgbClr val="FF4444"/>
          </a:solidFill>
          <a:ln/>
        </p:spPr>
      </p:sp>
      <p:sp>
        <p:nvSpPr>
          <p:cNvPr id="7" name="Text 5"/>
          <p:cNvSpPr/>
          <p:nvPr/>
        </p:nvSpPr>
        <p:spPr>
          <a:xfrm>
            <a:off x="594360" y="2395728"/>
            <a:ext cx="5029200" cy="347472"/>
          </a:xfrm>
          <a:prstGeom prst="rect">
            <a:avLst/>
          </a:prstGeom>
          <a:noFill/>
          <a:ln/>
        </p:spPr>
        <p:txBody>
          <a:bodyPr wrap="square" rtlCol="0" anchor="ctr"/>
          <a:lstStyle/>
          <a:p>
            <a:pPr indent="0" marL="0">
              <a:buNone/>
            </a:pPr>
            <a:r>
              <a:rPr lang="en-US" sz="1400" b="1" dirty="0">
                <a:solidFill>
                  <a:srgbClr val="FF6666"/>
                </a:solidFill>
                <a:latin typeface="Arial" pitchFamily="34" charset="0"/>
                <a:ea typeface="Arial" pitchFamily="34" charset="-122"/>
                <a:cs typeface="Arial" pitchFamily="34" charset="-120"/>
              </a:rPr>
              <a:t>❌  CEH / Ethical Hacking Only</a:t>
            </a:r>
            <a:endParaRPr lang="en-US" sz="1400" dirty="0"/>
          </a:p>
        </p:txBody>
      </p:sp>
      <p:sp>
        <p:nvSpPr>
          <p:cNvPr id="8" name="Text 6"/>
          <p:cNvSpPr/>
          <p:nvPr/>
        </p:nvSpPr>
        <p:spPr>
          <a:xfrm>
            <a:off x="640080" y="2907792"/>
            <a:ext cx="4983480" cy="530352"/>
          </a:xfrm>
          <a:prstGeom prst="rect">
            <a:avLst/>
          </a:prstGeom>
          <a:noFill/>
          <a:ln/>
        </p:spPr>
        <p:txBody>
          <a:bodyPr wrap="square" rtlCol="0" anchor="ctr"/>
          <a:lstStyle/>
          <a:p>
            <a:pPr indent="0" marL="0">
              <a:lnSpc>
                <a:spcPct val="120000"/>
              </a:lnSpc>
              <a:buNone/>
            </a:pPr>
            <a:r>
              <a:rPr lang="en-US" sz="1150" dirty="0">
                <a:solidFill>
                  <a:srgbClr val="8888AA"/>
                </a:solidFill>
                <a:latin typeface="Arial" pitchFamily="34" charset="0"/>
                <a:ea typeface="Arial" pitchFamily="34" charset="-122"/>
                <a:cs typeface="Arial" pitchFamily="34" charset="-120"/>
              </a:rPr>
              <a:t>✗  70% of job postings require GRC knowledge too — CEH alone fails round 2 interviews</a:t>
            </a:r>
            <a:endParaRPr lang="en-US" sz="1150" dirty="0"/>
          </a:p>
        </p:txBody>
      </p:sp>
      <p:sp>
        <p:nvSpPr>
          <p:cNvPr id="9" name="Text 7"/>
          <p:cNvSpPr/>
          <p:nvPr/>
        </p:nvSpPr>
        <p:spPr>
          <a:xfrm>
            <a:off x="640080" y="3502152"/>
            <a:ext cx="4983480" cy="530352"/>
          </a:xfrm>
          <a:prstGeom prst="rect">
            <a:avLst/>
          </a:prstGeom>
          <a:noFill/>
          <a:ln/>
        </p:spPr>
        <p:txBody>
          <a:bodyPr wrap="square" rtlCol="0" anchor="ctr"/>
          <a:lstStyle/>
          <a:p>
            <a:pPr indent="0" marL="0">
              <a:lnSpc>
                <a:spcPct val="120000"/>
              </a:lnSpc>
              <a:buNone/>
            </a:pPr>
            <a:r>
              <a:rPr lang="en-US" sz="1150" dirty="0">
                <a:solidFill>
                  <a:srgbClr val="8888AA"/>
                </a:solidFill>
                <a:latin typeface="Arial" pitchFamily="34" charset="0"/>
                <a:ea typeface="Arial" pitchFamily="34" charset="-122"/>
                <a:cs typeface="Arial" pitchFamily="34" charset="-120"/>
              </a:rPr>
              <a:t>✗  Salary ceiling hits ₹6 LPA within 18 months at tier-3 companies</a:t>
            </a:r>
            <a:endParaRPr lang="en-US" sz="1150" dirty="0"/>
          </a:p>
        </p:txBody>
      </p:sp>
      <p:sp>
        <p:nvSpPr>
          <p:cNvPr id="10" name="Text 8"/>
          <p:cNvSpPr/>
          <p:nvPr/>
        </p:nvSpPr>
        <p:spPr>
          <a:xfrm>
            <a:off x="640080" y="4096512"/>
            <a:ext cx="4983480" cy="530352"/>
          </a:xfrm>
          <a:prstGeom prst="rect">
            <a:avLst/>
          </a:prstGeom>
          <a:noFill/>
          <a:ln/>
        </p:spPr>
        <p:txBody>
          <a:bodyPr wrap="square" rtlCol="0" anchor="ctr"/>
          <a:lstStyle/>
          <a:p>
            <a:pPr indent="0" marL="0">
              <a:lnSpc>
                <a:spcPct val="120000"/>
              </a:lnSpc>
              <a:buNone/>
            </a:pPr>
            <a:r>
              <a:rPr lang="en-US" sz="1150" dirty="0">
                <a:solidFill>
                  <a:srgbClr val="8888AA"/>
                </a:solidFill>
                <a:latin typeface="Arial" pitchFamily="34" charset="0"/>
                <a:ea typeface="Arial" pitchFamily="34" charset="-122"/>
                <a:cs typeface="Arial" pitchFamily="34" charset="-120"/>
              </a:rPr>
              <a:t>✗  India has only ~8,000 active pentest roles vs 200,000+ SOC/GRC roles</a:t>
            </a:r>
            <a:endParaRPr lang="en-US" sz="1150" dirty="0"/>
          </a:p>
        </p:txBody>
      </p:sp>
      <p:sp>
        <p:nvSpPr>
          <p:cNvPr id="11" name="Text 9"/>
          <p:cNvSpPr/>
          <p:nvPr/>
        </p:nvSpPr>
        <p:spPr>
          <a:xfrm>
            <a:off x="640080" y="4690872"/>
            <a:ext cx="4983480" cy="530352"/>
          </a:xfrm>
          <a:prstGeom prst="rect">
            <a:avLst/>
          </a:prstGeom>
          <a:noFill/>
          <a:ln/>
        </p:spPr>
        <p:txBody>
          <a:bodyPr wrap="square" rtlCol="0" anchor="ctr"/>
          <a:lstStyle/>
          <a:p>
            <a:pPr indent="0" marL="0">
              <a:lnSpc>
                <a:spcPct val="120000"/>
              </a:lnSpc>
              <a:buNone/>
            </a:pPr>
            <a:r>
              <a:rPr lang="en-US" sz="1150" dirty="0">
                <a:solidFill>
                  <a:srgbClr val="8888AA"/>
                </a:solidFill>
                <a:latin typeface="Arial" pitchFamily="34" charset="0"/>
                <a:ea typeface="Arial" pitchFamily="34" charset="-122"/>
                <a:cs typeface="Arial" pitchFamily="34" charset="-120"/>
              </a:rPr>
              <a:t>✗  No Big 4 entry without ISO 27001, DPDP, NIST framework knowledge</a:t>
            </a:r>
            <a:endParaRPr lang="en-US" sz="1150" dirty="0"/>
          </a:p>
        </p:txBody>
      </p:sp>
      <p:sp>
        <p:nvSpPr>
          <p:cNvPr id="12" name="Text 10"/>
          <p:cNvSpPr/>
          <p:nvPr/>
        </p:nvSpPr>
        <p:spPr>
          <a:xfrm>
            <a:off x="640080" y="5285232"/>
            <a:ext cx="4983480" cy="530352"/>
          </a:xfrm>
          <a:prstGeom prst="rect">
            <a:avLst/>
          </a:prstGeom>
          <a:noFill/>
          <a:ln/>
        </p:spPr>
        <p:txBody>
          <a:bodyPr wrap="square" rtlCol="0" anchor="ctr"/>
          <a:lstStyle/>
          <a:p>
            <a:pPr indent="0" marL="0">
              <a:lnSpc>
                <a:spcPct val="120000"/>
              </a:lnSpc>
              <a:buNone/>
            </a:pPr>
            <a:r>
              <a:rPr lang="en-US" sz="1150" dirty="0">
                <a:solidFill>
                  <a:srgbClr val="8888AA"/>
                </a:solidFill>
                <a:latin typeface="Arial" pitchFamily="34" charset="0"/>
                <a:ea typeface="Arial" pitchFamily="34" charset="-122"/>
                <a:cs typeface="Arial" pitchFamily="34" charset="-120"/>
              </a:rPr>
              <a:t>✗  OSCP costs ₹1.2L+ and needs 6–12 months prep on top of experience</a:t>
            </a:r>
            <a:endParaRPr lang="en-US" sz="1150" dirty="0"/>
          </a:p>
        </p:txBody>
      </p:sp>
      <p:sp>
        <p:nvSpPr>
          <p:cNvPr id="13" name="Shape 11"/>
          <p:cNvSpPr/>
          <p:nvPr/>
        </p:nvSpPr>
        <p:spPr>
          <a:xfrm>
            <a:off x="6309360" y="2286000"/>
            <a:ext cx="5394960" cy="4023360"/>
          </a:xfrm>
          <a:prstGeom prst="rect">
            <a:avLst/>
          </a:prstGeom>
          <a:solidFill>
            <a:srgbClr val="1A1A28"/>
          </a:solidFill>
          <a:ln w="12700">
            <a:solidFill>
              <a:srgbClr val="F5C518"/>
            </a:solidFill>
            <a:prstDash val="solid"/>
          </a:ln>
        </p:spPr>
      </p:sp>
      <p:sp>
        <p:nvSpPr>
          <p:cNvPr id="14" name="Shape 12"/>
          <p:cNvSpPr/>
          <p:nvPr/>
        </p:nvSpPr>
        <p:spPr>
          <a:xfrm>
            <a:off x="6309360" y="2286000"/>
            <a:ext cx="5394960" cy="36576"/>
          </a:xfrm>
          <a:prstGeom prst="rect">
            <a:avLst/>
          </a:prstGeom>
          <a:solidFill>
            <a:srgbClr val="F5C518"/>
          </a:solidFill>
          <a:ln/>
        </p:spPr>
      </p:sp>
      <p:sp>
        <p:nvSpPr>
          <p:cNvPr id="15" name="Text 13"/>
          <p:cNvSpPr/>
          <p:nvPr/>
        </p:nvSpPr>
        <p:spPr>
          <a:xfrm>
            <a:off x="6446520" y="2395728"/>
            <a:ext cx="5120640" cy="347472"/>
          </a:xfrm>
          <a:prstGeom prst="rect">
            <a:avLst/>
          </a:prstGeom>
          <a:noFill/>
          <a:ln/>
        </p:spPr>
        <p:txBody>
          <a:bodyPr wrap="square" rtlCol="0" anchor="ctr"/>
          <a:lstStyle/>
          <a:p>
            <a:pPr indent="0" marL="0">
              <a:buNone/>
            </a:pPr>
            <a:r>
              <a:rPr lang="en-US" sz="1400" b="1" dirty="0">
                <a:solidFill>
                  <a:srgbClr val="F5C518"/>
                </a:solidFill>
                <a:latin typeface="Arial" pitchFamily="34" charset="0"/>
                <a:ea typeface="Arial" pitchFamily="34" charset="-122"/>
                <a:cs typeface="Arial" pitchFamily="34" charset="-120"/>
              </a:rPr>
              <a:t>✅  Cyber + GRC Dual Track</a:t>
            </a:r>
            <a:endParaRPr lang="en-US" sz="1400" dirty="0"/>
          </a:p>
        </p:txBody>
      </p:sp>
      <p:sp>
        <p:nvSpPr>
          <p:cNvPr id="16" name="Text 14"/>
          <p:cNvSpPr/>
          <p:nvPr/>
        </p:nvSpPr>
        <p:spPr>
          <a:xfrm>
            <a:off x="6446520" y="2907792"/>
            <a:ext cx="5120640" cy="530352"/>
          </a:xfrm>
          <a:prstGeom prst="rect">
            <a:avLst/>
          </a:prstGeom>
          <a:noFill/>
          <a:ln/>
        </p:spPr>
        <p:txBody>
          <a:bodyPr wrap="square" rtlCol="0" anchor="ctr"/>
          <a:lstStyle/>
          <a:p>
            <a:pPr indent="0" marL="0">
              <a:lnSpc>
                <a:spcPct val="120000"/>
              </a:lnSpc>
              <a:buNone/>
            </a:pPr>
            <a:r>
              <a:rPr lang="en-US" sz="1150" dirty="0">
                <a:solidFill>
                  <a:srgbClr val="E8E4F8"/>
                </a:solidFill>
                <a:latin typeface="Arial" pitchFamily="34" charset="0"/>
                <a:ea typeface="Arial" pitchFamily="34" charset="-122"/>
                <a:cs typeface="Arial" pitchFamily="34" charset="-120"/>
              </a:rPr>
              <a:t>✓  Qualify for 4 career paths simultaneously — SOC, VAPT, GRC, Cloud</a:t>
            </a:r>
            <a:endParaRPr lang="en-US" sz="1150" dirty="0"/>
          </a:p>
        </p:txBody>
      </p:sp>
      <p:sp>
        <p:nvSpPr>
          <p:cNvPr id="17" name="Text 15"/>
          <p:cNvSpPr/>
          <p:nvPr/>
        </p:nvSpPr>
        <p:spPr>
          <a:xfrm>
            <a:off x="6446520" y="3502152"/>
            <a:ext cx="5120640" cy="530352"/>
          </a:xfrm>
          <a:prstGeom prst="rect">
            <a:avLst/>
          </a:prstGeom>
          <a:noFill/>
          <a:ln/>
        </p:spPr>
        <p:txBody>
          <a:bodyPr wrap="square" rtlCol="0" anchor="ctr"/>
          <a:lstStyle/>
          <a:p>
            <a:pPr indent="0" marL="0">
              <a:lnSpc>
                <a:spcPct val="120000"/>
              </a:lnSpc>
              <a:buNone/>
            </a:pPr>
            <a:r>
              <a:rPr lang="en-US" sz="1150" dirty="0">
                <a:solidFill>
                  <a:srgbClr val="E8E4F8"/>
                </a:solidFill>
                <a:latin typeface="Arial" pitchFamily="34" charset="0"/>
                <a:ea typeface="Arial" pitchFamily="34" charset="-122"/>
                <a:cs typeface="Arial" pitchFamily="34" charset="-120"/>
              </a:rPr>
              <a:t>✓  Salary range ₹7–18 LPA from day 1; ₹20L+ within 3 years</a:t>
            </a:r>
            <a:endParaRPr lang="en-US" sz="1150" dirty="0"/>
          </a:p>
        </p:txBody>
      </p:sp>
      <p:sp>
        <p:nvSpPr>
          <p:cNvPr id="18" name="Text 16"/>
          <p:cNvSpPr/>
          <p:nvPr/>
        </p:nvSpPr>
        <p:spPr>
          <a:xfrm>
            <a:off x="6446520" y="4096512"/>
            <a:ext cx="5120640" cy="530352"/>
          </a:xfrm>
          <a:prstGeom prst="rect">
            <a:avLst/>
          </a:prstGeom>
          <a:noFill/>
          <a:ln/>
        </p:spPr>
        <p:txBody>
          <a:bodyPr wrap="square" rtlCol="0" anchor="ctr"/>
          <a:lstStyle/>
          <a:p>
            <a:pPr indent="0" marL="0">
              <a:lnSpc>
                <a:spcPct val="120000"/>
              </a:lnSpc>
              <a:buNone/>
            </a:pPr>
            <a:r>
              <a:rPr lang="en-US" sz="1150" dirty="0">
                <a:solidFill>
                  <a:srgbClr val="E8E4F8"/>
                </a:solidFill>
                <a:latin typeface="Arial" pitchFamily="34" charset="0"/>
                <a:ea typeface="Arial" pitchFamily="34" charset="-122"/>
                <a:cs typeface="Arial" pitchFamily="34" charset="-120"/>
              </a:rPr>
              <a:t>✓  DPDP Act 2023 creates 50,000 new compliance roles — you're ready</a:t>
            </a:r>
            <a:endParaRPr lang="en-US" sz="1150" dirty="0"/>
          </a:p>
        </p:txBody>
      </p:sp>
      <p:sp>
        <p:nvSpPr>
          <p:cNvPr id="19" name="Text 17"/>
          <p:cNvSpPr/>
          <p:nvPr/>
        </p:nvSpPr>
        <p:spPr>
          <a:xfrm>
            <a:off x="6446520" y="4690872"/>
            <a:ext cx="5120640" cy="530352"/>
          </a:xfrm>
          <a:prstGeom prst="rect">
            <a:avLst/>
          </a:prstGeom>
          <a:noFill/>
          <a:ln/>
        </p:spPr>
        <p:txBody>
          <a:bodyPr wrap="square" rtlCol="0" anchor="ctr"/>
          <a:lstStyle/>
          <a:p>
            <a:pPr indent="0" marL="0">
              <a:lnSpc>
                <a:spcPct val="120000"/>
              </a:lnSpc>
              <a:buNone/>
            </a:pPr>
            <a:r>
              <a:rPr lang="en-US" sz="1150" dirty="0">
                <a:solidFill>
                  <a:srgbClr val="E8E4F8"/>
                </a:solidFill>
                <a:latin typeface="Arial" pitchFamily="34" charset="0"/>
                <a:ea typeface="Arial" pitchFamily="34" charset="-122"/>
                <a:cs typeface="Arial" pitchFamily="34" charset="-120"/>
              </a:rPr>
              <a:t>✓  Big 4 + BFSI ready: RBI, SEBI, ISO 27001, DPDP, CERT-In covered</a:t>
            </a:r>
            <a:endParaRPr lang="en-US" sz="1150" dirty="0"/>
          </a:p>
        </p:txBody>
      </p:sp>
      <p:sp>
        <p:nvSpPr>
          <p:cNvPr id="20" name="Text 18"/>
          <p:cNvSpPr/>
          <p:nvPr/>
        </p:nvSpPr>
        <p:spPr>
          <a:xfrm>
            <a:off x="6446520" y="5285232"/>
            <a:ext cx="5120640" cy="530352"/>
          </a:xfrm>
          <a:prstGeom prst="rect">
            <a:avLst/>
          </a:prstGeom>
          <a:noFill/>
          <a:ln/>
        </p:spPr>
        <p:txBody>
          <a:bodyPr wrap="square" rtlCol="0" anchor="ctr"/>
          <a:lstStyle/>
          <a:p>
            <a:pPr indent="0" marL="0">
              <a:lnSpc>
                <a:spcPct val="120000"/>
              </a:lnSpc>
              <a:buNone/>
            </a:pPr>
            <a:r>
              <a:rPr lang="en-US" sz="1150" dirty="0">
                <a:solidFill>
                  <a:srgbClr val="E8E4F8"/>
                </a:solidFill>
                <a:latin typeface="Arial" pitchFamily="34" charset="0"/>
                <a:ea typeface="Arial" pitchFamily="34" charset="-122"/>
                <a:cs typeface="Arial" pitchFamily="34" charset="-120"/>
              </a:rPr>
              <a:t>✓  Freelance full-service: VAPT + ISO gap analysis + DPDP audit bundles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2DD4BF"/>
                </a:solidFill>
                <a:latin typeface="Courier New" pitchFamily="34" charset="0"/>
                <a:ea typeface="Courier New" pitchFamily="34" charset="-122"/>
                <a:cs typeface="Courier New" pitchFamily="34" charset="-120"/>
              </a:rPr>
              <a:t>THE MARKET OPPORTUNITY</a:t>
            </a:r>
            <a:endParaRPr lang="en-US" sz="1100" dirty="0"/>
          </a:p>
        </p:txBody>
      </p:sp>
      <p:sp>
        <p:nvSpPr>
          <p:cNvPr id="4" name="Text 2"/>
          <p:cNvSpPr/>
          <p:nvPr/>
        </p:nvSpPr>
        <p:spPr>
          <a:xfrm>
            <a:off x="457200" y="713232"/>
            <a:ext cx="8229600" cy="1325880"/>
          </a:xfrm>
          <a:prstGeom prst="rect">
            <a:avLst/>
          </a:prstGeom>
          <a:noFill/>
          <a:ln/>
        </p:spPr>
        <p:txBody>
          <a:bodyPr wrap="square" rtlCol="0" anchor="ctr"/>
          <a:lstStyle/>
          <a:p>
            <a:pPr indent="0" marL="0">
              <a:lnSpc>
                <a:spcPct val="100000"/>
              </a:lnSpc>
              <a:buNone/>
            </a:pPr>
            <a:r>
              <a:rPr lang="en-US" sz="4400" b="1" dirty="0">
                <a:solidFill>
                  <a:srgbClr val="FFFFFF"/>
                </a:solidFill>
                <a:latin typeface="Arial Black" pitchFamily="34" charset="0"/>
                <a:ea typeface="Arial Black" pitchFamily="34" charset="-122"/>
                <a:cs typeface="Arial Black" pitchFamily="34" charset="-120"/>
              </a:rPr>
              <a:t>India's Security Market in 2026 —</a:t>
            </a:r>
            <a:endParaRPr lang="en-US" sz="4400" dirty="0"/>
          </a:p>
          <a:p>
            <a:pPr indent="0" marL="0">
              <a:lnSpc>
                <a:spcPct val="100000"/>
              </a:lnSpc>
              <a:buNone/>
            </a:pPr>
            <a:r>
              <a:rPr lang="en-US" sz="4400" b="1" dirty="0">
                <a:solidFill>
                  <a:srgbClr val="FFFFFF"/>
                </a:solidFill>
                <a:latin typeface="Arial Black" pitchFamily="34" charset="0"/>
                <a:ea typeface="Arial Black" pitchFamily="34" charset="-122"/>
                <a:cs typeface="Arial Black" pitchFamily="34" charset="-120"/>
              </a:rPr>
              <a:t>The Numbers Don't Lie</a:t>
            </a:r>
            <a:endParaRPr lang="en-US" sz="4400" dirty="0"/>
          </a:p>
        </p:txBody>
      </p:sp>
      <p:sp>
        <p:nvSpPr>
          <p:cNvPr id="5" name="Shape 3"/>
          <p:cNvSpPr/>
          <p:nvPr/>
        </p:nvSpPr>
        <p:spPr>
          <a:xfrm>
            <a:off x="457200" y="2331720"/>
            <a:ext cx="3657600" cy="1920240"/>
          </a:xfrm>
          <a:prstGeom prst="rect">
            <a:avLst/>
          </a:prstGeom>
          <a:solidFill>
            <a:srgbClr val="1A1A28"/>
          </a:solidFill>
          <a:ln w="12700">
            <a:solidFill>
              <a:srgbClr val="2A2A40"/>
            </a:solidFill>
            <a:prstDash val="solid"/>
          </a:ln>
        </p:spPr>
      </p:sp>
      <p:sp>
        <p:nvSpPr>
          <p:cNvPr id="6" name="Shape 4"/>
          <p:cNvSpPr/>
          <p:nvPr/>
        </p:nvSpPr>
        <p:spPr>
          <a:xfrm>
            <a:off x="457200" y="2331720"/>
            <a:ext cx="3657600" cy="36576"/>
          </a:xfrm>
          <a:prstGeom prst="rect">
            <a:avLst/>
          </a:prstGeom>
          <a:solidFill>
            <a:srgbClr val="F5C518"/>
          </a:solidFill>
          <a:ln/>
        </p:spPr>
      </p:sp>
      <p:sp>
        <p:nvSpPr>
          <p:cNvPr id="7" name="Text 5"/>
          <p:cNvSpPr/>
          <p:nvPr/>
        </p:nvSpPr>
        <p:spPr>
          <a:xfrm>
            <a:off x="621792" y="2496312"/>
            <a:ext cx="3383280" cy="685800"/>
          </a:xfrm>
          <a:prstGeom prst="rect">
            <a:avLst/>
          </a:prstGeom>
          <a:noFill/>
          <a:ln/>
        </p:spPr>
        <p:txBody>
          <a:bodyPr wrap="square" rtlCol="0" anchor="ctr"/>
          <a:lstStyle/>
          <a:p>
            <a:pPr indent="0" marL="0">
              <a:buNone/>
            </a:pPr>
            <a:r>
              <a:rPr lang="en-US" sz="3800" b="1" dirty="0">
                <a:solidFill>
                  <a:srgbClr val="F5C518"/>
                </a:solidFill>
                <a:latin typeface="Arial Black" pitchFamily="34" charset="0"/>
                <a:ea typeface="Arial Black" pitchFamily="34" charset="-122"/>
                <a:cs typeface="Arial Black" pitchFamily="34" charset="-120"/>
              </a:rPr>
              <a:t>860K+</a:t>
            </a:r>
            <a:endParaRPr lang="en-US" sz="3800" dirty="0"/>
          </a:p>
        </p:txBody>
      </p:sp>
      <p:sp>
        <p:nvSpPr>
          <p:cNvPr id="8" name="Text 6"/>
          <p:cNvSpPr/>
          <p:nvPr/>
        </p:nvSpPr>
        <p:spPr>
          <a:xfrm>
            <a:off x="621792" y="3200400"/>
            <a:ext cx="3383280" cy="566928"/>
          </a:xfrm>
          <a:prstGeom prst="rect">
            <a:avLst/>
          </a:prstGeom>
          <a:noFill/>
          <a:ln/>
        </p:spPr>
        <p:txBody>
          <a:bodyPr wrap="square" rtlCol="0" anchor="ctr"/>
          <a:lstStyle/>
          <a:p>
            <a:pPr indent="0" marL="0">
              <a:lnSpc>
                <a:spcPct val="130000"/>
              </a:lnSpc>
              <a:buNone/>
            </a:pPr>
            <a:r>
              <a:rPr lang="en-US" sz="1200" dirty="0">
                <a:solidFill>
                  <a:srgbClr val="E8E4F8"/>
                </a:solidFill>
                <a:latin typeface="Arial" pitchFamily="34" charset="0"/>
                <a:ea typeface="Arial" pitchFamily="34" charset="-122"/>
                <a:cs typeface="Arial" pitchFamily="34" charset="-120"/>
              </a:rPr>
              <a:t>Unfilled cybersecurity jobs in India</a:t>
            </a:r>
            <a:endParaRPr lang="en-US" sz="1200" dirty="0"/>
          </a:p>
        </p:txBody>
      </p:sp>
      <p:sp>
        <p:nvSpPr>
          <p:cNvPr id="9" name="Text 7"/>
          <p:cNvSpPr/>
          <p:nvPr/>
        </p:nvSpPr>
        <p:spPr>
          <a:xfrm>
            <a:off x="621792" y="3913632"/>
            <a:ext cx="3383280" cy="256032"/>
          </a:xfrm>
          <a:prstGeom prst="rect">
            <a:avLst/>
          </a:prstGeom>
          <a:noFill/>
          <a:ln/>
        </p:spPr>
        <p:txBody>
          <a:bodyPr wrap="square" rtlCol="0" anchor="ctr"/>
          <a:lstStyle/>
          <a:p>
            <a:pPr indent="0" marL="0">
              <a:buNone/>
            </a:pPr>
            <a:r>
              <a:rPr lang="en-US" sz="900" dirty="0">
                <a:solidFill>
                  <a:srgbClr val="8888AA"/>
                </a:solidFill>
                <a:latin typeface="Courier New" pitchFamily="34" charset="0"/>
                <a:ea typeface="Courier New" pitchFamily="34" charset="-122"/>
                <a:cs typeface="Courier New" pitchFamily="34" charset="-120"/>
              </a:rPr>
              <a:t>NASSCOM 2024</a:t>
            </a:r>
            <a:endParaRPr lang="en-US" sz="900" dirty="0"/>
          </a:p>
        </p:txBody>
      </p:sp>
      <p:sp>
        <p:nvSpPr>
          <p:cNvPr id="10" name="Shape 8"/>
          <p:cNvSpPr/>
          <p:nvPr/>
        </p:nvSpPr>
        <p:spPr>
          <a:xfrm>
            <a:off x="4297680" y="2331720"/>
            <a:ext cx="3657600" cy="1920240"/>
          </a:xfrm>
          <a:prstGeom prst="rect">
            <a:avLst/>
          </a:prstGeom>
          <a:solidFill>
            <a:srgbClr val="1A1A28"/>
          </a:solidFill>
          <a:ln w="12700">
            <a:solidFill>
              <a:srgbClr val="2A2A40"/>
            </a:solidFill>
            <a:prstDash val="solid"/>
          </a:ln>
        </p:spPr>
      </p:sp>
      <p:sp>
        <p:nvSpPr>
          <p:cNvPr id="11" name="Shape 9"/>
          <p:cNvSpPr/>
          <p:nvPr/>
        </p:nvSpPr>
        <p:spPr>
          <a:xfrm>
            <a:off x="4297680" y="2331720"/>
            <a:ext cx="3657600" cy="36576"/>
          </a:xfrm>
          <a:prstGeom prst="rect">
            <a:avLst/>
          </a:prstGeom>
          <a:solidFill>
            <a:srgbClr val="FB7185"/>
          </a:solidFill>
          <a:ln/>
        </p:spPr>
      </p:sp>
      <p:sp>
        <p:nvSpPr>
          <p:cNvPr id="12" name="Text 10"/>
          <p:cNvSpPr/>
          <p:nvPr/>
        </p:nvSpPr>
        <p:spPr>
          <a:xfrm>
            <a:off x="4462272" y="2496312"/>
            <a:ext cx="3383280" cy="685800"/>
          </a:xfrm>
          <a:prstGeom prst="rect">
            <a:avLst/>
          </a:prstGeom>
          <a:noFill/>
          <a:ln/>
        </p:spPr>
        <p:txBody>
          <a:bodyPr wrap="square" rtlCol="0" anchor="ctr"/>
          <a:lstStyle/>
          <a:p>
            <a:pPr indent="0" marL="0">
              <a:buNone/>
            </a:pPr>
            <a:r>
              <a:rPr lang="en-US" sz="3800" b="1" dirty="0">
                <a:solidFill>
                  <a:srgbClr val="FB7185"/>
                </a:solidFill>
                <a:latin typeface="Arial Black" pitchFamily="34" charset="0"/>
                <a:ea typeface="Arial Black" pitchFamily="34" charset="-122"/>
                <a:cs typeface="Arial Black" pitchFamily="34" charset="-120"/>
              </a:rPr>
              <a:t>₹250Cr</a:t>
            </a:r>
            <a:endParaRPr lang="en-US" sz="3800" dirty="0"/>
          </a:p>
        </p:txBody>
      </p:sp>
      <p:sp>
        <p:nvSpPr>
          <p:cNvPr id="13" name="Text 11"/>
          <p:cNvSpPr/>
          <p:nvPr/>
        </p:nvSpPr>
        <p:spPr>
          <a:xfrm>
            <a:off x="4462272" y="3200400"/>
            <a:ext cx="3383280" cy="566928"/>
          </a:xfrm>
          <a:prstGeom prst="rect">
            <a:avLst/>
          </a:prstGeom>
          <a:noFill/>
          <a:ln/>
        </p:spPr>
        <p:txBody>
          <a:bodyPr wrap="square" rtlCol="0" anchor="ctr"/>
          <a:lstStyle/>
          <a:p>
            <a:pPr indent="0" marL="0">
              <a:lnSpc>
                <a:spcPct val="130000"/>
              </a:lnSpc>
              <a:buNone/>
            </a:pPr>
            <a:r>
              <a:rPr lang="en-US" sz="1200" dirty="0">
                <a:solidFill>
                  <a:srgbClr val="E8E4F8"/>
                </a:solidFill>
                <a:latin typeface="Arial" pitchFamily="34" charset="0"/>
                <a:ea typeface="Arial" pitchFamily="34" charset="-122"/>
                <a:cs typeface="Arial" pitchFamily="34" charset="-120"/>
              </a:rPr>
              <a:t>Max fine under DPDP Act 2023 per violation</a:t>
            </a:r>
            <a:endParaRPr lang="en-US" sz="1200" dirty="0"/>
          </a:p>
        </p:txBody>
      </p:sp>
      <p:sp>
        <p:nvSpPr>
          <p:cNvPr id="14" name="Text 12"/>
          <p:cNvSpPr/>
          <p:nvPr/>
        </p:nvSpPr>
        <p:spPr>
          <a:xfrm>
            <a:off x="4462272" y="3913632"/>
            <a:ext cx="3383280" cy="256032"/>
          </a:xfrm>
          <a:prstGeom prst="rect">
            <a:avLst/>
          </a:prstGeom>
          <a:noFill/>
          <a:ln/>
        </p:spPr>
        <p:txBody>
          <a:bodyPr wrap="square" rtlCol="0" anchor="ctr"/>
          <a:lstStyle/>
          <a:p>
            <a:pPr indent="0" marL="0">
              <a:buNone/>
            </a:pPr>
            <a:r>
              <a:rPr lang="en-US" sz="900" dirty="0">
                <a:solidFill>
                  <a:srgbClr val="8888AA"/>
                </a:solidFill>
                <a:latin typeface="Courier New" pitchFamily="34" charset="0"/>
                <a:ea typeface="Courier New" pitchFamily="34" charset="-122"/>
                <a:cs typeface="Courier New" pitchFamily="34" charset="-120"/>
              </a:rPr>
              <a:t>MEITY / DPDP Act</a:t>
            </a:r>
            <a:endParaRPr lang="en-US" sz="900" dirty="0"/>
          </a:p>
        </p:txBody>
      </p:sp>
      <p:sp>
        <p:nvSpPr>
          <p:cNvPr id="15" name="Shape 13"/>
          <p:cNvSpPr/>
          <p:nvPr/>
        </p:nvSpPr>
        <p:spPr>
          <a:xfrm>
            <a:off x="8138160" y="2331720"/>
            <a:ext cx="3657600" cy="1920240"/>
          </a:xfrm>
          <a:prstGeom prst="rect">
            <a:avLst/>
          </a:prstGeom>
          <a:solidFill>
            <a:srgbClr val="1A1A28"/>
          </a:solidFill>
          <a:ln w="12700">
            <a:solidFill>
              <a:srgbClr val="2A2A40"/>
            </a:solidFill>
            <a:prstDash val="solid"/>
          </a:ln>
        </p:spPr>
      </p:sp>
      <p:sp>
        <p:nvSpPr>
          <p:cNvPr id="16" name="Shape 14"/>
          <p:cNvSpPr/>
          <p:nvPr/>
        </p:nvSpPr>
        <p:spPr>
          <a:xfrm>
            <a:off x="8138160" y="2331720"/>
            <a:ext cx="3657600" cy="36576"/>
          </a:xfrm>
          <a:prstGeom prst="rect">
            <a:avLst/>
          </a:prstGeom>
          <a:solidFill>
            <a:srgbClr val="2DD4BF"/>
          </a:solidFill>
          <a:ln/>
        </p:spPr>
      </p:sp>
      <p:sp>
        <p:nvSpPr>
          <p:cNvPr id="17" name="Text 15"/>
          <p:cNvSpPr/>
          <p:nvPr/>
        </p:nvSpPr>
        <p:spPr>
          <a:xfrm>
            <a:off x="8302752" y="2496312"/>
            <a:ext cx="3383280" cy="685800"/>
          </a:xfrm>
          <a:prstGeom prst="rect">
            <a:avLst/>
          </a:prstGeom>
          <a:noFill/>
          <a:ln/>
        </p:spPr>
        <p:txBody>
          <a:bodyPr wrap="square" rtlCol="0" anchor="ctr"/>
          <a:lstStyle/>
          <a:p>
            <a:pPr indent="0" marL="0">
              <a:buNone/>
            </a:pPr>
            <a:r>
              <a:rPr lang="en-US" sz="3800" b="1" dirty="0">
                <a:solidFill>
                  <a:srgbClr val="2DD4BF"/>
                </a:solidFill>
                <a:latin typeface="Arial Black" pitchFamily="34" charset="0"/>
                <a:ea typeface="Arial Black" pitchFamily="34" charset="-122"/>
                <a:cs typeface="Arial Black" pitchFamily="34" charset="-120"/>
              </a:rPr>
              <a:t>6 hrs</a:t>
            </a:r>
            <a:endParaRPr lang="en-US" sz="3800" dirty="0"/>
          </a:p>
        </p:txBody>
      </p:sp>
      <p:sp>
        <p:nvSpPr>
          <p:cNvPr id="18" name="Text 16"/>
          <p:cNvSpPr/>
          <p:nvPr/>
        </p:nvSpPr>
        <p:spPr>
          <a:xfrm>
            <a:off x="8302752" y="3200400"/>
            <a:ext cx="3383280" cy="566928"/>
          </a:xfrm>
          <a:prstGeom prst="rect">
            <a:avLst/>
          </a:prstGeom>
          <a:noFill/>
          <a:ln/>
        </p:spPr>
        <p:txBody>
          <a:bodyPr wrap="square" rtlCol="0" anchor="ctr"/>
          <a:lstStyle/>
          <a:p>
            <a:pPr indent="0" marL="0">
              <a:lnSpc>
                <a:spcPct val="130000"/>
              </a:lnSpc>
              <a:buNone/>
            </a:pPr>
            <a:r>
              <a:rPr lang="en-US" sz="1200" dirty="0">
                <a:solidFill>
                  <a:srgbClr val="E8E4F8"/>
                </a:solidFill>
                <a:latin typeface="Arial" pitchFamily="34" charset="0"/>
                <a:ea typeface="Arial" pitchFamily="34" charset="-122"/>
                <a:cs typeface="Arial" pitchFamily="34" charset="-120"/>
              </a:rPr>
              <a:t>CERT-In mandatory breach reporting window</a:t>
            </a:r>
            <a:endParaRPr lang="en-US" sz="1200" dirty="0"/>
          </a:p>
        </p:txBody>
      </p:sp>
      <p:sp>
        <p:nvSpPr>
          <p:cNvPr id="19" name="Text 17"/>
          <p:cNvSpPr/>
          <p:nvPr/>
        </p:nvSpPr>
        <p:spPr>
          <a:xfrm>
            <a:off x="8302752" y="3913632"/>
            <a:ext cx="3383280" cy="256032"/>
          </a:xfrm>
          <a:prstGeom prst="rect">
            <a:avLst/>
          </a:prstGeom>
          <a:noFill/>
          <a:ln/>
        </p:spPr>
        <p:txBody>
          <a:bodyPr wrap="square" rtlCol="0" anchor="ctr"/>
          <a:lstStyle/>
          <a:p>
            <a:pPr indent="0" marL="0">
              <a:buNone/>
            </a:pPr>
            <a:r>
              <a:rPr lang="en-US" sz="900" dirty="0">
                <a:solidFill>
                  <a:srgbClr val="8888AA"/>
                </a:solidFill>
                <a:latin typeface="Courier New" pitchFamily="34" charset="0"/>
                <a:ea typeface="Courier New" pitchFamily="34" charset="-122"/>
                <a:cs typeface="Courier New" pitchFamily="34" charset="-120"/>
              </a:rPr>
              <a:t>CERT-In Directions 2022</a:t>
            </a:r>
            <a:endParaRPr lang="en-US" sz="900" dirty="0"/>
          </a:p>
        </p:txBody>
      </p:sp>
      <p:sp>
        <p:nvSpPr>
          <p:cNvPr id="20" name="Shape 18"/>
          <p:cNvSpPr/>
          <p:nvPr/>
        </p:nvSpPr>
        <p:spPr>
          <a:xfrm>
            <a:off x="457200" y="4434840"/>
            <a:ext cx="3657600" cy="1920240"/>
          </a:xfrm>
          <a:prstGeom prst="rect">
            <a:avLst/>
          </a:prstGeom>
          <a:solidFill>
            <a:srgbClr val="1A1A28"/>
          </a:solidFill>
          <a:ln w="12700">
            <a:solidFill>
              <a:srgbClr val="2A2A40"/>
            </a:solidFill>
            <a:prstDash val="solid"/>
          </a:ln>
        </p:spPr>
      </p:sp>
      <p:sp>
        <p:nvSpPr>
          <p:cNvPr id="21" name="Shape 19"/>
          <p:cNvSpPr/>
          <p:nvPr/>
        </p:nvSpPr>
        <p:spPr>
          <a:xfrm>
            <a:off x="457200" y="4434840"/>
            <a:ext cx="3657600" cy="36576"/>
          </a:xfrm>
          <a:prstGeom prst="rect">
            <a:avLst/>
          </a:prstGeom>
          <a:solidFill>
            <a:srgbClr val="A855F7"/>
          </a:solidFill>
          <a:ln/>
        </p:spPr>
      </p:sp>
      <p:sp>
        <p:nvSpPr>
          <p:cNvPr id="22" name="Text 20"/>
          <p:cNvSpPr/>
          <p:nvPr/>
        </p:nvSpPr>
        <p:spPr>
          <a:xfrm>
            <a:off x="621792" y="4599432"/>
            <a:ext cx="3383280" cy="685800"/>
          </a:xfrm>
          <a:prstGeom prst="rect">
            <a:avLst/>
          </a:prstGeom>
          <a:noFill/>
          <a:ln/>
        </p:spPr>
        <p:txBody>
          <a:bodyPr wrap="square" rtlCol="0" anchor="ctr"/>
          <a:lstStyle/>
          <a:p>
            <a:pPr indent="0" marL="0">
              <a:buNone/>
            </a:pPr>
            <a:r>
              <a:rPr lang="en-US" sz="3800" b="1" dirty="0">
                <a:solidFill>
                  <a:srgbClr val="A855F7"/>
                </a:solidFill>
                <a:latin typeface="Arial Black" pitchFamily="34" charset="0"/>
                <a:ea typeface="Arial Black" pitchFamily="34" charset="-122"/>
                <a:cs typeface="Arial Black" pitchFamily="34" charset="-120"/>
              </a:rPr>
              <a:t>4.2×</a:t>
            </a:r>
            <a:endParaRPr lang="en-US" sz="3800" dirty="0"/>
          </a:p>
        </p:txBody>
      </p:sp>
      <p:sp>
        <p:nvSpPr>
          <p:cNvPr id="23" name="Text 21"/>
          <p:cNvSpPr/>
          <p:nvPr/>
        </p:nvSpPr>
        <p:spPr>
          <a:xfrm>
            <a:off x="621792" y="5303520"/>
            <a:ext cx="3383280" cy="566928"/>
          </a:xfrm>
          <a:prstGeom prst="rect">
            <a:avLst/>
          </a:prstGeom>
          <a:noFill/>
          <a:ln/>
        </p:spPr>
        <p:txBody>
          <a:bodyPr wrap="square" rtlCol="0" anchor="ctr"/>
          <a:lstStyle/>
          <a:p>
            <a:pPr indent="0" marL="0">
              <a:lnSpc>
                <a:spcPct val="130000"/>
              </a:lnSpc>
              <a:buNone/>
            </a:pPr>
            <a:r>
              <a:rPr lang="en-US" sz="1200" dirty="0">
                <a:solidFill>
                  <a:srgbClr val="E8E4F8"/>
                </a:solidFill>
                <a:latin typeface="Arial" pitchFamily="34" charset="0"/>
                <a:ea typeface="Arial" pitchFamily="34" charset="-122"/>
                <a:cs typeface="Arial" pitchFamily="34" charset="-120"/>
              </a:rPr>
              <a:t>Salary premium for dual-skilled pros</a:t>
            </a:r>
            <a:endParaRPr lang="en-US" sz="1200" dirty="0"/>
          </a:p>
        </p:txBody>
      </p:sp>
      <p:sp>
        <p:nvSpPr>
          <p:cNvPr id="24" name="Text 22"/>
          <p:cNvSpPr/>
          <p:nvPr/>
        </p:nvSpPr>
        <p:spPr>
          <a:xfrm>
            <a:off x="621792" y="6016752"/>
            <a:ext cx="3383280" cy="256032"/>
          </a:xfrm>
          <a:prstGeom prst="rect">
            <a:avLst/>
          </a:prstGeom>
          <a:noFill/>
          <a:ln/>
        </p:spPr>
        <p:txBody>
          <a:bodyPr wrap="square" rtlCol="0" anchor="ctr"/>
          <a:lstStyle/>
          <a:p>
            <a:pPr indent="0" marL="0">
              <a:buNone/>
            </a:pPr>
            <a:r>
              <a:rPr lang="en-US" sz="900" dirty="0">
                <a:solidFill>
                  <a:srgbClr val="8888AA"/>
                </a:solidFill>
                <a:latin typeface="Courier New" pitchFamily="34" charset="0"/>
                <a:ea typeface="Courier New" pitchFamily="34" charset="-122"/>
                <a:cs typeface="Courier New" pitchFamily="34" charset="-120"/>
              </a:rPr>
              <a:t>LinkedIn India 2024</a:t>
            </a:r>
            <a:endParaRPr lang="en-US" sz="900" dirty="0"/>
          </a:p>
        </p:txBody>
      </p:sp>
      <p:sp>
        <p:nvSpPr>
          <p:cNvPr id="25" name="Shape 23"/>
          <p:cNvSpPr/>
          <p:nvPr/>
        </p:nvSpPr>
        <p:spPr>
          <a:xfrm>
            <a:off x="4297680" y="4434840"/>
            <a:ext cx="3657600" cy="1920240"/>
          </a:xfrm>
          <a:prstGeom prst="rect">
            <a:avLst/>
          </a:prstGeom>
          <a:solidFill>
            <a:srgbClr val="1A1A28"/>
          </a:solidFill>
          <a:ln w="12700">
            <a:solidFill>
              <a:srgbClr val="2A2A40"/>
            </a:solidFill>
            <a:prstDash val="solid"/>
          </a:ln>
        </p:spPr>
      </p:sp>
      <p:sp>
        <p:nvSpPr>
          <p:cNvPr id="26" name="Shape 24"/>
          <p:cNvSpPr/>
          <p:nvPr/>
        </p:nvSpPr>
        <p:spPr>
          <a:xfrm>
            <a:off x="4297680" y="4434840"/>
            <a:ext cx="3657600" cy="36576"/>
          </a:xfrm>
          <a:prstGeom prst="rect">
            <a:avLst/>
          </a:prstGeom>
          <a:solidFill>
            <a:srgbClr val="84CC16"/>
          </a:solidFill>
          <a:ln/>
        </p:spPr>
      </p:sp>
      <p:sp>
        <p:nvSpPr>
          <p:cNvPr id="27" name="Text 25"/>
          <p:cNvSpPr/>
          <p:nvPr/>
        </p:nvSpPr>
        <p:spPr>
          <a:xfrm>
            <a:off x="4462272" y="4599432"/>
            <a:ext cx="3383280" cy="685800"/>
          </a:xfrm>
          <a:prstGeom prst="rect">
            <a:avLst/>
          </a:prstGeom>
          <a:noFill/>
          <a:ln/>
        </p:spPr>
        <p:txBody>
          <a:bodyPr wrap="square" rtlCol="0" anchor="ctr"/>
          <a:lstStyle/>
          <a:p>
            <a:pPr indent="0" marL="0">
              <a:buNone/>
            </a:pPr>
            <a:r>
              <a:rPr lang="en-US" sz="3800" b="1" dirty="0">
                <a:solidFill>
                  <a:srgbClr val="84CC16"/>
                </a:solidFill>
                <a:latin typeface="Arial Black" pitchFamily="34" charset="0"/>
                <a:ea typeface="Arial Black" pitchFamily="34" charset="-122"/>
                <a:cs typeface="Arial Black" pitchFamily="34" charset="-120"/>
              </a:rPr>
              <a:t>50,000+</a:t>
            </a:r>
            <a:endParaRPr lang="en-US" sz="3800" dirty="0"/>
          </a:p>
        </p:txBody>
      </p:sp>
      <p:sp>
        <p:nvSpPr>
          <p:cNvPr id="28" name="Text 26"/>
          <p:cNvSpPr/>
          <p:nvPr/>
        </p:nvSpPr>
        <p:spPr>
          <a:xfrm>
            <a:off x="4462272" y="5303520"/>
            <a:ext cx="3383280" cy="566928"/>
          </a:xfrm>
          <a:prstGeom prst="rect">
            <a:avLst/>
          </a:prstGeom>
          <a:noFill/>
          <a:ln/>
        </p:spPr>
        <p:txBody>
          <a:bodyPr wrap="square" rtlCol="0" anchor="ctr"/>
          <a:lstStyle/>
          <a:p>
            <a:pPr indent="0" marL="0">
              <a:lnSpc>
                <a:spcPct val="130000"/>
              </a:lnSpc>
              <a:buNone/>
            </a:pPr>
            <a:r>
              <a:rPr lang="en-US" sz="1200" dirty="0">
                <a:solidFill>
                  <a:srgbClr val="E8E4F8"/>
                </a:solidFill>
                <a:latin typeface="Arial" pitchFamily="34" charset="0"/>
                <a:ea typeface="Arial" pitchFamily="34" charset="-122"/>
                <a:cs typeface="Arial" pitchFamily="34" charset="-120"/>
              </a:rPr>
              <a:t>New GRC roles created by DPDP enforcement</a:t>
            </a:r>
            <a:endParaRPr lang="en-US" sz="1200" dirty="0"/>
          </a:p>
        </p:txBody>
      </p:sp>
      <p:sp>
        <p:nvSpPr>
          <p:cNvPr id="29" name="Text 27"/>
          <p:cNvSpPr/>
          <p:nvPr/>
        </p:nvSpPr>
        <p:spPr>
          <a:xfrm>
            <a:off x="4462272" y="6016752"/>
            <a:ext cx="3383280" cy="256032"/>
          </a:xfrm>
          <a:prstGeom prst="rect">
            <a:avLst/>
          </a:prstGeom>
          <a:noFill/>
          <a:ln/>
        </p:spPr>
        <p:txBody>
          <a:bodyPr wrap="square" rtlCol="0" anchor="ctr"/>
          <a:lstStyle/>
          <a:p>
            <a:pPr indent="0" marL="0">
              <a:buNone/>
            </a:pPr>
            <a:r>
              <a:rPr lang="en-US" sz="900" dirty="0">
                <a:solidFill>
                  <a:srgbClr val="8888AA"/>
                </a:solidFill>
                <a:latin typeface="Courier New" pitchFamily="34" charset="0"/>
                <a:ea typeface="Courier New" pitchFamily="34" charset="-122"/>
                <a:cs typeface="Courier New" pitchFamily="34" charset="-120"/>
              </a:rPr>
              <a:t>Industry estimate 2025</a:t>
            </a:r>
            <a:endParaRPr lang="en-US" sz="900" dirty="0"/>
          </a:p>
        </p:txBody>
      </p:sp>
      <p:sp>
        <p:nvSpPr>
          <p:cNvPr id="30" name="Shape 28"/>
          <p:cNvSpPr/>
          <p:nvPr/>
        </p:nvSpPr>
        <p:spPr>
          <a:xfrm>
            <a:off x="8138160" y="4434840"/>
            <a:ext cx="3657600" cy="1920240"/>
          </a:xfrm>
          <a:prstGeom prst="rect">
            <a:avLst/>
          </a:prstGeom>
          <a:solidFill>
            <a:srgbClr val="1A1A28"/>
          </a:solidFill>
          <a:ln w="12700">
            <a:solidFill>
              <a:srgbClr val="2A2A40"/>
            </a:solidFill>
            <a:prstDash val="solid"/>
          </a:ln>
        </p:spPr>
      </p:sp>
      <p:sp>
        <p:nvSpPr>
          <p:cNvPr id="31" name="Shape 29"/>
          <p:cNvSpPr/>
          <p:nvPr/>
        </p:nvSpPr>
        <p:spPr>
          <a:xfrm>
            <a:off x="8138160" y="4434840"/>
            <a:ext cx="3657600" cy="36576"/>
          </a:xfrm>
          <a:prstGeom prst="rect">
            <a:avLst/>
          </a:prstGeom>
          <a:solidFill>
            <a:srgbClr val="FBBF24"/>
          </a:solidFill>
          <a:ln/>
        </p:spPr>
      </p:sp>
      <p:sp>
        <p:nvSpPr>
          <p:cNvPr id="32" name="Text 30"/>
          <p:cNvSpPr/>
          <p:nvPr/>
        </p:nvSpPr>
        <p:spPr>
          <a:xfrm>
            <a:off x="8302752" y="4599432"/>
            <a:ext cx="3383280" cy="685800"/>
          </a:xfrm>
          <a:prstGeom prst="rect">
            <a:avLst/>
          </a:prstGeom>
          <a:noFill/>
          <a:ln/>
        </p:spPr>
        <p:txBody>
          <a:bodyPr wrap="square" rtlCol="0" anchor="ctr"/>
          <a:lstStyle/>
          <a:p>
            <a:pPr indent="0" marL="0">
              <a:buNone/>
            </a:pPr>
            <a:r>
              <a:rPr lang="en-US" sz="3800" b="1" dirty="0">
                <a:solidFill>
                  <a:srgbClr val="FBBF24"/>
                </a:solidFill>
                <a:latin typeface="Arial Black" pitchFamily="34" charset="0"/>
                <a:ea typeface="Arial Black" pitchFamily="34" charset="-122"/>
                <a:cs typeface="Arial Black" pitchFamily="34" charset="-120"/>
              </a:rPr>
              <a:t>11×</a:t>
            </a:r>
            <a:endParaRPr lang="en-US" sz="3800" dirty="0"/>
          </a:p>
        </p:txBody>
      </p:sp>
      <p:sp>
        <p:nvSpPr>
          <p:cNvPr id="33" name="Text 31"/>
          <p:cNvSpPr/>
          <p:nvPr/>
        </p:nvSpPr>
        <p:spPr>
          <a:xfrm>
            <a:off x="8302752" y="5303520"/>
            <a:ext cx="3383280" cy="566928"/>
          </a:xfrm>
          <a:prstGeom prst="rect">
            <a:avLst/>
          </a:prstGeom>
          <a:noFill/>
          <a:ln/>
        </p:spPr>
        <p:txBody>
          <a:bodyPr wrap="square" rtlCol="0" anchor="ctr"/>
          <a:lstStyle/>
          <a:p>
            <a:pPr indent="0" marL="0">
              <a:lnSpc>
                <a:spcPct val="130000"/>
              </a:lnSpc>
              <a:buNone/>
            </a:pPr>
            <a:r>
              <a:rPr lang="en-US" sz="1200" dirty="0">
                <a:solidFill>
                  <a:srgbClr val="E8E4F8"/>
                </a:solidFill>
                <a:latin typeface="Arial" pitchFamily="34" charset="0"/>
                <a:ea typeface="Arial" pitchFamily="34" charset="-122"/>
                <a:cs typeface="Arial" pitchFamily="34" charset="-120"/>
              </a:rPr>
              <a:t>India cyber market growth vs global average</a:t>
            </a:r>
            <a:endParaRPr lang="en-US" sz="1200" dirty="0"/>
          </a:p>
        </p:txBody>
      </p:sp>
      <p:sp>
        <p:nvSpPr>
          <p:cNvPr id="34" name="Text 32"/>
          <p:cNvSpPr/>
          <p:nvPr/>
        </p:nvSpPr>
        <p:spPr>
          <a:xfrm>
            <a:off x="8302752" y="6016752"/>
            <a:ext cx="3383280" cy="256032"/>
          </a:xfrm>
          <a:prstGeom prst="rect">
            <a:avLst/>
          </a:prstGeom>
          <a:noFill/>
          <a:ln/>
        </p:spPr>
        <p:txBody>
          <a:bodyPr wrap="square" rtlCol="0" anchor="ctr"/>
          <a:lstStyle/>
          <a:p>
            <a:pPr indent="0" marL="0">
              <a:buNone/>
            </a:pPr>
            <a:r>
              <a:rPr lang="en-US" sz="900" dirty="0">
                <a:solidFill>
                  <a:srgbClr val="8888AA"/>
                </a:solidFill>
                <a:latin typeface="Courier New" pitchFamily="34" charset="0"/>
                <a:ea typeface="Courier New" pitchFamily="34" charset="-122"/>
                <a:cs typeface="Courier New" pitchFamily="34" charset="-120"/>
              </a:rPr>
              <a:t>Nasscom Cyber Report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F5C518"/>
                </a:solidFill>
                <a:latin typeface="Courier New" pitchFamily="34" charset="0"/>
                <a:ea typeface="Courier New" pitchFamily="34" charset="-122"/>
                <a:cs typeface="Courier New" pitchFamily="34" charset="-120"/>
              </a:rPr>
              <a:t>THE PROGRAMME STRUCTURE</a:t>
            </a:r>
            <a:endParaRPr lang="en-US" sz="1100" dirty="0"/>
          </a:p>
        </p:txBody>
      </p:sp>
      <p:sp>
        <p:nvSpPr>
          <p:cNvPr id="4" name="Text 2"/>
          <p:cNvSpPr/>
          <p:nvPr/>
        </p:nvSpPr>
        <p:spPr>
          <a:xfrm>
            <a:off x="457200" y="713232"/>
            <a:ext cx="11247120" cy="822960"/>
          </a:xfrm>
          <a:prstGeom prst="rect">
            <a:avLst/>
          </a:prstGeom>
          <a:noFill/>
          <a:ln/>
        </p:spPr>
        <p:txBody>
          <a:bodyPr wrap="square"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Two Tracks. One Unstoppable Professional.</a:t>
            </a:r>
            <a:endParaRPr lang="en-US" sz="3800" dirty="0"/>
          </a:p>
        </p:txBody>
      </p:sp>
      <p:sp>
        <p:nvSpPr>
          <p:cNvPr id="5" name="Shape 3"/>
          <p:cNvSpPr/>
          <p:nvPr/>
        </p:nvSpPr>
        <p:spPr>
          <a:xfrm>
            <a:off x="457200" y="1719072"/>
            <a:ext cx="5577840" cy="4800600"/>
          </a:xfrm>
          <a:prstGeom prst="rect">
            <a:avLst/>
          </a:prstGeom>
          <a:solidFill>
            <a:srgbClr val="1A1A28"/>
          </a:solidFill>
          <a:ln w="12700">
            <a:solidFill>
              <a:srgbClr val="FB7185"/>
            </a:solidFill>
            <a:prstDash val="solid"/>
          </a:ln>
        </p:spPr>
      </p:sp>
      <p:sp>
        <p:nvSpPr>
          <p:cNvPr id="6" name="Shape 4"/>
          <p:cNvSpPr/>
          <p:nvPr/>
        </p:nvSpPr>
        <p:spPr>
          <a:xfrm>
            <a:off x="457200" y="1719072"/>
            <a:ext cx="5577840" cy="45720"/>
          </a:xfrm>
          <a:prstGeom prst="rect">
            <a:avLst/>
          </a:prstGeom>
          <a:solidFill>
            <a:srgbClr val="FB7185"/>
          </a:solidFill>
          <a:ln/>
        </p:spPr>
      </p:sp>
      <p:sp>
        <p:nvSpPr>
          <p:cNvPr id="7" name="Text 5"/>
          <p:cNvSpPr/>
          <p:nvPr/>
        </p:nvSpPr>
        <p:spPr>
          <a:xfrm>
            <a:off x="621792" y="1847088"/>
            <a:ext cx="2743200" cy="228600"/>
          </a:xfrm>
          <a:prstGeom prst="rect">
            <a:avLst/>
          </a:prstGeom>
          <a:noFill/>
          <a:ln/>
        </p:spPr>
        <p:txBody>
          <a:bodyPr wrap="square" rtlCol="0" anchor="ctr"/>
          <a:lstStyle/>
          <a:p>
            <a:pPr indent="0" marL="0">
              <a:buNone/>
            </a:pPr>
            <a:r>
              <a:rPr lang="en-US" sz="900" b="1" spc="400" kern="0" dirty="0">
                <a:solidFill>
                  <a:srgbClr val="FB7185"/>
                </a:solidFill>
                <a:latin typeface="Courier New" pitchFamily="34" charset="0"/>
                <a:ea typeface="Courier New" pitchFamily="34" charset="-122"/>
                <a:cs typeface="Courier New" pitchFamily="34" charset="-120"/>
              </a:rPr>
              <a:t>TRACK 01</a:t>
            </a:r>
            <a:endParaRPr lang="en-US" sz="900" dirty="0"/>
          </a:p>
        </p:txBody>
      </p:sp>
      <p:sp>
        <p:nvSpPr>
          <p:cNvPr id="8" name="Text 6"/>
          <p:cNvSpPr/>
          <p:nvPr/>
        </p:nvSpPr>
        <p:spPr>
          <a:xfrm>
            <a:off x="621792" y="2084832"/>
            <a:ext cx="5212080" cy="45720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Technical Security</a:t>
            </a:r>
            <a:endParaRPr lang="en-US" sz="2200" dirty="0"/>
          </a:p>
        </p:txBody>
      </p:sp>
      <p:sp>
        <p:nvSpPr>
          <p:cNvPr id="9" name="Text 7"/>
          <p:cNvSpPr/>
          <p:nvPr/>
        </p:nvSpPr>
        <p:spPr>
          <a:xfrm>
            <a:off x="621792" y="2523744"/>
            <a:ext cx="5212080" cy="256032"/>
          </a:xfrm>
          <a:prstGeom prst="rect">
            <a:avLst/>
          </a:prstGeom>
          <a:noFill/>
          <a:ln/>
        </p:spPr>
        <p:txBody>
          <a:bodyPr wrap="square" rtlCol="0" anchor="ctr"/>
          <a:lstStyle/>
          <a:p>
            <a:pPr indent="0" marL="0">
              <a:buNone/>
            </a:pPr>
            <a:r>
              <a:rPr lang="en-US" sz="1100" dirty="0">
                <a:solidFill>
                  <a:srgbClr val="8888AA"/>
                </a:solidFill>
                <a:latin typeface="Arial" pitchFamily="34" charset="0"/>
                <a:ea typeface="Arial" pitchFamily="34" charset="-122"/>
                <a:cs typeface="Arial" pitchFamily="34" charset="-120"/>
              </a:rPr>
              <a:t>Hands-on offensive + defensive skills</a:t>
            </a:r>
            <a:endParaRPr lang="en-US" sz="1100" dirty="0"/>
          </a:p>
        </p:txBody>
      </p:sp>
      <p:sp>
        <p:nvSpPr>
          <p:cNvPr id="10" name="Text 8"/>
          <p:cNvSpPr/>
          <p:nvPr/>
        </p:nvSpPr>
        <p:spPr>
          <a:xfrm>
            <a:off x="621792" y="2889504"/>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M1  Security Foundations + OS Security</a:t>
            </a:r>
            <a:endParaRPr lang="en-US" sz="1100" dirty="0"/>
          </a:p>
        </p:txBody>
      </p:sp>
      <p:sp>
        <p:nvSpPr>
          <p:cNvPr id="11" name="Text 9"/>
          <p:cNvSpPr/>
          <p:nvPr/>
        </p:nvSpPr>
        <p:spPr>
          <a:xfrm>
            <a:off x="621792" y="3227832"/>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M2  Cryptography, PKI &amp; TLS</a:t>
            </a:r>
            <a:endParaRPr lang="en-US" sz="1100" dirty="0"/>
          </a:p>
        </p:txBody>
      </p:sp>
      <p:sp>
        <p:nvSpPr>
          <p:cNvPr id="12" name="Text 10"/>
          <p:cNvSpPr/>
          <p:nvPr/>
        </p:nvSpPr>
        <p:spPr>
          <a:xfrm>
            <a:off x="621792" y="3566160"/>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M3  Network Security &amp; Protocols</a:t>
            </a:r>
            <a:endParaRPr lang="en-US" sz="1100" dirty="0"/>
          </a:p>
        </p:txBody>
      </p:sp>
      <p:sp>
        <p:nvSpPr>
          <p:cNvPr id="13" name="Text 11"/>
          <p:cNvSpPr/>
          <p:nvPr/>
        </p:nvSpPr>
        <p:spPr>
          <a:xfrm>
            <a:off x="621792" y="3904488"/>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M4  Web App Security — OWASP Top 10</a:t>
            </a:r>
            <a:endParaRPr lang="en-US" sz="1100" dirty="0"/>
          </a:p>
        </p:txBody>
      </p:sp>
      <p:sp>
        <p:nvSpPr>
          <p:cNvPr id="14" name="Text 12"/>
          <p:cNvSpPr/>
          <p:nvPr/>
        </p:nvSpPr>
        <p:spPr>
          <a:xfrm>
            <a:off x="621792" y="4242816"/>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M5  Ethical Hacking — CEH Track</a:t>
            </a:r>
            <a:endParaRPr lang="en-US" sz="1100" dirty="0"/>
          </a:p>
        </p:txBody>
      </p:sp>
      <p:sp>
        <p:nvSpPr>
          <p:cNvPr id="15" name="Text 13"/>
          <p:cNvSpPr/>
          <p:nvPr/>
        </p:nvSpPr>
        <p:spPr>
          <a:xfrm>
            <a:off x="621792" y="4581144"/>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M6  SOC &amp; SIEM Operations (Wazuh + Splunk)</a:t>
            </a:r>
            <a:endParaRPr lang="en-US" sz="1100" dirty="0"/>
          </a:p>
        </p:txBody>
      </p:sp>
      <p:sp>
        <p:nvSpPr>
          <p:cNvPr id="16" name="Text 14"/>
          <p:cNvSpPr/>
          <p:nvPr/>
        </p:nvSpPr>
        <p:spPr>
          <a:xfrm>
            <a:off x="621792" y="4919472"/>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M7  Threat Intelligence &amp; CTI</a:t>
            </a:r>
            <a:endParaRPr lang="en-US" sz="1100" dirty="0"/>
          </a:p>
        </p:txBody>
      </p:sp>
      <p:sp>
        <p:nvSpPr>
          <p:cNvPr id="17" name="Text 15"/>
          <p:cNvSpPr/>
          <p:nvPr/>
        </p:nvSpPr>
        <p:spPr>
          <a:xfrm>
            <a:off x="621792" y="5257800"/>
            <a:ext cx="5212080" cy="320040"/>
          </a:xfrm>
          <a:prstGeom prst="rect">
            <a:avLst/>
          </a:prstGeom>
          <a:noFill/>
          <a:ln/>
        </p:spPr>
        <p:txBody>
          <a:bodyPr wrap="square" rtlCol="0" anchor="ctr"/>
          <a:lstStyle/>
          <a:p>
            <a:pPr indent="0" marL="0">
              <a:buNone/>
            </a:pPr>
            <a:r>
              <a:rPr lang="en-US" sz="1100" dirty="0">
                <a:solidFill>
                  <a:srgbClr val="F5C518"/>
                </a:solidFill>
                <a:latin typeface="Courier New" pitchFamily="34" charset="0"/>
                <a:ea typeface="Courier New" pitchFamily="34" charset="-122"/>
                <a:cs typeface="Courier New" pitchFamily="34" charset="-120"/>
              </a:rPr>
              <a:t>◈  M8  Cloud Security — AWS &amp; Azure</a:t>
            </a:r>
            <a:endParaRPr lang="en-US" sz="1100" dirty="0"/>
          </a:p>
        </p:txBody>
      </p:sp>
      <p:sp>
        <p:nvSpPr>
          <p:cNvPr id="18" name="Shape 16"/>
          <p:cNvSpPr/>
          <p:nvPr/>
        </p:nvSpPr>
        <p:spPr>
          <a:xfrm>
            <a:off x="6263640" y="1719072"/>
            <a:ext cx="5577840" cy="4800600"/>
          </a:xfrm>
          <a:prstGeom prst="rect">
            <a:avLst/>
          </a:prstGeom>
          <a:solidFill>
            <a:srgbClr val="0E0E1C"/>
          </a:solidFill>
          <a:ln w="12700">
            <a:solidFill>
              <a:srgbClr val="F5C518"/>
            </a:solidFill>
            <a:prstDash val="solid"/>
          </a:ln>
        </p:spPr>
      </p:sp>
      <p:sp>
        <p:nvSpPr>
          <p:cNvPr id="19" name="Shape 17"/>
          <p:cNvSpPr/>
          <p:nvPr/>
        </p:nvSpPr>
        <p:spPr>
          <a:xfrm>
            <a:off x="6263640" y="1719072"/>
            <a:ext cx="5577840" cy="45720"/>
          </a:xfrm>
          <a:prstGeom prst="rect">
            <a:avLst/>
          </a:prstGeom>
          <a:solidFill>
            <a:srgbClr val="F5C518"/>
          </a:solidFill>
          <a:ln/>
        </p:spPr>
      </p:sp>
      <p:sp>
        <p:nvSpPr>
          <p:cNvPr id="20" name="Text 18"/>
          <p:cNvSpPr/>
          <p:nvPr/>
        </p:nvSpPr>
        <p:spPr>
          <a:xfrm>
            <a:off x="6428232" y="1847088"/>
            <a:ext cx="2743200" cy="228600"/>
          </a:xfrm>
          <a:prstGeom prst="rect">
            <a:avLst/>
          </a:prstGeom>
          <a:noFill/>
          <a:ln/>
        </p:spPr>
        <p:txBody>
          <a:bodyPr wrap="square" rtlCol="0" anchor="ctr"/>
          <a:lstStyle/>
          <a:p>
            <a:pPr indent="0" marL="0">
              <a:buNone/>
            </a:pPr>
            <a:r>
              <a:rPr lang="en-US" sz="900" b="1" spc="400" kern="0" dirty="0">
                <a:solidFill>
                  <a:srgbClr val="F5C518"/>
                </a:solidFill>
                <a:latin typeface="Courier New" pitchFamily="34" charset="0"/>
                <a:ea typeface="Courier New" pitchFamily="34" charset="-122"/>
                <a:cs typeface="Courier New" pitchFamily="34" charset="-120"/>
              </a:rPr>
              <a:t>TRACK 02</a:t>
            </a:r>
            <a:endParaRPr lang="en-US" sz="900" dirty="0"/>
          </a:p>
        </p:txBody>
      </p:sp>
      <p:sp>
        <p:nvSpPr>
          <p:cNvPr id="21" name="Text 19"/>
          <p:cNvSpPr/>
          <p:nvPr/>
        </p:nvSpPr>
        <p:spPr>
          <a:xfrm>
            <a:off x="6428232" y="2084832"/>
            <a:ext cx="5212080" cy="45720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GRC &amp; Compliance</a:t>
            </a:r>
            <a:endParaRPr lang="en-US" sz="2200" dirty="0"/>
          </a:p>
        </p:txBody>
      </p:sp>
      <p:sp>
        <p:nvSpPr>
          <p:cNvPr id="22" name="Text 20"/>
          <p:cNvSpPr/>
          <p:nvPr/>
        </p:nvSpPr>
        <p:spPr>
          <a:xfrm>
            <a:off x="6428232" y="2523744"/>
            <a:ext cx="5212080" cy="256032"/>
          </a:xfrm>
          <a:prstGeom prst="rect">
            <a:avLst/>
          </a:prstGeom>
          <a:noFill/>
          <a:ln/>
        </p:spPr>
        <p:txBody>
          <a:bodyPr wrap="square" rtlCol="0" anchor="ctr"/>
          <a:lstStyle/>
          <a:p>
            <a:pPr indent="0" marL="0">
              <a:buNone/>
            </a:pPr>
            <a:r>
              <a:rPr lang="en-US" sz="1100" dirty="0">
                <a:solidFill>
                  <a:srgbClr val="F5C518"/>
                </a:solidFill>
                <a:latin typeface="Arial" pitchFamily="34" charset="0"/>
                <a:ea typeface="Arial" pitchFamily="34" charset="-122"/>
                <a:cs typeface="Arial" pitchFamily="34" charset="-120"/>
              </a:rPr>
              <a:t>The career multiplier most courses skip entirely</a:t>
            </a:r>
            <a:endParaRPr lang="en-US" sz="1100" dirty="0"/>
          </a:p>
        </p:txBody>
      </p:sp>
      <p:sp>
        <p:nvSpPr>
          <p:cNvPr id="23" name="Text 21"/>
          <p:cNvSpPr/>
          <p:nvPr/>
        </p:nvSpPr>
        <p:spPr>
          <a:xfrm>
            <a:off x="6428232" y="2889504"/>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G1  ISO 27001:2022 — Annex A, all 93 controls</a:t>
            </a:r>
            <a:endParaRPr lang="en-US" sz="1100" dirty="0"/>
          </a:p>
        </p:txBody>
      </p:sp>
      <p:sp>
        <p:nvSpPr>
          <p:cNvPr id="24" name="Text 22"/>
          <p:cNvSpPr/>
          <p:nvPr/>
        </p:nvSpPr>
        <p:spPr>
          <a:xfrm>
            <a:off x="6428232" y="3227832"/>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G2  NIST CSF 2.0 — Govern through Recover</a:t>
            </a:r>
            <a:endParaRPr lang="en-US" sz="1100" dirty="0"/>
          </a:p>
        </p:txBody>
      </p:sp>
      <p:sp>
        <p:nvSpPr>
          <p:cNvPr id="25" name="Text 23"/>
          <p:cNvSpPr/>
          <p:nvPr/>
        </p:nvSpPr>
        <p:spPr>
          <a:xfrm>
            <a:off x="6428232" y="3566160"/>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G3  DPDP Act 2023 — India data privacy law</a:t>
            </a:r>
            <a:endParaRPr lang="en-US" sz="1100" dirty="0"/>
          </a:p>
        </p:txBody>
      </p:sp>
      <p:sp>
        <p:nvSpPr>
          <p:cNvPr id="26" name="Text 24"/>
          <p:cNvSpPr/>
          <p:nvPr/>
        </p:nvSpPr>
        <p:spPr>
          <a:xfrm>
            <a:off x="6428232" y="3904488"/>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G4  CERT-In Directions — 6-hr reporting</a:t>
            </a:r>
            <a:endParaRPr lang="en-US" sz="1100" dirty="0"/>
          </a:p>
        </p:txBody>
      </p:sp>
      <p:sp>
        <p:nvSpPr>
          <p:cNvPr id="27" name="Text 25"/>
          <p:cNvSpPr/>
          <p:nvPr/>
        </p:nvSpPr>
        <p:spPr>
          <a:xfrm>
            <a:off x="6428232" y="4242816"/>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G5  Risk Management + Risk Register</a:t>
            </a:r>
            <a:endParaRPr lang="en-US" sz="1100" dirty="0"/>
          </a:p>
        </p:txBody>
      </p:sp>
      <p:sp>
        <p:nvSpPr>
          <p:cNvPr id="28" name="Text 26"/>
          <p:cNvSpPr/>
          <p:nvPr/>
        </p:nvSpPr>
        <p:spPr>
          <a:xfrm>
            <a:off x="6428232" y="4581144"/>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G6  BCP / DRP — RTO, RPO, Testing</a:t>
            </a:r>
            <a:endParaRPr lang="en-US" sz="1100" dirty="0"/>
          </a:p>
        </p:txBody>
      </p:sp>
      <p:sp>
        <p:nvSpPr>
          <p:cNvPr id="29" name="Text 27"/>
          <p:cNvSpPr/>
          <p:nvPr/>
        </p:nvSpPr>
        <p:spPr>
          <a:xfrm>
            <a:off x="6428232" y="4919472"/>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G7  Security Audit + Policy Writing</a:t>
            </a:r>
            <a:endParaRPr lang="en-US" sz="1100" dirty="0"/>
          </a:p>
        </p:txBody>
      </p:sp>
      <p:sp>
        <p:nvSpPr>
          <p:cNvPr id="30" name="Text 28"/>
          <p:cNvSpPr/>
          <p:nvPr/>
        </p:nvSpPr>
        <p:spPr>
          <a:xfrm>
            <a:off x="6428232" y="5257800"/>
            <a:ext cx="5212080" cy="320040"/>
          </a:xfrm>
          <a:prstGeom prst="rect">
            <a:avLst/>
          </a:prstGeom>
          <a:noFill/>
          <a:ln/>
        </p:spPr>
        <p:txBody>
          <a:bodyPr wrap="square" rtlCol="0" anchor="ctr"/>
          <a:lstStyle/>
          <a:p>
            <a:pPr indent="0" marL="0">
              <a:buNone/>
            </a:pPr>
            <a:r>
              <a:rPr lang="en-US" sz="1100" dirty="0">
                <a:solidFill>
                  <a:srgbClr val="E8E4F8"/>
                </a:solidFill>
                <a:latin typeface="Courier New" pitchFamily="34" charset="0"/>
                <a:ea typeface="Courier New" pitchFamily="34" charset="-122"/>
                <a:cs typeface="Courier New" pitchFamily="34" charset="-120"/>
              </a:rPr>
              <a:t>◈  G8  PCI-DSS, SOC 2, RBI Cyber Framework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Shape 1"/>
          <p:cNvSpPr/>
          <p:nvPr/>
        </p:nvSpPr>
        <p:spPr>
          <a:xfrm>
            <a:off x="0" y="0"/>
            <a:ext cx="12161520" cy="6858000"/>
          </a:xfrm>
          <a:prstGeom prst="rect">
            <a:avLst/>
          </a:prstGeom>
          <a:solidFill>
            <a:srgbClr val="0D0818"/>
          </a:solidFill>
          <a:ln w="12700">
            <a:solidFill>
              <a:srgbClr val="0D0818"/>
            </a:solidFill>
            <a:prstDash val="solid"/>
          </a:ln>
        </p:spPr>
      </p:sp>
      <p:sp>
        <p:nvSpPr>
          <p:cNvPr id="4" name="Text 2"/>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A855F7"/>
                </a:solidFill>
                <a:latin typeface="Courier New" pitchFamily="34" charset="0"/>
                <a:ea typeface="Courier New" pitchFamily="34" charset="-122"/>
                <a:cs typeface="Courier New" pitchFamily="34" charset="-120"/>
              </a:rPr>
              <a:t>EXCLUSIVE — WEEK 10–11</a:t>
            </a:r>
            <a:endParaRPr lang="en-US" sz="1100" dirty="0"/>
          </a:p>
        </p:txBody>
      </p:sp>
      <p:sp>
        <p:nvSpPr>
          <p:cNvPr id="5" name="Text 3"/>
          <p:cNvSpPr/>
          <p:nvPr/>
        </p:nvSpPr>
        <p:spPr>
          <a:xfrm>
            <a:off x="457200" y="713232"/>
            <a:ext cx="8686800" cy="1554480"/>
          </a:xfrm>
          <a:prstGeom prst="rect">
            <a:avLst/>
          </a:prstGeom>
          <a:noFill/>
          <a:ln/>
        </p:spPr>
        <p:txBody>
          <a:bodyPr wrap="square" rtlCol="0" anchor="ctr"/>
          <a:lstStyle/>
          <a:p>
            <a:pPr indent="0" marL="0">
              <a:lnSpc>
                <a:spcPct val="96000"/>
              </a:lnSpc>
              <a:buNone/>
            </a:pPr>
            <a:r>
              <a:rPr lang="en-US" sz="5000" b="1" dirty="0">
                <a:solidFill>
                  <a:srgbClr val="FFFFFF"/>
                </a:solidFill>
                <a:latin typeface="Arial Black" pitchFamily="34" charset="0"/>
                <a:ea typeface="Arial Black" pitchFamily="34" charset="-122"/>
                <a:cs typeface="Arial Black" pitchFamily="34" charset="-120"/>
              </a:rPr>
              <a:t>🤖  AI-Augmented</a:t>
            </a:r>
            <a:endParaRPr lang="en-US" sz="5000" dirty="0"/>
          </a:p>
          <a:p>
            <a:pPr indent="0" marL="0">
              <a:lnSpc>
                <a:spcPct val="96000"/>
              </a:lnSpc>
              <a:buNone/>
            </a:pPr>
            <a:r>
              <a:rPr lang="en-US" sz="5000" b="1" dirty="0">
                <a:solidFill>
                  <a:srgbClr val="FFFFFF"/>
                </a:solidFill>
                <a:latin typeface="Arial Black" pitchFamily="34" charset="0"/>
                <a:ea typeface="Arial Black" pitchFamily="34" charset="-122"/>
                <a:cs typeface="Arial Black" pitchFamily="34" charset="-120"/>
              </a:rPr>
              <a:t>Security — Included.</a:t>
            </a:r>
            <a:endParaRPr lang="en-US" sz="5000" dirty="0"/>
          </a:p>
        </p:txBody>
      </p:sp>
      <p:sp>
        <p:nvSpPr>
          <p:cNvPr id="6" name="Text 4"/>
          <p:cNvSpPr/>
          <p:nvPr/>
        </p:nvSpPr>
        <p:spPr>
          <a:xfrm>
            <a:off x="457200" y="2331720"/>
            <a:ext cx="6858000" cy="502920"/>
          </a:xfrm>
          <a:prstGeom prst="rect">
            <a:avLst/>
          </a:prstGeom>
          <a:noFill/>
          <a:ln/>
        </p:spPr>
        <p:txBody>
          <a:bodyPr wrap="square" rtlCol="0" anchor="ctr"/>
          <a:lstStyle/>
          <a:p>
            <a:pPr indent="0" marL="0">
              <a:buNone/>
            </a:pPr>
            <a:r>
              <a:rPr lang="en-US" sz="1400" dirty="0">
                <a:solidFill>
                  <a:srgbClr val="8888AA"/>
                </a:solidFill>
                <a:latin typeface="Arial" pitchFamily="34" charset="0"/>
                <a:ea typeface="Arial" pitchFamily="34" charset="-122"/>
                <a:cs typeface="Arial" pitchFamily="34" charset="-120"/>
              </a:rPr>
              <a:t>2026 employers expect AI skills. This module delivers them — for both offensive and defensive work.</a:t>
            </a:r>
            <a:endParaRPr lang="en-US" sz="1400" dirty="0"/>
          </a:p>
        </p:txBody>
      </p:sp>
      <p:sp>
        <p:nvSpPr>
          <p:cNvPr id="7" name="Shape 5"/>
          <p:cNvSpPr/>
          <p:nvPr/>
        </p:nvSpPr>
        <p:spPr>
          <a:xfrm>
            <a:off x="457200" y="2999232"/>
            <a:ext cx="2697480" cy="3474720"/>
          </a:xfrm>
          <a:prstGeom prst="rect">
            <a:avLst/>
          </a:prstGeom>
          <a:solidFill>
            <a:srgbClr val="1A1A28"/>
          </a:solidFill>
          <a:ln w="12700">
            <a:solidFill>
              <a:srgbClr val="FB7185"/>
            </a:solidFill>
            <a:prstDash val="solid"/>
          </a:ln>
        </p:spPr>
      </p:sp>
      <p:sp>
        <p:nvSpPr>
          <p:cNvPr id="8" name="Shape 6"/>
          <p:cNvSpPr/>
          <p:nvPr/>
        </p:nvSpPr>
        <p:spPr>
          <a:xfrm>
            <a:off x="457200" y="2999232"/>
            <a:ext cx="2697480" cy="36576"/>
          </a:xfrm>
          <a:prstGeom prst="rect">
            <a:avLst/>
          </a:prstGeom>
          <a:solidFill>
            <a:srgbClr val="FB7185"/>
          </a:solidFill>
          <a:ln/>
        </p:spPr>
      </p:sp>
      <p:sp>
        <p:nvSpPr>
          <p:cNvPr id="9" name="Text 7"/>
          <p:cNvSpPr/>
          <p:nvPr/>
        </p:nvSpPr>
        <p:spPr>
          <a:xfrm>
            <a:off x="594360" y="3108960"/>
            <a:ext cx="2468880" cy="384048"/>
          </a:xfrm>
          <a:prstGeom prst="rect">
            <a:avLst/>
          </a:prstGeom>
          <a:noFill/>
          <a:ln/>
        </p:spPr>
        <p:txBody>
          <a:bodyPr wrap="square" rtlCol="0" anchor="ctr"/>
          <a:lstStyle/>
          <a:p>
            <a:pPr indent="0" marL="0">
              <a:buNone/>
            </a:pPr>
            <a:r>
              <a:rPr lang="en-US" sz="1250" b="1" dirty="0">
                <a:solidFill>
                  <a:srgbClr val="FB7185"/>
                </a:solidFill>
                <a:latin typeface="Arial" pitchFamily="34" charset="0"/>
                <a:ea typeface="Arial" pitchFamily="34" charset="-122"/>
                <a:cs typeface="Arial" pitchFamily="34" charset="-120"/>
              </a:rPr>
              <a:t>⚔  AI for Pentesting</a:t>
            </a:r>
            <a:endParaRPr lang="en-US" sz="1250" dirty="0"/>
          </a:p>
        </p:txBody>
      </p:sp>
      <p:sp>
        <p:nvSpPr>
          <p:cNvPr id="10" name="Text 8"/>
          <p:cNvSpPr/>
          <p:nvPr/>
        </p:nvSpPr>
        <p:spPr>
          <a:xfrm>
            <a:off x="594360" y="3611880"/>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Claude + MCP for recon automation</a:t>
            </a:r>
            <a:endParaRPr lang="en-US" sz="1050" dirty="0"/>
          </a:p>
        </p:txBody>
      </p:sp>
      <p:sp>
        <p:nvSpPr>
          <p:cNvPr id="11" name="Text 9"/>
          <p:cNvSpPr/>
          <p:nvPr/>
        </p:nvSpPr>
        <p:spPr>
          <a:xfrm>
            <a:off x="594360" y="4233672"/>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AI code review &amp; secrets hunting</a:t>
            </a:r>
            <a:endParaRPr lang="en-US" sz="1050" dirty="0"/>
          </a:p>
        </p:txBody>
      </p:sp>
      <p:sp>
        <p:nvSpPr>
          <p:cNvPr id="12" name="Text 10"/>
          <p:cNvSpPr/>
          <p:nvPr/>
        </p:nvSpPr>
        <p:spPr>
          <a:xfrm>
            <a:off x="594360" y="4855464"/>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Exploit script generation from CVEs</a:t>
            </a:r>
            <a:endParaRPr lang="en-US" sz="1050" dirty="0"/>
          </a:p>
        </p:txBody>
      </p:sp>
      <p:sp>
        <p:nvSpPr>
          <p:cNvPr id="13" name="Text 11"/>
          <p:cNvSpPr/>
          <p:nvPr/>
        </p:nvSpPr>
        <p:spPr>
          <a:xfrm>
            <a:off x="594360" y="5477256"/>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AI-written VAPT reports from findings</a:t>
            </a:r>
            <a:endParaRPr lang="en-US" sz="1050" dirty="0"/>
          </a:p>
        </p:txBody>
      </p:sp>
      <p:sp>
        <p:nvSpPr>
          <p:cNvPr id="14" name="Shape 12"/>
          <p:cNvSpPr/>
          <p:nvPr/>
        </p:nvSpPr>
        <p:spPr>
          <a:xfrm>
            <a:off x="3337560" y="2999232"/>
            <a:ext cx="2697480" cy="3474720"/>
          </a:xfrm>
          <a:prstGeom prst="rect">
            <a:avLst/>
          </a:prstGeom>
          <a:solidFill>
            <a:srgbClr val="1A1A28"/>
          </a:solidFill>
          <a:ln w="12700">
            <a:solidFill>
              <a:srgbClr val="2DD4BF"/>
            </a:solidFill>
            <a:prstDash val="solid"/>
          </a:ln>
        </p:spPr>
      </p:sp>
      <p:sp>
        <p:nvSpPr>
          <p:cNvPr id="15" name="Shape 13"/>
          <p:cNvSpPr/>
          <p:nvPr/>
        </p:nvSpPr>
        <p:spPr>
          <a:xfrm>
            <a:off x="3337560" y="2999232"/>
            <a:ext cx="2697480" cy="36576"/>
          </a:xfrm>
          <a:prstGeom prst="rect">
            <a:avLst/>
          </a:prstGeom>
          <a:solidFill>
            <a:srgbClr val="2DD4BF"/>
          </a:solidFill>
          <a:ln/>
        </p:spPr>
      </p:sp>
      <p:sp>
        <p:nvSpPr>
          <p:cNvPr id="16" name="Text 14"/>
          <p:cNvSpPr/>
          <p:nvPr/>
        </p:nvSpPr>
        <p:spPr>
          <a:xfrm>
            <a:off x="3474720" y="3108960"/>
            <a:ext cx="2468880" cy="384048"/>
          </a:xfrm>
          <a:prstGeom prst="rect">
            <a:avLst/>
          </a:prstGeom>
          <a:noFill/>
          <a:ln/>
        </p:spPr>
        <p:txBody>
          <a:bodyPr wrap="square" rtlCol="0" anchor="ctr"/>
          <a:lstStyle/>
          <a:p>
            <a:pPr indent="0" marL="0">
              <a:buNone/>
            </a:pPr>
            <a:r>
              <a:rPr lang="en-US" sz="1250" b="1" dirty="0">
                <a:solidFill>
                  <a:srgbClr val="2DD4BF"/>
                </a:solidFill>
                <a:latin typeface="Arial" pitchFamily="34" charset="0"/>
                <a:ea typeface="Arial" pitchFamily="34" charset="-122"/>
                <a:cs typeface="Arial" pitchFamily="34" charset="-120"/>
              </a:rPr>
              <a:t>📡  AI for SOC</a:t>
            </a:r>
            <a:endParaRPr lang="en-US" sz="1250" dirty="0"/>
          </a:p>
        </p:txBody>
      </p:sp>
      <p:sp>
        <p:nvSpPr>
          <p:cNvPr id="17" name="Text 15"/>
          <p:cNvSpPr/>
          <p:nvPr/>
        </p:nvSpPr>
        <p:spPr>
          <a:xfrm>
            <a:off x="3474720" y="3611880"/>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Feed alerts to Claude for triage</a:t>
            </a:r>
            <a:endParaRPr lang="en-US" sz="1050" dirty="0"/>
          </a:p>
        </p:txBody>
      </p:sp>
      <p:sp>
        <p:nvSpPr>
          <p:cNvPr id="18" name="Text 16"/>
          <p:cNvSpPr/>
          <p:nvPr/>
        </p:nvSpPr>
        <p:spPr>
          <a:xfrm>
            <a:off x="3474720" y="4233672"/>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Natural language → SPL/KQL queries</a:t>
            </a:r>
            <a:endParaRPr lang="en-US" sz="1050" dirty="0"/>
          </a:p>
        </p:txBody>
      </p:sp>
      <p:sp>
        <p:nvSpPr>
          <p:cNvPr id="19" name="Text 17"/>
          <p:cNvSpPr/>
          <p:nvPr/>
        </p:nvSpPr>
        <p:spPr>
          <a:xfrm>
            <a:off x="3474720" y="4855464"/>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Multi-source log correlation</a:t>
            </a:r>
            <a:endParaRPr lang="en-US" sz="1050" dirty="0"/>
          </a:p>
        </p:txBody>
      </p:sp>
      <p:sp>
        <p:nvSpPr>
          <p:cNvPr id="20" name="Text 18"/>
          <p:cNvSpPr/>
          <p:nvPr/>
        </p:nvSpPr>
        <p:spPr>
          <a:xfrm>
            <a:off x="3474720" y="5477256"/>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Automated IOC enrichment pipeline</a:t>
            </a:r>
            <a:endParaRPr lang="en-US" sz="1050" dirty="0"/>
          </a:p>
        </p:txBody>
      </p:sp>
      <p:sp>
        <p:nvSpPr>
          <p:cNvPr id="21" name="Shape 19"/>
          <p:cNvSpPr/>
          <p:nvPr/>
        </p:nvSpPr>
        <p:spPr>
          <a:xfrm>
            <a:off x="6217920" y="2999232"/>
            <a:ext cx="2697480" cy="3474720"/>
          </a:xfrm>
          <a:prstGeom prst="rect">
            <a:avLst/>
          </a:prstGeom>
          <a:solidFill>
            <a:srgbClr val="1A1A28"/>
          </a:solidFill>
          <a:ln w="12700">
            <a:solidFill>
              <a:srgbClr val="A855F7"/>
            </a:solidFill>
            <a:prstDash val="solid"/>
          </a:ln>
        </p:spPr>
      </p:sp>
      <p:sp>
        <p:nvSpPr>
          <p:cNvPr id="22" name="Shape 20"/>
          <p:cNvSpPr/>
          <p:nvPr/>
        </p:nvSpPr>
        <p:spPr>
          <a:xfrm>
            <a:off x="6217920" y="2999232"/>
            <a:ext cx="2697480" cy="36576"/>
          </a:xfrm>
          <a:prstGeom prst="rect">
            <a:avLst/>
          </a:prstGeom>
          <a:solidFill>
            <a:srgbClr val="A855F7"/>
          </a:solidFill>
          <a:ln/>
        </p:spPr>
      </p:sp>
      <p:sp>
        <p:nvSpPr>
          <p:cNvPr id="23" name="Text 21"/>
          <p:cNvSpPr/>
          <p:nvPr/>
        </p:nvSpPr>
        <p:spPr>
          <a:xfrm>
            <a:off x="6355080" y="3108960"/>
            <a:ext cx="2468880" cy="384048"/>
          </a:xfrm>
          <a:prstGeom prst="rect">
            <a:avLst/>
          </a:prstGeom>
          <a:noFill/>
          <a:ln/>
        </p:spPr>
        <p:txBody>
          <a:bodyPr wrap="square" rtlCol="0" anchor="ctr"/>
          <a:lstStyle/>
          <a:p>
            <a:pPr indent="0" marL="0">
              <a:buNone/>
            </a:pPr>
            <a:r>
              <a:rPr lang="en-US" sz="1250" b="1" dirty="0">
                <a:solidFill>
                  <a:srgbClr val="A855F7"/>
                </a:solidFill>
                <a:latin typeface="Arial" pitchFamily="34" charset="0"/>
                <a:ea typeface="Arial" pitchFamily="34" charset="-122"/>
                <a:cs typeface="Arial" pitchFamily="34" charset="-120"/>
              </a:rPr>
              <a:t>📋  AI for GRC</a:t>
            </a:r>
            <a:endParaRPr lang="en-US" sz="1250" dirty="0"/>
          </a:p>
        </p:txBody>
      </p:sp>
      <p:sp>
        <p:nvSpPr>
          <p:cNvPr id="24" name="Text 22"/>
          <p:cNvSpPr/>
          <p:nvPr/>
        </p:nvSpPr>
        <p:spPr>
          <a:xfrm>
            <a:off x="6355080" y="3611880"/>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Draft ISO 27001 policies in minutes</a:t>
            </a:r>
            <a:endParaRPr lang="en-US" sz="1050" dirty="0"/>
          </a:p>
        </p:txBody>
      </p:sp>
      <p:sp>
        <p:nvSpPr>
          <p:cNvPr id="25" name="Text 23"/>
          <p:cNvSpPr/>
          <p:nvPr/>
        </p:nvSpPr>
        <p:spPr>
          <a:xfrm>
            <a:off x="6355080" y="4233672"/>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AI gap analysis vs Annex A controls</a:t>
            </a:r>
            <a:endParaRPr lang="en-US" sz="1050" dirty="0"/>
          </a:p>
        </p:txBody>
      </p:sp>
      <p:sp>
        <p:nvSpPr>
          <p:cNvPr id="26" name="Text 24"/>
          <p:cNvSpPr/>
          <p:nvPr/>
        </p:nvSpPr>
        <p:spPr>
          <a:xfrm>
            <a:off x="6355080" y="4855464"/>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DPDP compliance assessment</a:t>
            </a:r>
            <a:endParaRPr lang="en-US" sz="1050" dirty="0"/>
          </a:p>
        </p:txBody>
      </p:sp>
      <p:sp>
        <p:nvSpPr>
          <p:cNvPr id="27" name="Text 25"/>
          <p:cNvSpPr/>
          <p:nvPr/>
        </p:nvSpPr>
        <p:spPr>
          <a:xfrm>
            <a:off x="6355080" y="5477256"/>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Cross-framework control mapping</a:t>
            </a:r>
            <a:endParaRPr lang="en-US" sz="1050" dirty="0"/>
          </a:p>
        </p:txBody>
      </p:sp>
      <p:sp>
        <p:nvSpPr>
          <p:cNvPr id="28" name="Shape 26"/>
          <p:cNvSpPr/>
          <p:nvPr/>
        </p:nvSpPr>
        <p:spPr>
          <a:xfrm>
            <a:off x="9098280" y="2999232"/>
            <a:ext cx="2697480" cy="3474720"/>
          </a:xfrm>
          <a:prstGeom prst="rect">
            <a:avLst/>
          </a:prstGeom>
          <a:solidFill>
            <a:srgbClr val="1A1A28"/>
          </a:solidFill>
          <a:ln w="12700">
            <a:solidFill>
              <a:srgbClr val="F5C518"/>
            </a:solidFill>
            <a:prstDash val="solid"/>
          </a:ln>
        </p:spPr>
      </p:sp>
      <p:sp>
        <p:nvSpPr>
          <p:cNvPr id="29" name="Shape 27"/>
          <p:cNvSpPr/>
          <p:nvPr/>
        </p:nvSpPr>
        <p:spPr>
          <a:xfrm>
            <a:off x="9098280" y="2999232"/>
            <a:ext cx="2697480" cy="36576"/>
          </a:xfrm>
          <a:prstGeom prst="rect">
            <a:avLst/>
          </a:prstGeom>
          <a:solidFill>
            <a:srgbClr val="F5C518"/>
          </a:solidFill>
          <a:ln/>
        </p:spPr>
      </p:sp>
      <p:sp>
        <p:nvSpPr>
          <p:cNvPr id="30" name="Text 28"/>
          <p:cNvSpPr/>
          <p:nvPr/>
        </p:nvSpPr>
        <p:spPr>
          <a:xfrm>
            <a:off x="9235440" y="3108960"/>
            <a:ext cx="2468880" cy="384048"/>
          </a:xfrm>
          <a:prstGeom prst="rect">
            <a:avLst/>
          </a:prstGeom>
          <a:noFill/>
          <a:ln/>
        </p:spPr>
        <p:txBody>
          <a:bodyPr wrap="square" rtlCol="0" anchor="ctr"/>
          <a:lstStyle/>
          <a:p>
            <a:pPr indent="0" marL="0">
              <a:buNone/>
            </a:pPr>
            <a:r>
              <a:rPr lang="en-US" sz="1250" b="1" dirty="0">
                <a:solidFill>
                  <a:srgbClr val="F5C518"/>
                </a:solidFill>
                <a:latin typeface="Arial" pitchFamily="34" charset="0"/>
                <a:ea typeface="Arial" pitchFamily="34" charset="-122"/>
                <a:cs typeface="Arial" pitchFamily="34" charset="-120"/>
              </a:rPr>
              <a:t>🛡  LLM Security</a:t>
            </a:r>
            <a:endParaRPr lang="en-US" sz="1250" dirty="0"/>
          </a:p>
        </p:txBody>
      </p:sp>
      <p:sp>
        <p:nvSpPr>
          <p:cNvPr id="31" name="Text 29"/>
          <p:cNvSpPr/>
          <p:nvPr/>
        </p:nvSpPr>
        <p:spPr>
          <a:xfrm>
            <a:off x="9235440" y="3611880"/>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OWASP LLM Top 10 deep dive</a:t>
            </a:r>
            <a:endParaRPr lang="en-US" sz="1050" dirty="0"/>
          </a:p>
        </p:txBody>
      </p:sp>
      <p:sp>
        <p:nvSpPr>
          <p:cNvPr id="32" name="Text 30"/>
          <p:cNvSpPr/>
          <p:nvPr/>
        </p:nvSpPr>
        <p:spPr>
          <a:xfrm>
            <a:off x="9235440" y="4233672"/>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Prompt injection attacks &amp; defences</a:t>
            </a:r>
            <a:endParaRPr lang="en-US" sz="1050" dirty="0"/>
          </a:p>
        </p:txBody>
      </p:sp>
      <p:sp>
        <p:nvSpPr>
          <p:cNvPr id="33" name="Text 31"/>
          <p:cNvSpPr/>
          <p:nvPr/>
        </p:nvSpPr>
        <p:spPr>
          <a:xfrm>
            <a:off x="9235440" y="4855464"/>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STRIDE threat model for AI apps</a:t>
            </a:r>
            <a:endParaRPr lang="en-US" sz="1050" dirty="0"/>
          </a:p>
        </p:txBody>
      </p:sp>
      <p:sp>
        <p:nvSpPr>
          <p:cNvPr id="34" name="Text 32"/>
          <p:cNvSpPr/>
          <p:nvPr/>
        </p:nvSpPr>
        <p:spPr>
          <a:xfrm>
            <a:off x="9235440" y="5477256"/>
            <a:ext cx="2468880" cy="566928"/>
          </a:xfrm>
          <a:prstGeom prst="rect">
            <a:avLst/>
          </a:prstGeom>
          <a:noFill/>
          <a:ln/>
        </p:spPr>
        <p:txBody>
          <a:bodyPr wrap="square" rtlCol="0" anchor="ctr"/>
          <a:lstStyle/>
          <a:p>
            <a:pPr indent="0" marL="0">
              <a:lnSpc>
                <a:spcPct val="125000"/>
              </a:lnSpc>
              <a:buNone/>
            </a:pPr>
            <a:r>
              <a:rPr lang="en-US" sz="1050" dirty="0">
                <a:solidFill>
                  <a:srgbClr val="E8E4F8"/>
                </a:solidFill>
                <a:latin typeface="Arial" pitchFamily="34" charset="0"/>
                <a:ea typeface="Arial" pitchFamily="34" charset="-122"/>
                <a:cs typeface="Arial" pitchFamily="34" charset="-120"/>
              </a:rPr>
              <a:t>→  Secure AI API implementation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84CC16"/>
                </a:solidFill>
                <a:latin typeface="Courier New" pitchFamily="34" charset="0"/>
                <a:ea typeface="Courier New" pitchFamily="34" charset="-122"/>
                <a:cs typeface="Courier New" pitchFamily="34" charset="-120"/>
              </a:rPr>
              <a:t>CAREER OUTCOMES</a:t>
            </a:r>
            <a:endParaRPr lang="en-US" sz="1100" dirty="0"/>
          </a:p>
        </p:txBody>
      </p:sp>
      <p:sp>
        <p:nvSpPr>
          <p:cNvPr id="4" name="Text 2"/>
          <p:cNvSpPr/>
          <p:nvPr/>
        </p:nvSpPr>
        <p:spPr>
          <a:xfrm>
            <a:off x="457200" y="713232"/>
            <a:ext cx="11247120" cy="822960"/>
          </a:xfrm>
          <a:prstGeom prst="rect">
            <a:avLst/>
          </a:prstGeom>
          <a:noFill/>
          <a:ln/>
        </p:spPr>
        <p:txBody>
          <a:bodyPr wrap="square" rtlCol="0" anchor="ctr"/>
          <a:lstStyle/>
          <a:p>
            <a:pPr indent="0" marL="0">
              <a:buNone/>
            </a:pPr>
            <a:r>
              <a:rPr lang="en-US" sz="4000" b="1" dirty="0">
                <a:solidFill>
                  <a:srgbClr val="FFFFFF"/>
                </a:solidFill>
                <a:latin typeface="Arial Black" pitchFamily="34" charset="0"/>
                <a:ea typeface="Arial Black" pitchFamily="34" charset="-122"/>
                <a:cs typeface="Arial Black" pitchFamily="34" charset="-120"/>
              </a:rPr>
              <a:t>Six Career Paths. One Programme.</a:t>
            </a:r>
            <a:endParaRPr lang="en-US" sz="4000" dirty="0"/>
          </a:p>
        </p:txBody>
      </p:sp>
      <p:sp>
        <p:nvSpPr>
          <p:cNvPr id="5" name="Shape 3"/>
          <p:cNvSpPr/>
          <p:nvPr/>
        </p:nvSpPr>
        <p:spPr>
          <a:xfrm>
            <a:off x="457200" y="1783080"/>
            <a:ext cx="3657600" cy="2240280"/>
          </a:xfrm>
          <a:prstGeom prst="rect">
            <a:avLst/>
          </a:prstGeom>
          <a:solidFill>
            <a:srgbClr val="1A1A28"/>
          </a:solidFill>
          <a:ln w="12700">
            <a:solidFill>
              <a:srgbClr val="2A2A40"/>
            </a:solidFill>
            <a:prstDash val="solid"/>
          </a:ln>
        </p:spPr>
      </p:sp>
      <p:sp>
        <p:nvSpPr>
          <p:cNvPr id="6" name="Shape 4"/>
          <p:cNvSpPr/>
          <p:nvPr/>
        </p:nvSpPr>
        <p:spPr>
          <a:xfrm>
            <a:off x="457200" y="1783080"/>
            <a:ext cx="45720" cy="2240280"/>
          </a:xfrm>
          <a:prstGeom prst="rect">
            <a:avLst/>
          </a:prstGeom>
          <a:solidFill>
            <a:srgbClr val="2DD4BF"/>
          </a:solidFill>
          <a:ln/>
        </p:spPr>
      </p:sp>
      <p:sp>
        <p:nvSpPr>
          <p:cNvPr id="7" name="Text 5"/>
          <p:cNvSpPr/>
          <p:nvPr/>
        </p:nvSpPr>
        <p:spPr>
          <a:xfrm>
            <a:off x="640080" y="1892808"/>
            <a:ext cx="32918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SOC Analyst L1/L2</a:t>
            </a:r>
            <a:endParaRPr lang="en-US" sz="1300" dirty="0"/>
          </a:p>
        </p:txBody>
      </p:sp>
      <p:sp>
        <p:nvSpPr>
          <p:cNvPr id="8" name="Text 6"/>
          <p:cNvSpPr/>
          <p:nvPr/>
        </p:nvSpPr>
        <p:spPr>
          <a:xfrm>
            <a:off x="640080" y="2240280"/>
            <a:ext cx="3291840" cy="320040"/>
          </a:xfrm>
          <a:prstGeom prst="rect">
            <a:avLst/>
          </a:prstGeom>
          <a:noFill/>
          <a:ln/>
        </p:spPr>
        <p:txBody>
          <a:bodyPr wrap="square" rtlCol="0" anchor="ctr"/>
          <a:lstStyle/>
          <a:p>
            <a:pPr indent="0" marL="0">
              <a:buNone/>
            </a:pPr>
            <a:r>
              <a:rPr lang="en-US" sz="1600" b="1" dirty="0">
                <a:solidFill>
                  <a:srgbClr val="2DD4BF"/>
                </a:solidFill>
                <a:latin typeface="Arial Black" pitchFamily="34" charset="0"/>
                <a:ea typeface="Arial Black" pitchFamily="34" charset="-122"/>
                <a:cs typeface="Arial Black" pitchFamily="34" charset="-120"/>
              </a:rPr>
              <a:t>₹5–15 LPA</a:t>
            </a:r>
            <a:endParaRPr lang="en-US" sz="1600" dirty="0"/>
          </a:p>
        </p:txBody>
      </p:sp>
      <p:sp>
        <p:nvSpPr>
          <p:cNvPr id="9" name="Text 7"/>
          <p:cNvSpPr/>
          <p:nvPr/>
        </p:nvSpPr>
        <p:spPr>
          <a:xfrm>
            <a:off x="640080" y="2587752"/>
            <a:ext cx="3291840" cy="713232"/>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Monitor, triage, respond. TCS, Infosys, IBM, MSSPs hire at scale. Wazuh + SIEM + MITRE skills.</a:t>
            </a:r>
            <a:endParaRPr lang="en-US" sz="1050" dirty="0"/>
          </a:p>
        </p:txBody>
      </p:sp>
      <p:sp>
        <p:nvSpPr>
          <p:cNvPr id="10" name="Shape 8"/>
          <p:cNvSpPr/>
          <p:nvPr/>
        </p:nvSpPr>
        <p:spPr>
          <a:xfrm>
            <a:off x="640080" y="3410712"/>
            <a:ext cx="1005840" cy="237744"/>
          </a:xfrm>
          <a:prstGeom prst="roundRect">
            <a:avLst>
              <a:gd name="adj" fmla="val 7692"/>
            </a:avLst>
          </a:prstGeom>
          <a:solidFill>
            <a:srgbClr val="0A0A0F"/>
          </a:solidFill>
          <a:ln w="12700">
            <a:solidFill>
              <a:srgbClr val="2DD4BF"/>
            </a:solidFill>
            <a:prstDash val="solid"/>
          </a:ln>
        </p:spPr>
      </p:sp>
      <p:sp>
        <p:nvSpPr>
          <p:cNvPr id="11" name="Text 9"/>
          <p:cNvSpPr/>
          <p:nvPr/>
        </p:nvSpPr>
        <p:spPr>
          <a:xfrm>
            <a:off x="640080" y="3410712"/>
            <a:ext cx="1005840" cy="237744"/>
          </a:xfrm>
          <a:prstGeom prst="rect">
            <a:avLst/>
          </a:prstGeom>
          <a:noFill/>
          <a:ln/>
        </p:spPr>
        <p:txBody>
          <a:bodyPr wrap="square" lIns="0" tIns="0" rIns="0" bIns="0" rtlCol="0" anchor="ctr"/>
          <a:lstStyle/>
          <a:p>
            <a:pPr algn="ctr" indent="0" marL="0">
              <a:buNone/>
            </a:pPr>
            <a:r>
              <a:rPr lang="en-US" sz="850" b="1" dirty="0">
                <a:solidFill>
                  <a:srgbClr val="2DD4BF"/>
                </a:solidFill>
                <a:latin typeface="Courier New" pitchFamily="34" charset="0"/>
                <a:ea typeface="Courier New" pitchFamily="34" charset="-122"/>
                <a:cs typeface="Courier New" pitchFamily="34" charset="-120"/>
              </a:rPr>
              <a:t>Wazuh</a:t>
            </a:r>
            <a:endParaRPr lang="en-US" sz="850" dirty="0"/>
          </a:p>
        </p:txBody>
      </p:sp>
      <p:sp>
        <p:nvSpPr>
          <p:cNvPr id="12" name="Shape 10"/>
          <p:cNvSpPr/>
          <p:nvPr/>
        </p:nvSpPr>
        <p:spPr>
          <a:xfrm>
            <a:off x="1755648" y="3410712"/>
            <a:ext cx="1005840" cy="237744"/>
          </a:xfrm>
          <a:prstGeom prst="roundRect">
            <a:avLst>
              <a:gd name="adj" fmla="val 7692"/>
            </a:avLst>
          </a:prstGeom>
          <a:solidFill>
            <a:srgbClr val="0A0A0F"/>
          </a:solidFill>
          <a:ln w="12700">
            <a:solidFill>
              <a:srgbClr val="2DD4BF"/>
            </a:solidFill>
            <a:prstDash val="solid"/>
          </a:ln>
        </p:spPr>
      </p:sp>
      <p:sp>
        <p:nvSpPr>
          <p:cNvPr id="13" name="Text 11"/>
          <p:cNvSpPr/>
          <p:nvPr/>
        </p:nvSpPr>
        <p:spPr>
          <a:xfrm>
            <a:off x="1755648" y="3410712"/>
            <a:ext cx="1005840" cy="237744"/>
          </a:xfrm>
          <a:prstGeom prst="rect">
            <a:avLst/>
          </a:prstGeom>
          <a:noFill/>
          <a:ln/>
        </p:spPr>
        <p:txBody>
          <a:bodyPr wrap="square" lIns="0" tIns="0" rIns="0" bIns="0" rtlCol="0" anchor="ctr"/>
          <a:lstStyle/>
          <a:p>
            <a:pPr algn="ctr" indent="0" marL="0">
              <a:buNone/>
            </a:pPr>
            <a:r>
              <a:rPr lang="en-US" sz="850" b="1" dirty="0">
                <a:solidFill>
                  <a:srgbClr val="2DD4BF"/>
                </a:solidFill>
                <a:latin typeface="Courier New" pitchFamily="34" charset="0"/>
                <a:ea typeface="Courier New" pitchFamily="34" charset="-122"/>
                <a:cs typeface="Courier New" pitchFamily="34" charset="-120"/>
              </a:rPr>
              <a:t>Splunk</a:t>
            </a:r>
            <a:endParaRPr lang="en-US" sz="850" dirty="0"/>
          </a:p>
        </p:txBody>
      </p:sp>
      <p:sp>
        <p:nvSpPr>
          <p:cNvPr id="14" name="Shape 12"/>
          <p:cNvSpPr/>
          <p:nvPr/>
        </p:nvSpPr>
        <p:spPr>
          <a:xfrm>
            <a:off x="2871216" y="3410712"/>
            <a:ext cx="1005840" cy="237744"/>
          </a:xfrm>
          <a:prstGeom prst="roundRect">
            <a:avLst>
              <a:gd name="adj" fmla="val 7692"/>
            </a:avLst>
          </a:prstGeom>
          <a:solidFill>
            <a:srgbClr val="0A0A0F"/>
          </a:solidFill>
          <a:ln w="12700">
            <a:solidFill>
              <a:srgbClr val="2DD4BF"/>
            </a:solidFill>
            <a:prstDash val="solid"/>
          </a:ln>
        </p:spPr>
      </p:sp>
      <p:sp>
        <p:nvSpPr>
          <p:cNvPr id="15" name="Text 13"/>
          <p:cNvSpPr/>
          <p:nvPr/>
        </p:nvSpPr>
        <p:spPr>
          <a:xfrm>
            <a:off x="2871216" y="3410712"/>
            <a:ext cx="1005840" cy="237744"/>
          </a:xfrm>
          <a:prstGeom prst="rect">
            <a:avLst/>
          </a:prstGeom>
          <a:noFill/>
          <a:ln/>
        </p:spPr>
        <p:txBody>
          <a:bodyPr wrap="square" lIns="0" tIns="0" rIns="0" bIns="0" rtlCol="0" anchor="ctr"/>
          <a:lstStyle/>
          <a:p>
            <a:pPr algn="ctr" indent="0" marL="0">
              <a:buNone/>
            </a:pPr>
            <a:r>
              <a:rPr lang="en-US" sz="850" b="1" dirty="0">
                <a:solidFill>
                  <a:srgbClr val="2DD4BF"/>
                </a:solidFill>
                <a:latin typeface="Courier New" pitchFamily="34" charset="0"/>
                <a:ea typeface="Courier New" pitchFamily="34" charset="-122"/>
                <a:cs typeface="Courier New" pitchFamily="34" charset="-120"/>
              </a:rPr>
              <a:t>MITRE</a:t>
            </a:r>
            <a:endParaRPr lang="en-US" sz="850" dirty="0"/>
          </a:p>
        </p:txBody>
      </p:sp>
      <p:sp>
        <p:nvSpPr>
          <p:cNvPr id="16" name="Shape 14"/>
          <p:cNvSpPr/>
          <p:nvPr/>
        </p:nvSpPr>
        <p:spPr>
          <a:xfrm>
            <a:off x="4297680" y="1783080"/>
            <a:ext cx="3657600" cy="2240280"/>
          </a:xfrm>
          <a:prstGeom prst="rect">
            <a:avLst/>
          </a:prstGeom>
          <a:solidFill>
            <a:srgbClr val="1A1A28"/>
          </a:solidFill>
          <a:ln w="12700">
            <a:solidFill>
              <a:srgbClr val="2A2A40"/>
            </a:solidFill>
            <a:prstDash val="solid"/>
          </a:ln>
        </p:spPr>
      </p:sp>
      <p:sp>
        <p:nvSpPr>
          <p:cNvPr id="17" name="Shape 15"/>
          <p:cNvSpPr/>
          <p:nvPr/>
        </p:nvSpPr>
        <p:spPr>
          <a:xfrm>
            <a:off x="4297680" y="1783080"/>
            <a:ext cx="45720" cy="2240280"/>
          </a:xfrm>
          <a:prstGeom prst="rect">
            <a:avLst/>
          </a:prstGeom>
          <a:solidFill>
            <a:srgbClr val="FB7185"/>
          </a:solidFill>
          <a:ln/>
        </p:spPr>
      </p:sp>
      <p:sp>
        <p:nvSpPr>
          <p:cNvPr id="18" name="Text 16"/>
          <p:cNvSpPr/>
          <p:nvPr/>
        </p:nvSpPr>
        <p:spPr>
          <a:xfrm>
            <a:off x="4480560" y="1892808"/>
            <a:ext cx="32918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VAPT / Pentester</a:t>
            </a:r>
            <a:endParaRPr lang="en-US" sz="1300" dirty="0"/>
          </a:p>
        </p:txBody>
      </p:sp>
      <p:sp>
        <p:nvSpPr>
          <p:cNvPr id="19" name="Text 17"/>
          <p:cNvSpPr/>
          <p:nvPr/>
        </p:nvSpPr>
        <p:spPr>
          <a:xfrm>
            <a:off x="4480560" y="2240280"/>
            <a:ext cx="3291840" cy="320040"/>
          </a:xfrm>
          <a:prstGeom prst="rect">
            <a:avLst/>
          </a:prstGeom>
          <a:noFill/>
          <a:ln/>
        </p:spPr>
        <p:txBody>
          <a:bodyPr wrap="square" rtlCol="0" anchor="ctr"/>
          <a:lstStyle/>
          <a:p>
            <a:pPr indent="0" marL="0">
              <a:buNone/>
            </a:pPr>
            <a:r>
              <a:rPr lang="en-US" sz="1600" b="1" dirty="0">
                <a:solidFill>
                  <a:srgbClr val="FB7185"/>
                </a:solidFill>
                <a:latin typeface="Arial Black" pitchFamily="34" charset="0"/>
                <a:ea typeface="Arial Black" pitchFamily="34" charset="-122"/>
                <a:cs typeface="Arial Black" pitchFamily="34" charset="-120"/>
              </a:rPr>
              <a:t>₹7–28 LPA</a:t>
            </a:r>
            <a:endParaRPr lang="en-US" sz="1600" dirty="0"/>
          </a:p>
        </p:txBody>
      </p:sp>
      <p:sp>
        <p:nvSpPr>
          <p:cNvPr id="20" name="Text 18"/>
          <p:cNvSpPr/>
          <p:nvPr/>
        </p:nvSpPr>
        <p:spPr>
          <a:xfrm>
            <a:off x="4480560" y="2587752"/>
            <a:ext cx="3291840" cy="713232"/>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Web, network, API pentesting + framework-aligned reports. Deloitte, EY, NII Consulting.</a:t>
            </a:r>
            <a:endParaRPr lang="en-US" sz="1050" dirty="0"/>
          </a:p>
        </p:txBody>
      </p:sp>
      <p:sp>
        <p:nvSpPr>
          <p:cNvPr id="21" name="Shape 19"/>
          <p:cNvSpPr/>
          <p:nvPr/>
        </p:nvSpPr>
        <p:spPr>
          <a:xfrm>
            <a:off x="4480560" y="3410712"/>
            <a:ext cx="1005840" cy="237744"/>
          </a:xfrm>
          <a:prstGeom prst="roundRect">
            <a:avLst>
              <a:gd name="adj" fmla="val 7692"/>
            </a:avLst>
          </a:prstGeom>
          <a:solidFill>
            <a:srgbClr val="0A0A0F"/>
          </a:solidFill>
          <a:ln w="12700">
            <a:solidFill>
              <a:srgbClr val="FB7185"/>
            </a:solidFill>
            <a:prstDash val="solid"/>
          </a:ln>
        </p:spPr>
      </p:sp>
      <p:sp>
        <p:nvSpPr>
          <p:cNvPr id="22" name="Text 20"/>
          <p:cNvSpPr/>
          <p:nvPr/>
        </p:nvSpPr>
        <p:spPr>
          <a:xfrm>
            <a:off x="4480560" y="3410712"/>
            <a:ext cx="1005840" cy="237744"/>
          </a:xfrm>
          <a:prstGeom prst="rect">
            <a:avLst/>
          </a:prstGeom>
          <a:noFill/>
          <a:ln/>
        </p:spPr>
        <p:txBody>
          <a:bodyPr wrap="square" lIns="0" tIns="0" rIns="0" bIns="0" rtlCol="0" anchor="ctr"/>
          <a:lstStyle/>
          <a:p>
            <a:pPr algn="ctr" indent="0" marL="0">
              <a:buNone/>
            </a:pPr>
            <a:r>
              <a:rPr lang="en-US" sz="850" b="1" dirty="0">
                <a:solidFill>
                  <a:srgbClr val="FB7185"/>
                </a:solidFill>
                <a:latin typeface="Courier New" pitchFamily="34" charset="0"/>
                <a:ea typeface="Courier New" pitchFamily="34" charset="-122"/>
                <a:cs typeface="Courier New" pitchFamily="34" charset="-120"/>
              </a:rPr>
              <a:t>Burp Suite</a:t>
            </a:r>
            <a:endParaRPr lang="en-US" sz="850" dirty="0"/>
          </a:p>
        </p:txBody>
      </p:sp>
      <p:sp>
        <p:nvSpPr>
          <p:cNvPr id="23" name="Shape 21"/>
          <p:cNvSpPr/>
          <p:nvPr/>
        </p:nvSpPr>
        <p:spPr>
          <a:xfrm>
            <a:off x="5596128" y="3410712"/>
            <a:ext cx="1005840" cy="237744"/>
          </a:xfrm>
          <a:prstGeom prst="roundRect">
            <a:avLst>
              <a:gd name="adj" fmla="val 7692"/>
            </a:avLst>
          </a:prstGeom>
          <a:solidFill>
            <a:srgbClr val="0A0A0F"/>
          </a:solidFill>
          <a:ln w="12700">
            <a:solidFill>
              <a:srgbClr val="FB7185"/>
            </a:solidFill>
            <a:prstDash val="solid"/>
          </a:ln>
        </p:spPr>
      </p:sp>
      <p:sp>
        <p:nvSpPr>
          <p:cNvPr id="24" name="Text 22"/>
          <p:cNvSpPr/>
          <p:nvPr/>
        </p:nvSpPr>
        <p:spPr>
          <a:xfrm>
            <a:off x="5596128" y="3410712"/>
            <a:ext cx="1005840" cy="237744"/>
          </a:xfrm>
          <a:prstGeom prst="rect">
            <a:avLst/>
          </a:prstGeom>
          <a:noFill/>
          <a:ln/>
        </p:spPr>
        <p:txBody>
          <a:bodyPr wrap="square" lIns="0" tIns="0" rIns="0" bIns="0" rtlCol="0" anchor="ctr"/>
          <a:lstStyle/>
          <a:p>
            <a:pPr algn="ctr" indent="0" marL="0">
              <a:buNone/>
            </a:pPr>
            <a:r>
              <a:rPr lang="en-US" sz="850" b="1" dirty="0">
                <a:solidFill>
                  <a:srgbClr val="FB7185"/>
                </a:solidFill>
                <a:latin typeface="Courier New" pitchFamily="34" charset="0"/>
                <a:ea typeface="Courier New" pitchFamily="34" charset="-122"/>
                <a:cs typeface="Courier New" pitchFamily="34" charset="-120"/>
              </a:rPr>
              <a:t>OWASP</a:t>
            </a:r>
            <a:endParaRPr lang="en-US" sz="850" dirty="0"/>
          </a:p>
        </p:txBody>
      </p:sp>
      <p:sp>
        <p:nvSpPr>
          <p:cNvPr id="25" name="Shape 23"/>
          <p:cNvSpPr/>
          <p:nvPr/>
        </p:nvSpPr>
        <p:spPr>
          <a:xfrm>
            <a:off x="6711696" y="3410712"/>
            <a:ext cx="1005840" cy="237744"/>
          </a:xfrm>
          <a:prstGeom prst="roundRect">
            <a:avLst>
              <a:gd name="adj" fmla="val 7692"/>
            </a:avLst>
          </a:prstGeom>
          <a:solidFill>
            <a:srgbClr val="0A0A0F"/>
          </a:solidFill>
          <a:ln w="12700">
            <a:solidFill>
              <a:srgbClr val="FB7185"/>
            </a:solidFill>
            <a:prstDash val="solid"/>
          </a:ln>
        </p:spPr>
      </p:sp>
      <p:sp>
        <p:nvSpPr>
          <p:cNvPr id="26" name="Text 24"/>
          <p:cNvSpPr/>
          <p:nvPr/>
        </p:nvSpPr>
        <p:spPr>
          <a:xfrm>
            <a:off x="6711696" y="3410712"/>
            <a:ext cx="1005840" cy="237744"/>
          </a:xfrm>
          <a:prstGeom prst="rect">
            <a:avLst/>
          </a:prstGeom>
          <a:noFill/>
          <a:ln/>
        </p:spPr>
        <p:txBody>
          <a:bodyPr wrap="square" lIns="0" tIns="0" rIns="0" bIns="0" rtlCol="0" anchor="ctr"/>
          <a:lstStyle/>
          <a:p>
            <a:pPr algn="ctr" indent="0" marL="0">
              <a:buNone/>
            </a:pPr>
            <a:r>
              <a:rPr lang="en-US" sz="850" b="1" dirty="0">
                <a:solidFill>
                  <a:srgbClr val="FB7185"/>
                </a:solidFill>
                <a:latin typeface="Courier New" pitchFamily="34" charset="0"/>
                <a:ea typeface="Courier New" pitchFamily="34" charset="-122"/>
                <a:cs typeface="Courier New" pitchFamily="34" charset="-120"/>
              </a:rPr>
              <a:t>ISO 27001</a:t>
            </a:r>
            <a:endParaRPr lang="en-US" sz="850" dirty="0"/>
          </a:p>
        </p:txBody>
      </p:sp>
      <p:sp>
        <p:nvSpPr>
          <p:cNvPr id="27" name="Shape 25"/>
          <p:cNvSpPr/>
          <p:nvPr/>
        </p:nvSpPr>
        <p:spPr>
          <a:xfrm>
            <a:off x="8138160" y="1783080"/>
            <a:ext cx="3657600" cy="2240280"/>
          </a:xfrm>
          <a:prstGeom prst="rect">
            <a:avLst/>
          </a:prstGeom>
          <a:solidFill>
            <a:srgbClr val="1A1A28"/>
          </a:solidFill>
          <a:ln w="12700">
            <a:solidFill>
              <a:srgbClr val="2A2A40"/>
            </a:solidFill>
            <a:prstDash val="solid"/>
          </a:ln>
        </p:spPr>
      </p:sp>
      <p:sp>
        <p:nvSpPr>
          <p:cNvPr id="28" name="Shape 26"/>
          <p:cNvSpPr/>
          <p:nvPr/>
        </p:nvSpPr>
        <p:spPr>
          <a:xfrm>
            <a:off x="8138160" y="1783080"/>
            <a:ext cx="45720" cy="2240280"/>
          </a:xfrm>
          <a:prstGeom prst="rect">
            <a:avLst/>
          </a:prstGeom>
          <a:solidFill>
            <a:srgbClr val="A855F7"/>
          </a:solidFill>
          <a:ln/>
        </p:spPr>
      </p:sp>
      <p:sp>
        <p:nvSpPr>
          <p:cNvPr id="29" name="Text 27"/>
          <p:cNvSpPr/>
          <p:nvPr/>
        </p:nvSpPr>
        <p:spPr>
          <a:xfrm>
            <a:off x="8321040" y="1892808"/>
            <a:ext cx="32918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GRC Analyst</a:t>
            </a:r>
            <a:endParaRPr lang="en-US" sz="1300" dirty="0"/>
          </a:p>
        </p:txBody>
      </p:sp>
      <p:sp>
        <p:nvSpPr>
          <p:cNvPr id="30" name="Text 28"/>
          <p:cNvSpPr/>
          <p:nvPr/>
        </p:nvSpPr>
        <p:spPr>
          <a:xfrm>
            <a:off x="8321040" y="2240280"/>
            <a:ext cx="3291840" cy="320040"/>
          </a:xfrm>
          <a:prstGeom prst="rect">
            <a:avLst/>
          </a:prstGeom>
          <a:noFill/>
          <a:ln/>
        </p:spPr>
        <p:txBody>
          <a:bodyPr wrap="square" rtlCol="0" anchor="ctr"/>
          <a:lstStyle/>
          <a:p>
            <a:pPr indent="0" marL="0">
              <a:buNone/>
            </a:pPr>
            <a:r>
              <a:rPr lang="en-US" sz="1600" b="1" dirty="0">
                <a:solidFill>
                  <a:srgbClr val="A855F7"/>
                </a:solidFill>
                <a:latin typeface="Arial Black" pitchFamily="34" charset="0"/>
                <a:ea typeface="Arial Black" pitchFamily="34" charset="-122"/>
                <a:cs typeface="Arial Black" pitchFamily="34" charset="-120"/>
              </a:rPr>
              <a:t>₹6–25 LPA</a:t>
            </a:r>
            <a:endParaRPr lang="en-US" sz="1600" dirty="0"/>
          </a:p>
        </p:txBody>
      </p:sp>
      <p:sp>
        <p:nvSpPr>
          <p:cNvPr id="31" name="Text 29"/>
          <p:cNvSpPr/>
          <p:nvPr/>
        </p:nvSpPr>
        <p:spPr>
          <a:xfrm>
            <a:off x="8321040" y="2587752"/>
            <a:ext cx="3291840" cy="713232"/>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ISO 27001, risk registers, audits, policy writing. Big 4, BFSI. Fastest-growing India role.</a:t>
            </a:r>
            <a:endParaRPr lang="en-US" sz="1050" dirty="0"/>
          </a:p>
        </p:txBody>
      </p:sp>
      <p:sp>
        <p:nvSpPr>
          <p:cNvPr id="32" name="Shape 30"/>
          <p:cNvSpPr/>
          <p:nvPr/>
        </p:nvSpPr>
        <p:spPr>
          <a:xfrm>
            <a:off x="8321040" y="3410712"/>
            <a:ext cx="1005840" cy="237744"/>
          </a:xfrm>
          <a:prstGeom prst="roundRect">
            <a:avLst>
              <a:gd name="adj" fmla="val 7692"/>
            </a:avLst>
          </a:prstGeom>
          <a:solidFill>
            <a:srgbClr val="0A0A0F"/>
          </a:solidFill>
          <a:ln w="12700">
            <a:solidFill>
              <a:srgbClr val="A855F7"/>
            </a:solidFill>
            <a:prstDash val="solid"/>
          </a:ln>
        </p:spPr>
      </p:sp>
      <p:sp>
        <p:nvSpPr>
          <p:cNvPr id="33" name="Text 31"/>
          <p:cNvSpPr/>
          <p:nvPr/>
        </p:nvSpPr>
        <p:spPr>
          <a:xfrm>
            <a:off x="8321040" y="3410712"/>
            <a:ext cx="1005840" cy="237744"/>
          </a:xfrm>
          <a:prstGeom prst="rect">
            <a:avLst/>
          </a:prstGeom>
          <a:noFill/>
          <a:ln/>
        </p:spPr>
        <p:txBody>
          <a:bodyPr wrap="square" lIns="0" tIns="0" rIns="0" bIns="0" rtlCol="0" anchor="ctr"/>
          <a:lstStyle/>
          <a:p>
            <a:pPr algn="ctr" indent="0" marL="0">
              <a:buNone/>
            </a:pPr>
            <a:r>
              <a:rPr lang="en-US" sz="850" b="1" dirty="0">
                <a:solidFill>
                  <a:srgbClr val="A855F7"/>
                </a:solidFill>
                <a:latin typeface="Courier New" pitchFamily="34" charset="0"/>
                <a:ea typeface="Courier New" pitchFamily="34" charset="-122"/>
                <a:cs typeface="Courier New" pitchFamily="34" charset="-120"/>
              </a:rPr>
              <a:t>ISO 27001</a:t>
            </a:r>
            <a:endParaRPr lang="en-US" sz="850" dirty="0"/>
          </a:p>
        </p:txBody>
      </p:sp>
      <p:sp>
        <p:nvSpPr>
          <p:cNvPr id="34" name="Shape 32"/>
          <p:cNvSpPr/>
          <p:nvPr/>
        </p:nvSpPr>
        <p:spPr>
          <a:xfrm>
            <a:off x="9436608" y="3410712"/>
            <a:ext cx="1005840" cy="237744"/>
          </a:xfrm>
          <a:prstGeom prst="roundRect">
            <a:avLst>
              <a:gd name="adj" fmla="val 7692"/>
            </a:avLst>
          </a:prstGeom>
          <a:solidFill>
            <a:srgbClr val="0A0A0F"/>
          </a:solidFill>
          <a:ln w="12700">
            <a:solidFill>
              <a:srgbClr val="A855F7"/>
            </a:solidFill>
            <a:prstDash val="solid"/>
          </a:ln>
        </p:spPr>
      </p:sp>
      <p:sp>
        <p:nvSpPr>
          <p:cNvPr id="35" name="Text 33"/>
          <p:cNvSpPr/>
          <p:nvPr/>
        </p:nvSpPr>
        <p:spPr>
          <a:xfrm>
            <a:off x="9436608" y="3410712"/>
            <a:ext cx="1005840" cy="237744"/>
          </a:xfrm>
          <a:prstGeom prst="rect">
            <a:avLst/>
          </a:prstGeom>
          <a:noFill/>
          <a:ln/>
        </p:spPr>
        <p:txBody>
          <a:bodyPr wrap="square" lIns="0" tIns="0" rIns="0" bIns="0" rtlCol="0" anchor="ctr"/>
          <a:lstStyle/>
          <a:p>
            <a:pPr algn="ctr" indent="0" marL="0">
              <a:buNone/>
            </a:pPr>
            <a:r>
              <a:rPr lang="en-US" sz="850" b="1" dirty="0">
                <a:solidFill>
                  <a:srgbClr val="A855F7"/>
                </a:solidFill>
                <a:latin typeface="Courier New" pitchFamily="34" charset="0"/>
                <a:ea typeface="Courier New" pitchFamily="34" charset="-122"/>
                <a:cs typeface="Courier New" pitchFamily="34" charset="-120"/>
              </a:rPr>
              <a:t>NIST</a:t>
            </a:r>
            <a:endParaRPr lang="en-US" sz="850" dirty="0"/>
          </a:p>
        </p:txBody>
      </p:sp>
      <p:sp>
        <p:nvSpPr>
          <p:cNvPr id="36" name="Shape 34"/>
          <p:cNvSpPr/>
          <p:nvPr/>
        </p:nvSpPr>
        <p:spPr>
          <a:xfrm>
            <a:off x="10552176" y="3410712"/>
            <a:ext cx="1005840" cy="237744"/>
          </a:xfrm>
          <a:prstGeom prst="roundRect">
            <a:avLst>
              <a:gd name="adj" fmla="val 7692"/>
            </a:avLst>
          </a:prstGeom>
          <a:solidFill>
            <a:srgbClr val="0A0A0F"/>
          </a:solidFill>
          <a:ln w="12700">
            <a:solidFill>
              <a:srgbClr val="A855F7"/>
            </a:solidFill>
            <a:prstDash val="solid"/>
          </a:ln>
        </p:spPr>
      </p:sp>
      <p:sp>
        <p:nvSpPr>
          <p:cNvPr id="37" name="Text 35"/>
          <p:cNvSpPr/>
          <p:nvPr/>
        </p:nvSpPr>
        <p:spPr>
          <a:xfrm>
            <a:off x="10552176" y="3410712"/>
            <a:ext cx="1005840" cy="237744"/>
          </a:xfrm>
          <a:prstGeom prst="rect">
            <a:avLst/>
          </a:prstGeom>
          <a:noFill/>
          <a:ln/>
        </p:spPr>
        <p:txBody>
          <a:bodyPr wrap="square" lIns="0" tIns="0" rIns="0" bIns="0" rtlCol="0" anchor="ctr"/>
          <a:lstStyle/>
          <a:p>
            <a:pPr algn="ctr" indent="0" marL="0">
              <a:buNone/>
            </a:pPr>
            <a:r>
              <a:rPr lang="en-US" sz="850" b="1" dirty="0">
                <a:solidFill>
                  <a:srgbClr val="A855F7"/>
                </a:solidFill>
                <a:latin typeface="Courier New" pitchFamily="34" charset="0"/>
                <a:ea typeface="Courier New" pitchFamily="34" charset="-122"/>
                <a:cs typeface="Courier New" pitchFamily="34" charset="-120"/>
              </a:rPr>
              <a:t>DPDP</a:t>
            </a:r>
            <a:endParaRPr lang="en-US" sz="850" dirty="0"/>
          </a:p>
        </p:txBody>
      </p:sp>
      <p:sp>
        <p:nvSpPr>
          <p:cNvPr id="38" name="Shape 36"/>
          <p:cNvSpPr/>
          <p:nvPr/>
        </p:nvSpPr>
        <p:spPr>
          <a:xfrm>
            <a:off x="457200" y="4206240"/>
            <a:ext cx="3657600" cy="2240280"/>
          </a:xfrm>
          <a:prstGeom prst="rect">
            <a:avLst/>
          </a:prstGeom>
          <a:solidFill>
            <a:srgbClr val="1A1A28"/>
          </a:solidFill>
          <a:ln w="12700">
            <a:solidFill>
              <a:srgbClr val="2A2A40"/>
            </a:solidFill>
            <a:prstDash val="solid"/>
          </a:ln>
        </p:spPr>
      </p:sp>
      <p:sp>
        <p:nvSpPr>
          <p:cNvPr id="39" name="Shape 37"/>
          <p:cNvSpPr/>
          <p:nvPr/>
        </p:nvSpPr>
        <p:spPr>
          <a:xfrm>
            <a:off x="457200" y="4206240"/>
            <a:ext cx="45720" cy="2240280"/>
          </a:xfrm>
          <a:prstGeom prst="rect">
            <a:avLst/>
          </a:prstGeom>
          <a:solidFill>
            <a:srgbClr val="F5C518"/>
          </a:solidFill>
          <a:ln/>
        </p:spPr>
      </p:sp>
      <p:sp>
        <p:nvSpPr>
          <p:cNvPr id="40" name="Text 38"/>
          <p:cNvSpPr/>
          <p:nvPr/>
        </p:nvSpPr>
        <p:spPr>
          <a:xfrm>
            <a:off x="640080" y="4315968"/>
            <a:ext cx="32918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DPDP / Privacy Consultant</a:t>
            </a:r>
            <a:endParaRPr lang="en-US" sz="1300" dirty="0"/>
          </a:p>
        </p:txBody>
      </p:sp>
      <p:sp>
        <p:nvSpPr>
          <p:cNvPr id="41" name="Text 39"/>
          <p:cNvSpPr/>
          <p:nvPr/>
        </p:nvSpPr>
        <p:spPr>
          <a:xfrm>
            <a:off x="640080" y="4663440"/>
            <a:ext cx="3291840" cy="320040"/>
          </a:xfrm>
          <a:prstGeom prst="rect">
            <a:avLst/>
          </a:prstGeom>
          <a:noFill/>
          <a:ln/>
        </p:spPr>
        <p:txBody>
          <a:bodyPr wrap="square" rtlCol="0" anchor="ctr"/>
          <a:lstStyle/>
          <a:p>
            <a:pPr indent="0" marL="0">
              <a:buNone/>
            </a:pPr>
            <a:r>
              <a:rPr lang="en-US" sz="1600" b="1" dirty="0">
                <a:solidFill>
                  <a:srgbClr val="F5C518"/>
                </a:solidFill>
                <a:latin typeface="Arial Black" pitchFamily="34" charset="0"/>
                <a:ea typeface="Arial Black" pitchFamily="34" charset="-122"/>
                <a:cs typeface="Arial Black" pitchFamily="34" charset="-120"/>
              </a:rPr>
              <a:t>₹8–16 LPA</a:t>
            </a:r>
            <a:endParaRPr lang="en-US" sz="1600" dirty="0"/>
          </a:p>
        </p:txBody>
      </p:sp>
      <p:sp>
        <p:nvSpPr>
          <p:cNvPr id="42" name="Text 40"/>
          <p:cNvSpPr/>
          <p:nvPr/>
        </p:nvSpPr>
        <p:spPr>
          <a:xfrm>
            <a:off x="640080" y="5010912"/>
            <a:ext cx="3291840" cy="713232"/>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Brand new market. Thousands of companies need DPO support. Zero competition right now.</a:t>
            </a:r>
            <a:endParaRPr lang="en-US" sz="1050" dirty="0"/>
          </a:p>
        </p:txBody>
      </p:sp>
      <p:sp>
        <p:nvSpPr>
          <p:cNvPr id="43" name="Shape 41"/>
          <p:cNvSpPr/>
          <p:nvPr/>
        </p:nvSpPr>
        <p:spPr>
          <a:xfrm>
            <a:off x="640080" y="5833872"/>
            <a:ext cx="1005840" cy="237744"/>
          </a:xfrm>
          <a:prstGeom prst="roundRect">
            <a:avLst>
              <a:gd name="adj" fmla="val 7692"/>
            </a:avLst>
          </a:prstGeom>
          <a:solidFill>
            <a:srgbClr val="0A0A0F"/>
          </a:solidFill>
          <a:ln w="12700">
            <a:solidFill>
              <a:srgbClr val="F5C518"/>
            </a:solidFill>
            <a:prstDash val="solid"/>
          </a:ln>
        </p:spPr>
      </p:sp>
      <p:sp>
        <p:nvSpPr>
          <p:cNvPr id="44" name="Text 42"/>
          <p:cNvSpPr/>
          <p:nvPr/>
        </p:nvSpPr>
        <p:spPr>
          <a:xfrm>
            <a:off x="640080" y="5833872"/>
            <a:ext cx="1005840" cy="237744"/>
          </a:xfrm>
          <a:prstGeom prst="rect">
            <a:avLst/>
          </a:prstGeom>
          <a:noFill/>
          <a:ln/>
        </p:spPr>
        <p:txBody>
          <a:bodyPr wrap="square" lIns="0" tIns="0" rIns="0" bIns="0" rtlCol="0" anchor="ctr"/>
          <a:lstStyle/>
          <a:p>
            <a:pPr algn="ctr" indent="0" marL="0">
              <a:buNone/>
            </a:pPr>
            <a:r>
              <a:rPr lang="en-US" sz="850" b="1" dirty="0">
                <a:solidFill>
                  <a:srgbClr val="F5C518"/>
                </a:solidFill>
                <a:latin typeface="Courier New" pitchFamily="34" charset="0"/>
                <a:ea typeface="Courier New" pitchFamily="34" charset="-122"/>
                <a:cs typeface="Courier New" pitchFamily="34" charset="-120"/>
              </a:rPr>
              <a:t>DPDP 2023</a:t>
            </a:r>
            <a:endParaRPr lang="en-US" sz="850" dirty="0"/>
          </a:p>
        </p:txBody>
      </p:sp>
      <p:sp>
        <p:nvSpPr>
          <p:cNvPr id="45" name="Shape 43"/>
          <p:cNvSpPr/>
          <p:nvPr/>
        </p:nvSpPr>
        <p:spPr>
          <a:xfrm>
            <a:off x="1755648" y="5833872"/>
            <a:ext cx="1005840" cy="237744"/>
          </a:xfrm>
          <a:prstGeom prst="roundRect">
            <a:avLst>
              <a:gd name="adj" fmla="val 7692"/>
            </a:avLst>
          </a:prstGeom>
          <a:solidFill>
            <a:srgbClr val="0A0A0F"/>
          </a:solidFill>
          <a:ln w="12700">
            <a:solidFill>
              <a:srgbClr val="F5C518"/>
            </a:solidFill>
            <a:prstDash val="solid"/>
          </a:ln>
        </p:spPr>
      </p:sp>
      <p:sp>
        <p:nvSpPr>
          <p:cNvPr id="46" name="Text 44"/>
          <p:cNvSpPr/>
          <p:nvPr/>
        </p:nvSpPr>
        <p:spPr>
          <a:xfrm>
            <a:off x="1755648" y="5833872"/>
            <a:ext cx="1005840" cy="237744"/>
          </a:xfrm>
          <a:prstGeom prst="rect">
            <a:avLst/>
          </a:prstGeom>
          <a:noFill/>
          <a:ln/>
        </p:spPr>
        <p:txBody>
          <a:bodyPr wrap="square" lIns="0" tIns="0" rIns="0" bIns="0" rtlCol="0" anchor="ctr"/>
          <a:lstStyle/>
          <a:p>
            <a:pPr algn="ctr" indent="0" marL="0">
              <a:buNone/>
            </a:pPr>
            <a:r>
              <a:rPr lang="en-US" sz="850" b="1" dirty="0">
                <a:solidFill>
                  <a:srgbClr val="F5C518"/>
                </a:solidFill>
                <a:latin typeface="Courier New" pitchFamily="34" charset="0"/>
                <a:ea typeface="Courier New" pitchFamily="34" charset="-122"/>
                <a:cs typeface="Courier New" pitchFamily="34" charset="-120"/>
              </a:rPr>
              <a:t>Consent Mgmt</a:t>
            </a:r>
            <a:endParaRPr lang="en-US" sz="850" dirty="0"/>
          </a:p>
        </p:txBody>
      </p:sp>
      <p:sp>
        <p:nvSpPr>
          <p:cNvPr id="47" name="Shape 45"/>
          <p:cNvSpPr/>
          <p:nvPr/>
        </p:nvSpPr>
        <p:spPr>
          <a:xfrm>
            <a:off x="2871216" y="5833872"/>
            <a:ext cx="1005840" cy="237744"/>
          </a:xfrm>
          <a:prstGeom prst="roundRect">
            <a:avLst>
              <a:gd name="adj" fmla="val 7692"/>
            </a:avLst>
          </a:prstGeom>
          <a:solidFill>
            <a:srgbClr val="0A0A0F"/>
          </a:solidFill>
          <a:ln w="12700">
            <a:solidFill>
              <a:srgbClr val="F5C518"/>
            </a:solidFill>
            <a:prstDash val="solid"/>
          </a:ln>
        </p:spPr>
      </p:sp>
      <p:sp>
        <p:nvSpPr>
          <p:cNvPr id="48" name="Text 46"/>
          <p:cNvSpPr/>
          <p:nvPr/>
        </p:nvSpPr>
        <p:spPr>
          <a:xfrm>
            <a:off x="2871216" y="5833872"/>
            <a:ext cx="1005840" cy="237744"/>
          </a:xfrm>
          <a:prstGeom prst="rect">
            <a:avLst/>
          </a:prstGeom>
          <a:noFill/>
          <a:ln/>
        </p:spPr>
        <p:txBody>
          <a:bodyPr wrap="square" lIns="0" tIns="0" rIns="0" bIns="0" rtlCol="0" anchor="ctr"/>
          <a:lstStyle/>
          <a:p>
            <a:pPr algn="ctr" indent="0" marL="0">
              <a:buNone/>
            </a:pPr>
            <a:r>
              <a:rPr lang="en-US" sz="850" b="1" dirty="0">
                <a:solidFill>
                  <a:srgbClr val="F5C518"/>
                </a:solidFill>
                <a:latin typeface="Courier New" pitchFamily="34" charset="0"/>
                <a:ea typeface="Courier New" pitchFamily="34" charset="-122"/>
                <a:cs typeface="Courier New" pitchFamily="34" charset="-120"/>
              </a:rPr>
              <a:t>DPBI</a:t>
            </a:r>
            <a:endParaRPr lang="en-US" sz="850" dirty="0"/>
          </a:p>
        </p:txBody>
      </p:sp>
      <p:sp>
        <p:nvSpPr>
          <p:cNvPr id="49" name="Shape 47"/>
          <p:cNvSpPr/>
          <p:nvPr/>
        </p:nvSpPr>
        <p:spPr>
          <a:xfrm>
            <a:off x="4297680" y="4206240"/>
            <a:ext cx="3657600" cy="2240280"/>
          </a:xfrm>
          <a:prstGeom prst="rect">
            <a:avLst/>
          </a:prstGeom>
          <a:solidFill>
            <a:srgbClr val="1A1A28"/>
          </a:solidFill>
          <a:ln w="12700">
            <a:solidFill>
              <a:srgbClr val="2A2A40"/>
            </a:solidFill>
            <a:prstDash val="solid"/>
          </a:ln>
        </p:spPr>
      </p:sp>
      <p:sp>
        <p:nvSpPr>
          <p:cNvPr id="50" name="Shape 48"/>
          <p:cNvSpPr/>
          <p:nvPr/>
        </p:nvSpPr>
        <p:spPr>
          <a:xfrm>
            <a:off x="4297680" y="4206240"/>
            <a:ext cx="45720" cy="2240280"/>
          </a:xfrm>
          <a:prstGeom prst="rect">
            <a:avLst/>
          </a:prstGeom>
          <a:solidFill>
            <a:srgbClr val="FBBF24"/>
          </a:solidFill>
          <a:ln/>
        </p:spPr>
      </p:sp>
      <p:sp>
        <p:nvSpPr>
          <p:cNvPr id="51" name="Text 49"/>
          <p:cNvSpPr/>
          <p:nvPr/>
        </p:nvSpPr>
        <p:spPr>
          <a:xfrm>
            <a:off x="4480560" y="4315968"/>
            <a:ext cx="32918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Cloud Security Engineer</a:t>
            </a:r>
            <a:endParaRPr lang="en-US" sz="1300" dirty="0"/>
          </a:p>
        </p:txBody>
      </p:sp>
      <p:sp>
        <p:nvSpPr>
          <p:cNvPr id="52" name="Text 50"/>
          <p:cNvSpPr/>
          <p:nvPr/>
        </p:nvSpPr>
        <p:spPr>
          <a:xfrm>
            <a:off x="4480560" y="4663440"/>
            <a:ext cx="3291840" cy="320040"/>
          </a:xfrm>
          <a:prstGeom prst="rect">
            <a:avLst/>
          </a:prstGeom>
          <a:noFill/>
          <a:ln/>
        </p:spPr>
        <p:txBody>
          <a:bodyPr wrap="square" rtlCol="0" anchor="ctr"/>
          <a:lstStyle/>
          <a:p>
            <a:pPr indent="0" marL="0">
              <a:buNone/>
            </a:pPr>
            <a:r>
              <a:rPr lang="en-US" sz="1600" b="1" dirty="0">
                <a:solidFill>
                  <a:srgbClr val="FBBF24"/>
                </a:solidFill>
                <a:latin typeface="Arial Black" pitchFamily="34" charset="0"/>
                <a:ea typeface="Arial Black" pitchFamily="34" charset="-122"/>
                <a:cs typeface="Arial Black" pitchFamily="34" charset="-120"/>
              </a:rPr>
              <a:t>₹10–18 LPA</a:t>
            </a:r>
            <a:endParaRPr lang="en-US" sz="1600" dirty="0"/>
          </a:p>
        </p:txBody>
      </p:sp>
      <p:sp>
        <p:nvSpPr>
          <p:cNvPr id="53" name="Text 51"/>
          <p:cNvSpPr/>
          <p:nvPr/>
        </p:nvSpPr>
        <p:spPr>
          <a:xfrm>
            <a:off x="4480560" y="5010912"/>
            <a:ext cx="3291840" cy="713232"/>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AWS/Azure security, IAM, CSPM. Every startup and bank is cloud-first. Most undersupplied role.</a:t>
            </a:r>
            <a:endParaRPr lang="en-US" sz="1050" dirty="0"/>
          </a:p>
        </p:txBody>
      </p:sp>
      <p:sp>
        <p:nvSpPr>
          <p:cNvPr id="54" name="Shape 52"/>
          <p:cNvSpPr/>
          <p:nvPr/>
        </p:nvSpPr>
        <p:spPr>
          <a:xfrm>
            <a:off x="4480560" y="5833872"/>
            <a:ext cx="1005840" cy="237744"/>
          </a:xfrm>
          <a:prstGeom prst="roundRect">
            <a:avLst>
              <a:gd name="adj" fmla="val 7692"/>
            </a:avLst>
          </a:prstGeom>
          <a:solidFill>
            <a:srgbClr val="0A0A0F"/>
          </a:solidFill>
          <a:ln w="12700">
            <a:solidFill>
              <a:srgbClr val="FBBF24"/>
            </a:solidFill>
            <a:prstDash val="solid"/>
          </a:ln>
        </p:spPr>
      </p:sp>
      <p:sp>
        <p:nvSpPr>
          <p:cNvPr id="55" name="Text 53"/>
          <p:cNvSpPr/>
          <p:nvPr/>
        </p:nvSpPr>
        <p:spPr>
          <a:xfrm>
            <a:off x="4480560" y="5833872"/>
            <a:ext cx="1005840" cy="237744"/>
          </a:xfrm>
          <a:prstGeom prst="rect">
            <a:avLst/>
          </a:prstGeom>
          <a:noFill/>
          <a:ln/>
        </p:spPr>
        <p:txBody>
          <a:bodyPr wrap="square" lIns="0" tIns="0" rIns="0" bIns="0" rtlCol="0" anchor="ctr"/>
          <a:lstStyle/>
          <a:p>
            <a:pPr algn="ctr" indent="0" marL="0">
              <a:buNone/>
            </a:pPr>
            <a:r>
              <a:rPr lang="en-US" sz="850" b="1" dirty="0">
                <a:solidFill>
                  <a:srgbClr val="FBBF24"/>
                </a:solidFill>
                <a:latin typeface="Courier New" pitchFamily="34" charset="0"/>
                <a:ea typeface="Courier New" pitchFamily="34" charset="-122"/>
                <a:cs typeface="Courier New" pitchFamily="34" charset="-120"/>
              </a:rPr>
              <a:t>AWS</a:t>
            </a:r>
            <a:endParaRPr lang="en-US" sz="850" dirty="0"/>
          </a:p>
        </p:txBody>
      </p:sp>
      <p:sp>
        <p:nvSpPr>
          <p:cNvPr id="56" name="Shape 54"/>
          <p:cNvSpPr/>
          <p:nvPr/>
        </p:nvSpPr>
        <p:spPr>
          <a:xfrm>
            <a:off x="5596128" y="5833872"/>
            <a:ext cx="1005840" cy="237744"/>
          </a:xfrm>
          <a:prstGeom prst="roundRect">
            <a:avLst>
              <a:gd name="adj" fmla="val 7692"/>
            </a:avLst>
          </a:prstGeom>
          <a:solidFill>
            <a:srgbClr val="0A0A0F"/>
          </a:solidFill>
          <a:ln w="12700">
            <a:solidFill>
              <a:srgbClr val="FBBF24"/>
            </a:solidFill>
            <a:prstDash val="solid"/>
          </a:ln>
        </p:spPr>
      </p:sp>
      <p:sp>
        <p:nvSpPr>
          <p:cNvPr id="57" name="Text 55"/>
          <p:cNvSpPr/>
          <p:nvPr/>
        </p:nvSpPr>
        <p:spPr>
          <a:xfrm>
            <a:off x="5596128" y="5833872"/>
            <a:ext cx="1005840" cy="237744"/>
          </a:xfrm>
          <a:prstGeom prst="rect">
            <a:avLst/>
          </a:prstGeom>
          <a:noFill/>
          <a:ln/>
        </p:spPr>
        <p:txBody>
          <a:bodyPr wrap="square" lIns="0" tIns="0" rIns="0" bIns="0" rtlCol="0" anchor="ctr"/>
          <a:lstStyle/>
          <a:p>
            <a:pPr algn="ctr" indent="0" marL="0">
              <a:buNone/>
            </a:pPr>
            <a:r>
              <a:rPr lang="en-US" sz="850" b="1" dirty="0">
                <a:solidFill>
                  <a:srgbClr val="FBBF24"/>
                </a:solidFill>
                <a:latin typeface="Courier New" pitchFamily="34" charset="0"/>
                <a:ea typeface="Courier New" pitchFamily="34" charset="-122"/>
                <a:cs typeface="Courier New" pitchFamily="34" charset="-120"/>
              </a:rPr>
              <a:t>Prowler</a:t>
            </a:r>
            <a:endParaRPr lang="en-US" sz="850" dirty="0"/>
          </a:p>
        </p:txBody>
      </p:sp>
      <p:sp>
        <p:nvSpPr>
          <p:cNvPr id="58" name="Shape 56"/>
          <p:cNvSpPr/>
          <p:nvPr/>
        </p:nvSpPr>
        <p:spPr>
          <a:xfrm>
            <a:off x="6711696" y="5833872"/>
            <a:ext cx="1005840" cy="237744"/>
          </a:xfrm>
          <a:prstGeom prst="roundRect">
            <a:avLst>
              <a:gd name="adj" fmla="val 7692"/>
            </a:avLst>
          </a:prstGeom>
          <a:solidFill>
            <a:srgbClr val="0A0A0F"/>
          </a:solidFill>
          <a:ln w="12700">
            <a:solidFill>
              <a:srgbClr val="FBBF24"/>
            </a:solidFill>
            <a:prstDash val="solid"/>
          </a:ln>
        </p:spPr>
      </p:sp>
      <p:sp>
        <p:nvSpPr>
          <p:cNvPr id="59" name="Text 57"/>
          <p:cNvSpPr/>
          <p:nvPr/>
        </p:nvSpPr>
        <p:spPr>
          <a:xfrm>
            <a:off x="6711696" y="5833872"/>
            <a:ext cx="1005840" cy="237744"/>
          </a:xfrm>
          <a:prstGeom prst="rect">
            <a:avLst/>
          </a:prstGeom>
          <a:noFill/>
          <a:ln/>
        </p:spPr>
        <p:txBody>
          <a:bodyPr wrap="square" lIns="0" tIns="0" rIns="0" bIns="0" rtlCol="0" anchor="ctr"/>
          <a:lstStyle/>
          <a:p>
            <a:pPr algn="ctr" indent="0" marL="0">
              <a:buNone/>
            </a:pPr>
            <a:r>
              <a:rPr lang="en-US" sz="850" b="1" dirty="0">
                <a:solidFill>
                  <a:srgbClr val="FBBF24"/>
                </a:solidFill>
                <a:latin typeface="Courier New" pitchFamily="34" charset="0"/>
                <a:ea typeface="Courier New" pitchFamily="34" charset="-122"/>
                <a:cs typeface="Courier New" pitchFamily="34" charset="-120"/>
              </a:rPr>
              <a:t>CSPM</a:t>
            </a:r>
            <a:endParaRPr lang="en-US" sz="850" dirty="0"/>
          </a:p>
        </p:txBody>
      </p:sp>
      <p:sp>
        <p:nvSpPr>
          <p:cNvPr id="60" name="Shape 58"/>
          <p:cNvSpPr/>
          <p:nvPr/>
        </p:nvSpPr>
        <p:spPr>
          <a:xfrm>
            <a:off x="8138160" y="4206240"/>
            <a:ext cx="3657600" cy="2240280"/>
          </a:xfrm>
          <a:prstGeom prst="rect">
            <a:avLst/>
          </a:prstGeom>
          <a:solidFill>
            <a:srgbClr val="1A1A28"/>
          </a:solidFill>
          <a:ln w="12700">
            <a:solidFill>
              <a:srgbClr val="2A2A40"/>
            </a:solidFill>
            <a:prstDash val="solid"/>
          </a:ln>
        </p:spPr>
      </p:sp>
      <p:sp>
        <p:nvSpPr>
          <p:cNvPr id="61" name="Shape 59"/>
          <p:cNvSpPr/>
          <p:nvPr/>
        </p:nvSpPr>
        <p:spPr>
          <a:xfrm>
            <a:off x="8138160" y="4206240"/>
            <a:ext cx="45720" cy="2240280"/>
          </a:xfrm>
          <a:prstGeom prst="rect">
            <a:avLst/>
          </a:prstGeom>
          <a:solidFill>
            <a:srgbClr val="84CC16"/>
          </a:solidFill>
          <a:ln/>
        </p:spPr>
      </p:sp>
      <p:sp>
        <p:nvSpPr>
          <p:cNvPr id="62" name="Text 60"/>
          <p:cNvSpPr/>
          <p:nvPr/>
        </p:nvSpPr>
        <p:spPr>
          <a:xfrm>
            <a:off x="8321040" y="4315968"/>
            <a:ext cx="32918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Freelance Consultant</a:t>
            </a:r>
            <a:endParaRPr lang="en-US" sz="1300" dirty="0"/>
          </a:p>
        </p:txBody>
      </p:sp>
      <p:sp>
        <p:nvSpPr>
          <p:cNvPr id="63" name="Text 61"/>
          <p:cNvSpPr/>
          <p:nvPr/>
        </p:nvSpPr>
        <p:spPr>
          <a:xfrm>
            <a:off x="8321040" y="4663440"/>
            <a:ext cx="3291840" cy="320040"/>
          </a:xfrm>
          <a:prstGeom prst="rect">
            <a:avLst/>
          </a:prstGeom>
          <a:noFill/>
          <a:ln/>
        </p:spPr>
        <p:txBody>
          <a:bodyPr wrap="square" rtlCol="0" anchor="ctr"/>
          <a:lstStyle/>
          <a:p>
            <a:pPr indent="0" marL="0">
              <a:buNone/>
            </a:pPr>
            <a:r>
              <a:rPr lang="en-US" sz="1600" b="1" dirty="0">
                <a:solidFill>
                  <a:srgbClr val="84CC16"/>
                </a:solidFill>
                <a:latin typeface="Arial Black" pitchFamily="34" charset="0"/>
                <a:ea typeface="Arial Black" pitchFamily="34" charset="-122"/>
                <a:cs typeface="Arial Black" pitchFamily="34" charset="-120"/>
              </a:rPr>
              <a:t>₹1.5–8 L/Month</a:t>
            </a:r>
            <a:endParaRPr lang="en-US" sz="1600" dirty="0"/>
          </a:p>
        </p:txBody>
      </p:sp>
      <p:sp>
        <p:nvSpPr>
          <p:cNvPr id="64" name="Text 62"/>
          <p:cNvSpPr/>
          <p:nvPr/>
        </p:nvSpPr>
        <p:spPr>
          <a:xfrm>
            <a:off x="8321040" y="5010912"/>
            <a:ext cx="3291840" cy="713232"/>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VAPT + ISO gap + DPDP audit bundles. ₹80K–₹2.5L per engagement in Tier 2/3 cities.</a:t>
            </a:r>
            <a:endParaRPr lang="en-US" sz="1050" dirty="0"/>
          </a:p>
        </p:txBody>
      </p:sp>
      <p:sp>
        <p:nvSpPr>
          <p:cNvPr id="65" name="Shape 63"/>
          <p:cNvSpPr/>
          <p:nvPr/>
        </p:nvSpPr>
        <p:spPr>
          <a:xfrm>
            <a:off x="8321040" y="5833872"/>
            <a:ext cx="1005840" cy="237744"/>
          </a:xfrm>
          <a:prstGeom prst="roundRect">
            <a:avLst>
              <a:gd name="adj" fmla="val 7692"/>
            </a:avLst>
          </a:prstGeom>
          <a:solidFill>
            <a:srgbClr val="0A0A0F"/>
          </a:solidFill>
          <a:ln w="12700">
            <a:solidFill>
              <a:srgbClr val="84CC16"/>
            </a:solidFill>
            <a:prstDash val="solid"/>
          </a:ln>
        </p:spPr>
      </p:sp>
      <p:sp>
        <p:nvSpPr>
          <p:cNvPr id="66" name="Text 64"/>
          <p:cNvSpPr/>
          <p:nvPr/>
        </p:nvSpPr>
        <p:spPr>
          <a:xfrm>
            <a:off x="8321040" y="5833872"/>
            <a:ext cx="1005840" cy="237744"/>
          </a:xfrm>
          <a:prstGeom prst="rect">
            <a:avLst/>
          </a:prstGeom>
          <a:noFill/>
          <a:ln/>
        </p:spPr>
        <p:txBody>
          <a:bodyPr wrap="square" lIns="0" tIns="0" rIns="0" bIns="0" rtlCol="0" anchor="ctr"/>
          <a:lstStyle/>
          <a:p>
            <a:pPr algn="ctr" indent="0" marL="0">
              <a:buNone/>
            </a:pPr>
            <a:r>
              <a:rPr lang="en-US" sz="850" b="1" dirty="0">
                <a:solidFill>
                  <a:srgbClr val="84CC16"/>
                </a:solidFill>
                <a:latin typeface="Courier New" pitchFamily="34" charset="0"/>
                <a:ea typeface="Courier New" pitchFamily="34" charset="-122"/>
                <a:cs typeface="Courier New" pitchFamily="34" charset="-120"/>
              </a:rPr>
              <a:t>Full-service</a:t>
            </a:r>
            <a:endParaRPr lang="en-US" sz="850" dirty="0"/>
          </a:p>
        </p:txBody>
      </p:sp>
      <p:sp>
        <p:nvSpPr>
          <p:cNvPr id="67" name="Shape 65"/>
          <p:cNvSpPr/>
          <p:nvPr/>
        </p:nvSpPr>
        <p:spPr>
          <a:xfrm>
            <a:off x="9436608" y="5833872"/>
            <a:ext cx="1005840" cy="237744"/>
          </a:xfrm>
          <a:prstGeom prst="roundRect">
            <a:avLst>
              <a:gd name="adj" fmla="val 7692"/>
            </a:avLst>
          </a:prstGeom>
          <a:solidFill>
            <a:srgbClr val="0A0A0F"/>
          </a:solidFill>
          <a:ln w="12700">
            <a:solidFill>
              <a:srgbClr val="84CC16"/>
            </a:solidFill>
            <a:prstDash val="solid"/>
          </a:ln>
        </p:spPr>
      </p:sp>
      <p:sp>
        <p:nvSpPr>
          <p:cNvPr id="68" name="Text 66"/>
          <p:cNvSpPr/>
          <p:nvPr/>
        </p:nvSpPr>
        <p:spPr>
          <a:xfrm>
            <a:off x="9436608" y="5833872"/>
            <a:ext cx="1005840" cy="237744"/>
          </a:xfrm>
          <a:prstGeom prst="rect">
            <a:avLst/>
          </a:prstGeom>
          <a:noFill/>
          <a:ln/>
        </p:spPr>
        <p:txBody>
          <a:bodyPr wrap="square" lIns="0" tIns="0" rIns="0" bIns="0" rtlCol="0" anchor="ctr"/>
          <a:lstStyle/>
          <a:p>
            <a:pPr algn="ctr" indent="0" marL="0">
              <a:buNone/>
            </a:pPr>
            <a:r>
              <a:rPr lang="en-US" sz="850" b="1" dirty="0">
                <a:solidFill>
                  <a:srgbClr val="84CC16"/>
                </a:solidFill>
                <a:latin typeface="Courier New" pitchFamily="34" charset="0"/>
                <a:ea typeface="Courier New" pitchFamily="34" charset="-122"/>
                <a:cs typeface="Courier New" pitchFamily="34" charset="-120"/>
              </a:rPr>
              <a:t>Own Practice</a:t>
            </a:r>
            <a:endParaRPr lang="en-US" sz="850" dirty="0"/>
          </a:p>
        </p:txBody>
      </p:sp>
      <p:sp>
        <p:nvSpPr>
          <p:cNvPr id="69" name="Shape 67"/>
          <p:cNvSpPr/>
          <p:nvPr/>
        </p:nvSpPr>
        <p:spPr>
          <a:xfrm>
            <a:off x="10552176" y="5833872"/>
            <a:ext cx="1005840" cy="237744"/>
          </a:xfrm>
          <a:prstGeom prst="roundRect">
            <a:avLst>
              <a:gd name="adj" fmla="val 7692"/>
            </a:avLst>
          </a:prstGeom>
          <a:solidFill>
            <a:srgbClr val="0A0A0F"/>
          </a:solidFill>
          <a:ln w="12700">
            <a:solidFill>
              <a:srgbClr val="84CC16"/>
            </a:solidFill>
            <a:prstDash val="solid"/>
          </a:ln>
        </p:spPr>
      </p:sp>
      <p:sp>
        <p:nvSpPr>
          <p:cNvPr id="70" name="Text 68"/>
          <p:cNvSpPr/>
          <p:nvPr/>
        </p:nvSpPr>
        <p:spPr>
          <a:xfrm>
            <a:off x="10552176" y="5833872"/>
            <a:ext cx="1005840" cy="237744"/>
          </a:xfrm>
          <a:prstGeom prst="rect">
            <a:avLst/>
          </a:prstGeom>
          <a:noFill/>
          <a:ln/>
        </p:spPr>
        <p:txBody>
          <a:bodyPr wrap="square" lIns="0" tIns="0" rIns="0" bIns="0" rtlCol="0" anchor="ctr"/>
          <a:lstStyle/>
          <a:p>
            <a:pPr algn="ctr" indent="0" marL="0">
              <a:buNone/>
            </a:pPr>
            <a:r>
              <a:rPr lang="en-US" sz="850" b="1" dirty="0">
                <a:solidFill>
                  <a:srgbClr val="84CC16"/>
                </a:solidFill>
                <a:latin typeface="Courier New" pitchFamily="34" charset="0"/>
                <a:ea typeface="Courier New" pitchFamily="34" charset="-122"/>
                <a:cs typeface="Courier New" pitchFamily="34" charset="-120"/>
              </a:rPr>
              <a:t>Recurring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FBBF24"/>
                </a:solidFill>
                <a:latin typeface="Courier New" pitchFamily="34" charset="0"/>
                <a:ea typeface="Courier New" pitchFamily="34" charset="-122"/>
                <a:cs typeface="Courier New" pitchFamily="34" charset="-120"/>
              </a:rPr>
              <a:t>ANSWERING THE OBJECTION</a:t>
            </a:r>
            <a:endParaRPr lang="en-US" sz="1100" dirty="0"/>
          </a:p>
        </p:txBody>
      </p:sp>
      <p:sp>
        <p:nvSpPr>
          <p:cNvPr id="4" name="Text 2"/>
          <p:cNvSpPr/>
          <p:nvPr/>
        </p:nvSpPr>
        <p:spPr>
          <a:xfrm>
            <a:off x="457200" y="713232"/>
            <a:ext cx="9144000"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Arial Black" pitchFamily="34" charset="0"/>
                <a:ea typeface="Arial Black" pitchFamily="34" charset="-122"/>
                <a:cs typeface="Arial Black" pitchFamily="34" charset="-120"/>
              </a:rPr>
              <a:t>"I Only Want to Hack Things.</a:t>
            </a:r>
            <a:endParaRPr lang="en-US" sz="4200" dirty="0"/>
          </a:p>
          <a:p>
            <a:pPr indent="0" marL="0">
              <a:lnSpc>
                <a:spcPct val="100000"/>
              </a:lnSpc>
              <a:buNone/>
            </a:pPr>
            <a:r>
              <a:rPr lang="en-US" sz="4200" b="1" dirty="0">
                <a:solidFill>
                  <a:srgbClr val="FFFFFF"/>
                </a:solidFill>
                <a:latin typeface="Arial Black" pitchFamily="34" charset="0"/>
                <a:ea typeface="Arial Black" pitchFamily="34" charset="-122"/>
                <a:cs typeface="Arial Black" pitchFamily="34" charset="-120"/>
              </a:rPr>
              <a:t>Why Do I Need GRC?"</a:t>
            </a:r>
            <a:endParaRPr lang="en-US" sz="4200" dirty="0"/>
          </a:p>
        </p:txBody>
      </p:sp>
      <p:sp>
        <p:nvSpPr>
          <p:cNvPr id="5" name="Shape 3"/>
          <p:cNvSpPr/>
          <p:nvPr/>
        </p:nvSpPr>
        <p:spPr>
          <a:xfrm>
            <a:off x="457200" y="2377440"/>
            <a:ext cx="5486400" cy="2011680"/>
          </a:xfrm>
          <a:prstGeom prst="rect">
            <a:avLst/>
          </a:prstGeom>
          <a:solidFill>
            <a:srgbClr val="1A1A28"/>
          </a:solidFill>
          <a:ln w="12700">
            <a:solidFill>
              <a:srgbClr val="2A2A40"/>
            </a:solidFill>
            <a:prstDash val="solid"/>
          </a:ln>
        </p:spPr>
      </p:sp>
      <p:sp>
        <p:nvSpPr>
          <p:cNvPr id="6" name="Shape 4"/>
          <p:cNvSpPr/>
          <p:nvPr/>
        </p:nvSpPr>
        <p:spPr>
          <a:xfrm>
            <a:off x="457200" y="2377440"/>
            <a:ext cx="45720" cy="2011680"/>
          </a:xfrm>
          <a:prstGeom prst="rect">
            <a:avLst/>
          </a:prstGeom>
          <a:solidFill>
            <a:srgbClr val="FB7185"/>
          </a:solidFill>
          <a:ln/>
        </p:spPr>
      </p:sp>
      <p:sp>
        <p:nvSpPr>
          <p:cNvPr id="7" name="Text 5"/>
          <p:cNvSpPr/>
          <p:nvPr/>
        </p:nvSpPr>
        <p:spPr>
          <a:xfrm>
            <a:off x="640080" y="2487168"/>
            <a:ext cx="457200" cy="411480"/>
          </a:xfrm>
          <a:prstGeom prst="rect">
            <a:avLst/>
          </a:prstGeom>
          <a:noFill/>
          <a:ln/>
        </p:spPr>
        <p:txBody>
          <a:bodyPr wrap="square" rtlCol="0" anchor="ctr"/>
          <a:lstStyle/>
          <a:p>
            <a:pPr indent="0" marL="0">
              <a:buNone/>
            </a:pPr>
            <a:r>
              <a:rPr lang="en-US" sz="2200" b="1" dirty="0">
                <a:solidFill>
                  <a:srgbClr val="FB7185"/>
                </a:solidFill>
                <a:latin typeface="Arial Black" pitchFamily="34" charset="0"/>
                <a:ea typeface="Arial Black" pitchFamily="34" charset="-122"/>
                <a:cs typeface="Arial Black" pitchFamily="34" charset="-120"/>
              </a:rPr>
              <a:t>01</a:t>
            </a:r>
            <a:endParaRPr lang="en-US" sz="2200" dirty="0"/>
          </a:p>
        </p:txBody>
      </p:sp>
      <p:sp>
        <p:nvSpPr>
          <p:cNvPr id="8" name="Text 6"/>
          <p:cNvSpPr/>
          <p:nvPr/>
        </p:nvSpPr>
        <p:spPr>
          <a:xfrm>
            <a:off x="1143000" y="2487168"/>
            <a:ext cx="4663440" cy="457200"/>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Clients Pay for Reports, Not Exploits</a:t>
            </a:r>
            <a:endParaRPr lang="en-US" sz="1350" dirty="0"/>
          </a:p>
        </p:txBody>
      </p:sp>
      <p:sp>
        <p:nvSpPr>
          <p:cNvPr id="9" name="Text 7"/>
          <p:cNvSpPr/>
          <p:nvPr/>
        </p:nvSpPr>
        <p:spPr>
          <a:xfrm>
            <a:off x="640080" y="2999232"/>
            <a:ext cx="5166360" cy="1280160"/>
          </a:xfrm>
          <a:prstGeom prst="rect">
            <a:avLst/>
          </a:prstGeom>
          <a:noFill/>
          <a:ln/>
        </p:spPr>
        <p:txBody>
          <a:bodyPr wrap="square" rtlCol="0" anchor="ctr"/>
          <a:lstStyle/>
          <a:p>
            <a:pPr indent="0" marL="0">
              <a:lnSpc>
                <a:spcPct val="135000"/>
              </a:lnSpc>
              <a:buNone/>
            </a:pPr>
            <a:r>
              <a:rPr lang="en-US" sz="1100" dirty="0">
                <a:solidFill>
                  <a:srgbClr val="8888AA"/>
                </a:solidFill>
                <a:latin typeface="Arial" pitchFamily="34" charset="0"/>
                <a:ea typeface="Arial" pitchFamily="34" charset="-122"/>
                <a:cs typeface="Arial" pitchFamily="34" charset="-120"/>
              </a:rPr>
              <a:t>Senior pentesters at Deloitte/EY/KPMG write ISO 27001-aligned reports, map findings to frameworks, and advise on remediation priority. That is GRC. Hackers who only know tools stay at ₹6 LPA. The ones who write board-ready risk reports make ₹18–25 LPA.</a:t>
            </a:r>
            <a:endParaRPr lang="en-US" sz="1100" dirty="0"/>
          </a:p>
        </p:txBody>
      </p:sp>
      <p:sp>
        <p:nvSpPr>
          <p:cNvPr id="10" name="Shape 8"/>
          <p:cNvSpPr/>
          <p:nvPr/>
        </p:nvSpPr>
        <p:spPr>
          <a:xfrm>
            <a:off x="457200" y="4663440"/>
            <a:ext cx="5486400" cy="2011680"/>
          </a:xfrm>
          <a:prstGeom prst="rect">
            <a:avLst/>
          </a:prstGeom>
          <a:solidFill>
            <a:srgbClr val="1A1A28"/>
          </a:solidFill>
          <a:ln w="12700">
            <a:solidFill>
              <a:srgbClr val="2A2A40"/>
            </a:solidFill>
            <a:prstDash val="solid"/>
          </a:ln>
        </p:spPr>
      </p:sp>
      <p:sp>
        <p:nvSpPr>
          <p:cNvPr id="11" name="Shape 9"/>
          <p:cNvSpPr/>
          <p:nvPr/>
        </p:nvSpPr>
        <p:spPr>
          <a:xfrm>
            <a:off x="457200" y="4663440"/>
            <a:ext cx="45720" cy="2011680"/>
          </a:xfrm>
          <a:prstGeom prst="rect">
            <a:avLst/>
          </a:prstGeom>
          <a:solidFill>
            <a:srgbClr val="2DD4BF"/>
          </a:solidFill>
          <a:ln/>
        </p:spPr>
      </p:sp>
      <p:sp>
        <p:nvSpPr>
          <p:cNvPr id="12" name="Text 10"/>
          <p:cNvSpPr/>
          <p:nvPr/>
        </p:nvSpPr>
        <p:spPr>
          <a:xfrm>
            <a:off x="640080" y="4773168"/>
            <a:ext cx="457200" cy="411480"/>
          </a:xfrm>
          <a:prstGeom prst="rect">
            <a:avLst/>
          </a:prstGeom>
          <a:noFill/>
          <a:ln/>
        </p:spPr>
        <p:txBody>
          <a:bodyPr wrap="square" rtlCol="0" anchor="ctr"/>
          <a:lstStyle/>
          <a:p>
            <a:pPr indent="0" marL="0">
              <a:buNone/>
            </a:pPr>
            <a:r>
              <a:rPr lang="en-US" sz="2200" b="1" dirty="0">
                <a:solidFill>
                  <a:srgbClr val="2DD4BF"/>
                </a:solidFill>
                <a:latin typeface="Arial Black" pitchFamily="34" charset="0"/>
                <a:ea typeface="Arial Black" pitchFamily="34" charset="-122"/>
                <a:cs typeface="Arial Black" pitchFamily="34" charset="-120"/>
              </a:rPr>
              <a:t>02</a:t>
            </a:r>
            <a:endParaRPr lang="en-US" sz="2200" dirty="0"/>
          </a:p>
        </p:txBody>
      </p:sp>
      <p:sp>
        <p:nvSpPr>
          <p:cNvPr id="13" name="Text 11"/>
          <p:cNvSpPr/>
          <p:nvPr/>
        </p:nvSpPr>
        <p:spPr>
          <a:xfrm>
            <a:off x="1143000" y="4773168"/>
            <a:ext cx="4663440" cy="457200"/>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SOC Analysts Hit a Ceiling Without Compliance</a:t>
            </a:r>
            <a:endParaRPr lang="en-US" sz="1350" dirty="0"/>
          </a:p>
        </p:txBody>
      </p:sp>
      <p:sp>
        <p:nvSpPr>
          <p:cNvPr id="14" name="Text 12"/>
          <p:cNvSpPr/>
          <p:nvPr/>
        </p:nvSpPr>
        <p:spPr>
          <a:xfrm>
            <a:off x="640080" y="5285232"/>
            <a:ext cx="5166360" cy="1280160"/>
          </a:xfrm>
          <a:prstGeom prst="rect">
            <a:avLst/>
          </a:prstGeom>
          <a:noFill/>
          <a:ln/>
        </p:spPr>
        <p:txBody>
          <a:bodyPr wrap="square" rtlCol="0" anchor="ctr"/>
          <a:lstStyle/>
          <a:p>
            <a:pPr indent="0" marL="0">
              <a:lnSpc>
                <a:spcPct val="135000"/>
              </a:lnSpc>
              <a:buNone/>
            </a:pPr>
            <a:r>
              <a:rPr lang="en-US" sz="1100" dirty="0">
                <a:solidFill>
                  <a:srgbClr val="8888AA"/>
                </a:solidFill>
                <a:latin typeface="Arial" pitchFamily="34" charset="0"/>
                <a:ea typeface="Arial" pitchFamily="34" charset="-122"/>
                <a:cs typeface="Arial" pitchFamily="34" charset="-120"/>
              </a:rPr>
              <a:t>L1 SOC is easy to enter. It is also easy to get stuck there at ₹5–6 LPA for years. Every L2/L3/Threat Lead analyst understands why log retention policies exist (CERT-In), which alerts map to compliance incidents (ISO 27001 A.5.25), and how to write executive incident summaries. That knowledge is GRC.</a:t>
            </a:r>
            <a:endParaRPr lang="en-US" sz="1100" dirty="0"/>
          </a:p>
        </p:txBody>
      </p:sp>
      <p:sp>
        <p:nvSpPr>
          <p:cNvPr id="15" name="Shape 13"/>
          <p:cNvSpPr/>
          <p:nvPr/>
        </p:nvSpPr>
        <p:spPr>
          <a:xfrm>
            <a:off x="6309360" y="2377440"/>
            <a:ext cx="5486400" cy="2011680"/>
          </a:xfrm>
          <a:prstGeom prst="rect">
            <a:avLst/>
          </a:prstGeom>
          <a:solidFill>
            <a:srgbClr val="1A1A28"/>
          </a:solidFill>
          <a:ln w="12700">
            <a:solidFill>
              <a:srgbClr val="2A2A40"/>
            </a:solidFill>
            <a:prstDash val="solid"/>
          </a:ln>
        </p:spPr>
      </p:sp>
      <p:sp>
        <p:nvSpPr>
          <p:cNvPr id="16" name="Shape 14"/>
          <p:cNvSpPr/>
          <p:nvPr/>
        </p:nvSpPr>
        <p:spPr>
          <a:xfrm>
            <a:off x="6309360" y="2377440"/>
            <a:ext cx="45720" cy="2011680"/>
          </a:xfrm>
          <a:prstGeom prst="rect">
            <a:avLst/>
          </a:prstGeom>
          <a:solidFill>
            <a:srgbClr val="F5C518"/>
          </a:solidFill>
          <a:ln/>
        </p:spPr>
      </p:sp>
      <p:sp>
        <p:nvSpPr>
          <p:cNvPr id="17" name="Text 15"/>
          <p:cNvSpPr/>
          <p:nvPr/>
        </p:nvSpPr>
        <p:spPr>
          <a:xfrm>
            <a:off x="6492240" y="2487168"/>
            <a:ext cx="457200" cy="411480"/>
          </a:xfrm>
          <a:prstGeom prst="rect">
            <a:avLst/>
          </a:prstGeom>
          <a:noFill/>
          <a:ln/>
        </p:spPr>
        <p:txBody>
          <a:bodyPr wrap="square" rtlCol="0" anchor="ctr"/>
          <a:lstStyle/>
          <a:p>
            <a:pPr indent="0" marL="0">
              <a:buNone/>
            </a:pPr>
            <a:r>
              <a:rPr lang="en-US" sz="2200" b="1" dirty="0">
                <a:solidFill>
                  <a:srgbClr val="F5C518"/>
                </a:solidFill>
                <a:latin typeface="Arial Black" pitchFamily="34" charset="0"/>
                <a:ea typeface="Arial Black" pitchFamily="34" charset="-122"/>
                <a:cs typeface="Arial Black" pitchFamily="34" charset="-120"/>
              </a:rPr>
              <a:t>03</a:t>
            </a:r>
            <a:endParaRPr lang="en-US" sz="2200" dirty="0"/>
          </a:p>
        </p:txBody>
      </p:sp>
      <p:sp>
        <p:nvSpPr>
          <p:cNvPr id="18" name="Text 16"/>
          <p:cNvSpPr/>
          <p:nvPr/>
        </p:nvSpPr>
        <p:spPr>
          <a:xfrm>
            <a:off x="6995160" y="2487168"/>
            <a:ext cx="4663440" cy="457200"/>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BFSI — India's Largest Security Employer</a:t>
            </a:r>
            <a:endParaRPr lang="en-US" sz="1350" dirty="0"/>
          </a:p>
        </p:txBody>
      </p:sp>
      <p:sp>
        <p:nvSpPr>
          <p:cNvPr id="19" name="Text 17"/>
          <p:cNvSpPr/>
          <p:nvPr/>
        </p:nvSpPr>
        <p:spPr>
          <a:xfrm>
            <a:off x="6492240" y="2999232"/>
            <a:ext cx="5166360" cy="1280160"/>
          </a:xfrm>
          <a:prstGeom prst="rect">
            <a:avLst/>
          </a:prstGeom>
          <a:noFill/>
          <a:ln/>
        </p:spPr>
        <p:txBody>
          <a:bodyPr wrap="square" rtlCol="0" anchor="ctr"/>
          <a:lstStyle/>
          <a:p>
            <a:pPr indent="0" marL="0">
              <a:lnSpc>
                <a:spcPct val="135000"/>
              </a:lnSpc>
              <a:buNone/>
            </a:pPr>
            <a:r>
              <a:rPr lang="en-US" sz="1100" dirty="0">
                <a:solidFill>
                  <a:srgbClr val="8888AA"/>
                </a:solidFill>
                <a:latin typeface="Arial" pitchFamily="34" charset="0"/>
                <a:ea typeface="Arial" pitchFamily="34" charset="-122"/>
                <a:cs typeface="Arial" pitchFamily="34" charset="-120"/>
              </a:rPr>
              <a:t>Banks, NBFCs, insurance companies, stock brokers. RBI Cybersecurity Framework, SEBI guidelines, PCI-DSS, IRDAI mandates. A pure CEH cannot get past round 1 at SBI, HDFC, ICICI, or any payment company. The Dual Track prepares you for BFSI specifically. Salary: ₹8–22 LPA at entry to mid level.</a:t>
            </a:r>
            <a:endParaRPr lang="en-US" sz="1100" dirty="0"/>
          </a:p>
        </p:txBody>
      </p:sp>
      <p:sp>
        <p:nvSpPr>
          <p:cNvPr id="20" name="Shape 18"/>
          <p:cNvSpPr/>
          <p:nvPr/>
        </p:nvSpPr>
        <p:spPr>
          <a:xfrm>
            <a:off x="6309360" y="4663440"/>
            <a:ext cx="5486400" cy="2011680"/>
          </a:xfrm>
          <a:prstGeom prst="rect">
            <a:avLst/>
          </a:prstGeom>
          <a:solidFill>
            <a:srgbClr val="1A1A28"/>
          </a:solidFill>
          <a:ln w="12700">
            <a:solidFill>
              <a:srgbClr val="2A2A40"/>
            </a:solidFill>
            <a:prstDash val="solid"/>
          </a:ln>
        </p:spPr>
      </p:sp>
      <p:sp>
        <p:nvSpPr>
          <p:cNvPr id="21" name="Shape 19"/>
          <p:cNvSpPr/>
          <p:nvPr/>
        </p:nvSpPr>
        <p:spPr>
          <a:xfrm>
            <a:off x="6309360" y="4663440"/>
            <a:ext cx="45720" cy="2011680"/>
          </a:xfrm>
          <a:prstGeom prst="rect">
            <a:avLst/>
          </a:prstGeom>
          <a:solidFill>
            <a:srgbClr val="A855F7"/>
          </a:solidFill>
          <a:ln/>
        </p:spPr>
      </p:sp>
      <p:sp>
        <p:nvSpPr>
          <p:cNvPr id="22" name="Text 20"/>
          <p:cNvSpPr/>
          <p:nvPr/>
        </p:nvSpPr>
        <p:spPr>
          <a:xfrm>
            <a:off x="6492240" y="4773168"/>
            <a:ext cx="457200" cy="411480"/>
          </a:xfrm>
          <a:prstGeom prst="rect">
            <a:avLst/>
          </a:prstGeom>
          <a:noFill/>
          <a:ln/>
        </p:spPr>
        <p:txBody>
          <a:bodyPr wrap="square" rtlCol="0" anchor="ctr"/>
          <a:lstStyle/>
          <a:p>
            <a:pPr indent="0" marL="0">
              <a:buNone/>
            </a:pPr>
            <a:r>
              <a:rPr lang="en-US" sz="2200" b="1" dirty="0">
                <a:solidFill>
                  <a:srgbClr val="A855F7"/>
                </a:solidFill>
                <a:latin typeface="Arial Black" pitchFamily="34" charset="0"/>
                <a:ea typeface="Arial Black" pitchFamily="34" charset="-122"/>
                <a:cs typeface="Arial Black" pitchFamily="34" charset="-120"/>
              </a:rPr>
              <a:t>04</a:t>
            </a:r>
            <a:endParaRPr lang="en-US" sz="2200" dirty="0"/>
          </a:p>
        </p:txBody>
      </p:sp>
      <p:sp>
        <p:nvSpPr>
          <p:cNvPr id="23" name="Text 21"/>
          <p:cNvSpPr/>
          <p:nvPr/>
        </p:nvSpPr>
        <p:spPr>
          <a:xfrm>
            <a:off x="6995160" y="4773168"/>
            <a:ext cx="4663440" cy="457200"/>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Freelance Requires Both Tracks</a:t>
            </a:r>
            <a:endParaRPr lang="en-US" sz="1350" dirty="0"/>
          </a:p>
        </p:txBody>
      </p:sp>
      <p:sp>
        <p:nvSpPr>
          <p:cNvPr id="24" name="Text 22"/>
          <p:cNvSpPr/>
          <p:nvPr/>
        </p:nvSpPr>
        <p:spPr>
          <a:xfrm>
            <a:off x="6492240" y="5285232"/>
            <a:ext cx="5166360" cy="1280160"/>
          </a:xfrm>
          <a:prstGeom prst="rect">
            <a:avLst/>
          </a:prstGeom>
          <a:noFill/>
          <a:ln/>
        </p:spPr>
        <p:txBody>
          <a:bodyPr wrap="square" rtlCol="0" anchor="ctr"/>
          <a:lstStyle/>
          <a:p>
            <a:pPr indent="0" marL="0">
              <a:lnSpc>
                <a:spcPct val="135000"/>
              </a:lnSpc>
              <a:buNone/>
            </a:pPr>
            <a:r>
              <a:rPr lang="en-US" sz="1100" dirty="0">
                <a:solidFill>
                  <a:srgbClr val="8888AA"/>
                </a:solidFill>
                <a:latin typeface="Arial" pitchFamily="34" charset="0"/>
                <a:ea typeface="Arial" pitchFamily="34" charset="-122"/>
                <a:cs typeface="Arial" pitchFamily="34" charset="-120"/>
              </a:rPr>
              <a:t>The most successful independent security consultants in India earn ₹3–8L/month offering VAPT + ISO gap analysis + DPDP audit bundles. One-skill consultants compete on price. Multi-skill consultants set their own price.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2DD4BF"/>
                </a:solidFill>
                <a:latin typeface="Courier New" pitchFamily="34" charset="0"/>
                <a:ea typeface="Courier New" pitchFamily="34" charset="-122"/>
                <a:cs typeface="Courier New" pitchFamily="34" charset="-120"/>
              </a:rPr>
              <a:t>THE 12-WEEK JOURNEY</a:t>
            </a:r>
            <a:endParaRPr lang="en-US" sz="1100" dirty="0"/>
          </a:p>
        </p:txBody>
      </p:sp>
      <p:sp>
        <p:nvSpPr>
          <p:cNvPr id="4" name="Text 2"/>
          <p:cNvSpPr/>
          <p:nvPr/>
        </p:nvSpPr>
        <p:spPr>
          <a:xfrm>
            <a:off x="457200" y="713232"/>
            <a:ext cx="9144000" cy="777240"/>
          </a:xfrm>
          <a:prstGeom prst="rect">
            <a:avLst/>
          </a:prstGeom>
          <a:noFill/>
          <a:ln/>
        </p:spPr>
        <p:txBody>
          <a:bodyPr wrap="square"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Month by Month. Week by Week.</a:t>
            </a:r>
            <a:endParaRPr lang="en-US" sz="3800" dirty="0"/>
          </a:p>
        </p:txBody>
      </p:sp>
      <p:sp>
        <p:nvSpPr>
          <p:cNvPr id="5" name="Shape 3"/>
          <p:cNvSpPr/>
          <p:nvPr/>
        </p:nvSpPr>
        <p:spPr>
          <a:xfrm>
            <a:off x="457200" y="1691640"/>
            <a:ext cx="3703320" cy="4892040"/>
          </a:xfrm>
          <a:prstGeom prst="rect">
            <a:avLst/>
          </a:prstGeom>
          <a:solidFill>
            <a:srgbClr val="1A1A28"/>
          </a:solidFill>
          <a:ln w="12700">
            <a:solidFill>
              <a:srgbClr val="2A2A40"/>
            </a:solidFill>
            <a:prstDash val="solid"/>
          </a:ln>
        </p:spPr>
      </p:sp>
      <p:sp>
        <p:nvSpPr>
          <p:cNvPr id="6" name="Shape 4"/>
          <p:cNvSpPr/>
          <p:nvPr/>
        </p:nvSpPr>
        <p:spPr>
          <a:xfrm>
            <a:off x="457200" y="1691640"/>
            <a:ext cx="3703320" cy="36576"/>
          </a:xfrm>
          <a:prstGeom prst="rect">
            <a:avLst/>
          </a:prstGeom>
          <a:solidFill>
            <a:srgbClr val="FBBF24"/>
          </a:solidFill>
          <a:ln/>
        </p:spPr>
      </p:sp>
      <p:sp>
        <p:nvSpPr>
          <p:cNvPr id="7" name="Text 5"/>
          <p:cNvSpPr/>
          <p:nvPr/>
        </p:nvSpPr>
        <p:spPr>
          <a:xfrm>
            <a:off x="621792" y="1801368"/>
            <a:ext cx="3429000" cy="292608"/>
          </a:xfrm>
          <a:prstGeom prst="rect">
            <a:avLst/>
          </a:prstGeom>
          <a:noFill/>
          <a:ln/>
        </p:spPr>
        <p:txBody>
          <a:bodyPr wrap="square" rtlCol="0" anchor="ctr"/>
          <a:lstStyle/>
          <a:p>
            <a:pPr indent="0" marL="0">
              <a:buNone/>
            </a:pPr>
            <a:r>
              <a:rPr lang="en-US" sz="1000" b="1" spc="200" kern="0" dirty="0">
                <a:solidFill>
                  <a:srgbClr val="FBBF24"/>
                </a:solidFill>
                <a:latin typeface="Courier New" pitchFamily="34" charset="0"/>
                <a:ea typeface="Courier New" pitchFamily="34" charset="-122"/>
                <a:cs typeface="Courier New" pitchFamily="34" charset="-120"/>
              </a:rPr>
              <a:t>MONTH 1 — Wk 1–4</a:t>
            </a:r>
            <a:endParaRPr lang="en-US" sz="1000" dirty="0"/>
          </a:p>
        </p:txBody>
      </p:sp>
      <p:sp>
        <p:nvSpPr>
          <p:cNvPr id="8" name="Shape 6"/>
          <p:cNvSpPr/>
          <p:nvPr/>
        </p:nvSpPr>
        <p:spPr>
          <a:xfrm>
            <a:off x="621792" y="2258568"/>
            <a:ext cx="3383280" cy="1261872"/>
          </a:xfrm>
          <a:prstGeom prst="rect">
            <a:avLst/>
          </a:prstGeom>
          <a:solidFill>
            <a:srgbClr val="0A0A0F"/>
          </a:solidFill>
          <a:ln w="12700">
            <a:solidFill>
              <a:srgbClr val="2A2A40"/>
            </a:solidFill>
            <a:prstDash val="solid"/>
          </a:ln>
        </p:spPr>
      </p:sp>
      <p:sp>
        <p:nvSpPr>
          <p:cNvPr id="9" name="Text 7"/>
          <p:cNvSpPr/>
          <p:nvPr/>
        </p:nvSpPr>
        <p:spPr>
          <a:xfrm>
            <a:off x="731520" y="2350008"/>
            <a:ext cx="1005840" cy="237744"/>
          </a:xfrm>
          <a:prstGeom prst="rect">
            <a:avLst/>
          </a:prstGeom>
          <a:noFill/>
          <a:ln/>
        </p:spPr>
        <p:txBody>
          <a:bodyPr wrap="square" rtlCol="0" anchor="ctr"/>
          <a:lstStyle/>
          <a:p>
            <a:pPr indent="0" marL="0">
              <a:buNone/>
            </a:pPr>
            <a:r>
              <a:rPr lang="en-US" sz="850" b="1" dirty="0">
                <a:solidFill>
                  <a:srgbClr val="FBBF24"/>
                </a:solidFill>
                <a:latin typeface="Courier New" pitchFamily="34" charset="0"/>
                <a:ea typeface="Courier New" pitchFamily="34" charset="-122"/>
                <a:cs typeface="Courier New" pitchFamily="34" charset="-120"/>
              </a:rPr>
              <a:t>Wk 1–3</a:t>
            </a:r>
            <a:endParaRPr lang="en-US" sz="850" dirty="0"/>
          </a:p>
        </p:txBody>
      </p:sp>
      <p:sp>
        <p:nvSpPr>
          <p:cNvPr id="10" name="Text 8"/>
          <p:cNvSpPr/>
          <p:nvPr/>
        </p:nvSpPr>
        <p:spPr>
          <a:xfrm>
            <a:off x="731520" y="257860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Foundations + OS Security + Lab Setup</a:t>
            </a:r>
            <a:endParaRPr lang="en-US" sz="1200" dirty="0"/>
          </a:p>
        </p:txBody>
      </p:sp>
      <p:sp>
        <p:nvSpPr>
          <p:cNvPr id="11" name="Text 9"/>
          <p:cNvSpPr/>
          <p:nvPr/>
        </p:nvSpPr>
        <p:spPr>
          <a:xfrm>
            <a:off x="731520" y="296265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CIA Triad • Linux/Windows hardening • DVWA + Kali setup</a:t>
            </a:r>
            <a:endParaRPr lang="en-US" sz="950" dirty="0"/>
          </a:p>
        </p:txBody>
      </p:sp>
      <p:sp>
        <p:nvSpPr>
          <p:cNvPr id="12" name="Shape 10"/>
          <p:cNvSpPr/>
          <p:nvPr/>
        </p:nvSpPr>
        <p:spPr>
          <a:xfrm>
            <a:off x="621792" y="3675888"/>
            <a:ext cx="3383280" cy="1261872"/>
          </a:xfrm>
          <a:prstGeom prst="rect">
            <a:avLst/>
          </a:prstGeom>
          <a:solidFill>
            <a:srgbClr val="0A0A0F"/>
          </a:solidFill>
          <a:ln w="12700">
            <a:solidFill>
              <a:srgbClr val="2A2A40"/>
            </a:solidFill>
            <a:prstDash val="solid"/>
          </a:ln>
        </p:spPr>
      </p:sp>
      <p:sp>
        <p:nvSpPr>
          <p:cNvPr id="13" name="Text 11"/>
          <p:cNvSpPr/>
          <p:nvPr/>
        </p:nvSpPr>
        <p:spPr>
          <a:xfrm>
            <a:off x="731520" y="3767328"/>
            <a:ext cx="1005840" cy="237744"/>
          </a:xfrm>
          <a:prstGeom prst="rect">
            <a:avLst/>
          </a:prstGeom>
          <a:noFill/>
          <a:ln/>
        </p:spPr>
        <p:txBody>
          <a:bodyPr wrap="square" rtlCol="0" anchor="ctr"/>
          <a:lstStyle/>
          <a:p>
            <a:pPr indent="0" marL="0">
              <a:buNone/>
            </a:pPr>
            <a:r>
              <a:rPr lang="en-US" sz="850" b="1" dirty="0">
                <a:solidFill>
                  <a:srgbClr val="FBBF24"/>
                </a:solidFill>
                <a:latin typeface="Courier New" pitchFamily="34" charset="0"/>
                <a:ea typeface="Courier New" pitchFamily="34" charset="-122"/>
                <a:cs typeface="Courier New" pitchFamily="34" charset="-120"/>
              </a:rPr>
              <a:t>Wk 3</a:t>
            </a:r>
            <a:endParaRPr lang="en-US" sz="850" dirty="0"/>
          </a:p>
        </p:txBody>
      </p:sp>
      <p:sp>
        <p:nvSpPr>
          <p:cNvPr id="14" name="Text 12"/>
          <p:cNvSpPr/>
          <p:nvPr/>
        </p:nvSpPr>
        <p:spPr>
          <a:xfrm>
            <a:off x="731520" y="399592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Cryptography &amp; PKI</a:t>
            </a:r>
            <a:endParaRPr lang="en-US" sz="1200" dirty="0"/>
          </a:p>
        </p:txBody>
      </p:sp>
      <p:sp>
        <p:nvSpPr>
          <p:cNvPr id="15" name="Text 13"/>
          <p:cNvSpPr/>
          <p:nvPr/>
        </p:nvSpPr>
        <p:spPr>
          <a:xfrm>
            <a:off x="731520" y="437997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AES/RSA/ECC • TLS 1.3 handshake • OpenSSL mastery • SSH keys</a:t>
            </a:r>
            <a:endParaRPr lang="en-US" sz="950" dirty="0"/>
          </a:p>
        </p:txBody>
      </p:sp>
      <p:sp>
        <p:nvSpPr>
          <p:cNvPr id="16" name="Shape 14"/>
          <p:cNvSpPr/>
          <p:nvPr/>
        </p:nvSpPr>
        <p:spPr>
          <a:xfrm>
            <a:off x="621792" y="5093208"/>
            <a:ext cx="3383280" cy="1261872"/>
          </a:xfrm>
          <a:prstGeom prst="rect">
            <a:avLst/>
          </a:prstGeom>
          <a:solidFill>
            <a:srgbClr val="0A0A0F"/>
          </a:solidFill>
          <a:ln w="12700">
            <a:solidFill>
              <a:srgbClr val="2A2A40"/>
            </a:solidFill>
            <a:prstDash val="solid"/>
          </a:ln>
        </p:spPr>
      </p:sp>
      <p:sp>
        <p:nvSpPr>
          <p:cNvPr id="17" name="Text 15"/>
          <p:cNvSpPr/>
          <p:nvPr/>
        </p:nvSpPr>
        <p:spPr>
          <a:xfrm>
            <a:off x="731520" y="5184648"/>
            <a:ext cx="1005840" cy="237744"/>
          </a:xfrm>
          <a:prstGeom prst="rect">
            <a:avLst/>
          </a:prstGeom>
          <a:noFill/>
          <a:ln/>
        </p:spPr>
        <p:txBody>
          <a:bodyPr wrap="square" rtlCol="0" anchor="ctr"/>
          <a:lstStyle/>
          <a:p>
            <a:pPr indent="0" marL="0">
              <a:buNone/>
            </a:pPr>
            <a:r>
              <a:rPr lang="en-US" sz="850" b="1" dirty="0">
                <a:solidFill>
                  <a:srgbClr val="FBBF24"/>
                </a:solidFill>
                <a:latin typeface="Courier New" pitchFamily="34" charset="0"/>
                <a:ea typeface="Courier New" pitchFamily="34" charset="-122"/>
                <a:cs typeface="Courier New" pitchFamily="34" charset="-120"/>
              </a:rPr>
              <a:t>Wk 4</a:t>
            </a:r>
            <a:endParaRPr lang="en-US" sz="850" dirty="0"/>
          </a:p>
        </p:txBody>
      </p:sp>
      <p:sp>
        <p:nvSpPr>
          <p:cNvPr id="18" name="Text 16"/>
          <p:cNvSpPr/>
          <p:nvPr/>
        </p:nvSpPr>
        <p:spPr>
          <a:xfrm>
            <a:off x="731520" y="541324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Network Security begins</a:t>
            </a:r>
            <a:endParaRPr lang="en-US" sz="1200" dirty="0"/>
          </a:p>
        </p:txBody>
      </p:sp>
      <p:sp>
        <p:nvSpPr>
          <p:cNvPr id="19" name="Text 17"/>
          <p:cNvSpPr/>
          <p:nvPr/>
        </p:nvSpPr>
        <p:spPr>
          <a:xfrm>
            <a:off x="731520" y="579729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TCP/IP • Wireshark • Nmap scanning • Protocol deep dive</a:t>
            </a:r>
            <a:endParaRPr lang="en-US" sz="950" dirty="0"/>
          </a:p>
        </p:txBody>
      </p:sp>
      <p:sp>
        <p:nvSpPr>
          <p:cNvPr id="20" name="Shape 18"/>
          <p:cNvSpPr/>
          <p:nvPr/>
        </p:nvSpPr>
        <p:spPr>
          <a:xfrm>
            <a:off x="4343400" y="1691640"/>
            <a:ext cx="3703320" cy="4892040"/>
          </a:xfrm>
          <a:prstGeom prst="rect">
            <a:avLst/>
          </a:prstGeom>
          <a:solidFill>
            <a:srgbClr val="1A1A28"/>
          </a:solidFill>
          <a:ln w="12700">
            <a:solidFill>
              <a:srgbClr val="2A2A40"/>
            </a:solidFill>
            <a:prstDash val="solid"/>
          </a:ln>
        </p:spPr>
      </p:sp>
      <p:sp>
        <p:nvSpPr>
          <p:cNvPr id="21" name="Shape 19"/>
          <p:cNvSpPr/>
          <p:nvPr/>
        </p:nvSpPr>
        <p:spPr>
          <a:xfrm>
            <a:off x="4343400" y="1691640"/>
            <a:ext cx="3703320" cy="36576"/>
          </a:xfrm>
          <a:prstGeom prst="rect">
            <a:avLst/>
          </a:prstGeom>
          <a:solidFill>
            <a:srgbClr val="FB7185"/>
          </a:solidFill>
          <a:ln/>
        </p:spPr>
      </p:sp>
      <p:sp>
        <p:nvSpPr>
          <p:cNvPr id="22" name="Text 20"/>
          <p:cNvSpPr/>
          <p:nvPr/>
        </p:nvSpPr>
        <p:spPr>
          <a:xfrm>
            <a:off x="4507992" y="1801368"/>
            <a:ext cx="3429000" cy="292608"/>
          </a:xfrm>
          <a:prstGeom prst="rect">
            <a:avLst/>
          </a:prstGeom>
          <a:noFill/>
          <a:ln/>
        </p:spPr>
        <p:txBody>
          <a:bodyPr wrap="square" rtlCol="0" anchor="ctr"/>
          <a:lstStyle/>
          <a:p>
            <a:pPr indent="0" marL="0">
              <a:buNone/>
            </a:pPr>
            <a:r>
              <a:rPr lang="en-US" sz="1000" b="1" spc="200" kern="0" dirty="0">
                <a:solidFill>
                  <a:srgbClr val="FB7185"/>
                </a:solidFill>
                <a:latin typeface="Courier New" pitchFamily="34" charset="0"/>
                <a:ea typeface="Courier New" pitchFamily="34" charset="-122"/>
                <a:cs typeface="Courier New" pitchFamily="34" charset="-120"/>
              </a:rPr>
              <a:t>MONTH 2 — Wk 5–8</a:t>
            </a:r>
            <a:endParaRPr lang="en-US" sz="1000" dirty="0"/>
          </a:p>
        </p:txBody>
      </p:sp>
      <p:sp>
        <p:nvSpPr>
          <p:cNvPr id="23" name="Shape 21"/>
          <p:cNvSpPr/>
          <p:nvPr/>
        </p:nvSpPr>
        <p:spPr>
          <a:xfrm>
            <a:off x="4507992" y="2258568"/>
            <a:ext cx="3383280" cy="1261872"/>
          </a:xfrm>
          <a:prstGeom prst="rect">
            <a:avLst/>
          </a:prstGeom>
          <a:solidFill>
            <a:srgbClr val="0A0A0F"/>
          </a:solidFill>
          <a:ln w="12700">
            <a:solidFill>
              <a:srgbClr val="2A2A40"/>
            </a:solidFill>
            <a:prstDash val="solid"/>
          </a:ln>
        </p:spPr>
      </p:sp>
      <p:sp>
        <p:nvSpPr>
          <p:cNvPr id="24" name="Text 22"/>
          <p:cNvSpPr/>
          <p:nvPr/>
        </p:nvSpPr>
        <p:spPr>
          <a:xfrm>
            <a:off x="4617720" y="2350008"/>
            <a:ext cx="1005840" cy="237744"/>
          </a:xfrm>
          <a:prstGeom prst="rect">
            <a:avLst/>
          </a:prstGeom>
          <a:noFill/>
          <a:ln/>
        </p:spPr>
        <p:txBody>
          <a:bodyPr wrap="square" rtlCol="0" anchor="ctr"/>
          <a:lstStyle/>
          <a:p>
            <a:pPr indent="0" marL="0">
              <a:buNone/>
            </a:pPr>
            <a:r>
              <a:rPr lang="en-US" sz="850" b="1" dirty="0">
                <a:solidFill>
                  <a:srgbClr val="FB7185"/>
                </a:solidFill>
                <a:latin typeface="Courier New" pitchFamily="34" charset="0"/>
                <a:ea typeface="Courier New" pitchFamily="34" charset="-122"/>
                <a:cs typeface="Courier New" pitchFamily="34" charset="-120"/>
              </a:rPr>
              <a:t>Wk 5–6</a:t>
            </a:r>
            <a:endParaRPr lang="en-US" sz="850" dirty="0"/>
          </a:p>
        </p:txBody>
      </p:sp>
      <p:sp>
        <p:nvSpPr>
          <p:cNvPr id="25" name="Text 23"/>
          <p:cNvSpPr/>
          <p:nvPr/>
        </p:nvSpPr>
        <p:spPr>
          <a:xfrm>
            <a:off x="4617720" y="257860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Web App Security &amp; VAPT</a:t>
            </a:r>
            <a:endParaRPr lang="en-US" sz="1200" dirty="0"/>
          </a:p>
        </p:txBody>
      </p:sp>
      <p:sp>
        <p:nvSpPr>
          <p:cNvPr id="26" name="Text 24"/>
          <p:cNvSpPr/>
          <p:nvPr/>
        </p:nvSpPr>
        <p:spPr>
          <a:xfrm>
            <a:off x="4617720" y="296265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OWASP Top 10 • Burp Suite • SQLi • XSS • API testing</a:t>
            </a:r>
            <a:endParaRPr lang="en-US" sz="950" dirty="0"/>
          </a:p>
        </p:txBody>
      </p:sp>
      <p:sp>
        <p:nvSpPr>
          <p:cNvPr id="27" name="Shape 25"/>
          <p:cNvSpPr/>
          <p:nvPr/>
        </p:nvSpPr>
        <p:spPr>
          <a:xfrm>
            <a:off x="4507992" y="3675888"/>
            <a:ext cx="3383280" cy="1261872"/>
          </a:xfrm>
          <a:prstGeom prst="rect">
            <a:avLst/>
          </a:prstGeom>
          <a:solidFill>
            <a:srgbClr val="0A0A0F"/>
          </a:solidFill>
          <a:ln w="12700">
            <a:solidFill>
              <a:srgbClr val="2A2A40"/>
            </a:solidFill>
            <a:prstDash val="solid"/>
          </a:ln>
        </p:spPr>
      </p:sp>
      <p:sp>
        <p:nvSpPr>
          <p:cNvPr id="28" name="Text 26"/>
          <p:cNvSpPr/>
          <p:nvPr/>
        </p:nvSpPr>
        <p:spPr>
          <a:xfrm>
            <a:off x="4617720" y="3767328"/>
            <a:ext cx="1005840" cy="237744"/>
          </a:xfrm>
          <a:prstGeom prst="rect">
            <a:avLst/>
          </a:prstGeom>
          <a:noFill/>
          <a:ln/>
        </p:spPr>
        <p:txBody>
          <a:bodyPr wrap="square" rtlCol="0" anchor="ctr"/>
          <a:lstStyle/>
          <a:p>
            <a:pPr indent="0" marL="0">
              <a:buNone/>
            </a:pPr>
            <a:r>
              <a:rPr lang="en-US" sz="850" b="1" dirty="0">
                <a:solidFill>
                  <a:srgbClr val="FB7185"/>
                </a:solidFill>
                <a:latin typeface="Courier New" pitchFamily="34" charset="0"/>
                <a:ea typeface="Courier New" pitchFamily="34" charset="-122"/>
                <a:cs typeface="Courier New" pitchFamily="34" charset="-120"/>
              </a:rPr>
              <a:t>Wk 6–7</a:t>
            </a:r>
            <a:endParaRPr lang="en-US" sz="850" dirty="0"/>
          </a:p>
        </p:txBody>
      </p:sp>
      <p:sp>
        <p:nvSpPr>
          <p:cNvPr id="29" name="Text 27"/>
          <p:cNvSpPr/>
          <p:nvPr/>
        </p:nvSpPr>
        <p:spPr>
          <a:xfrm>
            <a:off x="4617720" y="399592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Ethical Hacking — CEH Track</a:t>
            </a:r>
            <a:endParaRPr lang="en-US" sz="1200" dirty="0"/>
          </a:p>
        </p:txBody>
      </p:sp>
      <p:sp>
        <p:nvSpPr>
          <p:cNvPr id="30" name="Text 28"/>
          <p:cNvSpPr/>
          <p:nvPr/>
        </p:nvSpPr>
        <p:spPr>
          <a:xfrm>
            <a:off x="4617720" y="437997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Metasploit • Privilege escalation • GoPhish • Password attacks</a:t>
            </a:r>
            <a:endParaRPr lang="en-US" sz="950" dirty="0"/>
          </a:p>
        </p:txBody>
      </p:sp>
      <p:sp>
        <p:nvSpPr>
          <p:cNvPr id="31" name="Shape 29"/>
          <p:cNvSpPr/>
          <p:nvPr/>
        </p:nvSpPr>
        <p:spPr>
          <a:xfrm>
            <a:off x="4507992" y="5093208"/>
            <a:ext cx="3383280" cy="1261872"/>
          </a:xfrm>
          <a:prstGeom prst="rect">
            <a:avLst/>
          </a:prstGeom>
          <a:solidFill>
            <a:srgbClr val="0A0A0F"/>
          </a:solidFill>
          <a:ln w="12700">
            <a:solidFill>
              <a:srgbClr val="2A2A40"/>
            </a:solidFill>
            <a:prstDash val="solid"/>
          </a:ln>
        </p:spPr>
      </p:sp>
      <p:sp>
        <p:nvSpPr>
          <p:cNvPr id="32" name="Text 30"/>
          <p:cNvSpPr/>
          <p:nvPr/>
        </p:nvSpPr>
        <p:spPr>
          <a:xfrm>
            <a:off x="4617720" y="5184648"/>
            <a:ext cx="1005840" cy="237744"/>
          </a:xfrm>
          <a:prstGeom prst="rect">
            <a:avLst/>
          </a:prstGeom>
          <a:noFill/>
          <a:ln/>
        </p:spPr>
        <p:txBody>
          <a:bodyPr wrap="square" rtlCol="0" anchor="ctr"/>
          <a:lstStyle/>
          <a:p>
            <a:pPr indent="0" marL="0">
              <a:buNone/>
            </a:pPr>
            <a:r>
              <a:rPr lang="en-US" sz="850" b="1" dirty="0">
                <a:solidFill>
                  <a:srgbClr val="FB7185"/>
                </a:solidFill>
                <a:latin typeface="Courier New" pitchFamily="34" charset="0"/>
                <a:ea typeface="Courier New" pitchFamily="34" charset="-122"/>
                <a:cs typeface="Courier New" pitchFamily="34" charset="-120"/>
              </a:rPr>
              <a:t>Wk 7–8</a:t>
            </a:r>
            <a:endParaRPr lang="en-US" sz="850" dirty="0"/>
          </a:p>
        </p:txBody>
      </p:sp>
      <p:sp>
        <p:nvSpPr>
          <p:cNvPr id="33" name="Text 31"/>
          <p:cNvSpPr/>
          <p:nvPr/>
        </p:nvSpPr>
        <p:spPr>
          <a:xfrm>
            <a:off x="4617720" y="541324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SOC &amp; SIEM Operations</a:t>
            </a:r>
            <a:endParaRPr lang="en-US" sz="1200" dirty="0"/>
          </a:p>
        </p:txBody>
      </p:sp>
      <p:sp>
        <p:nvSpPr>
          <p:cNvPr id="34" name="Text 32"/>
          <p:cNvSpPr/>
          <p:nvPr/>
        </p:nvSpPr>
        <p:spPr>
          <a:xfrm>
            <a:off x="4617720" y="579729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Wazuh deployment • Splunk SPL • MITRE ATT&amp;CK • Incident response</a:t>
            </a:r>
            <a:endParaRPr lang="en-US" sz="950" dirty="0"/>
          </a:p>
        </p:txBody>
      </p:sp>
      <p:sp>
        <p:nvSpPr>
          <p:cNvPr id="35" name="Shape 33"/>
          <p:cNvSpPr/>
          <p:nvPr/>
        </p:nvSpPr>
        <p:spPr>
          <a:xfrm>
            <a:off x="8229600" y="1691640"/>
            <a:ext cx="3703320" cy="4892040"/>
          </a:xfrm>
          <a:prstGeom prst="rect">
            <a:avLst/>
          </a:prstGeom>
          <a:solidFill>
            <a:srgbClr val="1A1A28"/>
          </a:solidFill>
          <a:ln w="12700">
            <a:solidFill>
              <a:srgbClr val="2A2A40"/>
            </a:solidFill>
            <a:prstDash val="solid"/>
          </a:ln>
        </p:spPr>
      </p:sp>
      <p:sp>
        <p:nvSpPr>
          <p:cNvPr id="36" name="Shape 34"/>
          <p:cNvSpPr/>
          <p:nvPr/>
        </p:nvSpPr>
        <p:spPr>
          <a:xfrm>
            <a:off x="8229600" y="1691640"/>
            <a:ext cx="3703320" cy="36576"/>
          </a:xfrm>
          <a:prstGeom prst="rect">
            <a:avLst/>
          </a:prstGeom>
          <a:solidFill>
            <a:srgbClr val="A855F7"/>
          </a:solidFill>
          <a:ln/>
        </p:spPr>
      </p:sp>
      <p:sp>
        <p:nvSpPr>
          <p:cNvPr id="37" name="Text 35"/>
          <p:cNvSpPr/>
          <p:nvPr/>
        </p:nvSpPr>
        <p:spPr>
          <a:xfrm>
            <a:off x="8394192" y="1801368"/>
            <a:ext cx="3429000" cy="292608"/>
          </a:xfrm>
          <a:prstGeom prst="rect">
            <a:avLst/>
          </a:prstGeom>
          <a:noFill/>
          <a:ln/>
        </p:spPr>
        <p:txBody>
          <a:bodyPr wrap="square" rtlCol="0" anchor="ctr"/>
          <a:lstStyle/>
          <a:p>
            <a:pPr indent="0" marL="0">
              <a:buNone/>
            </a:pPr>
            <a:r>
              <a:rPr lang="en-US" sz="1000" b="1" spc="200" kern="0" dirty="0">
                <a:solidFill>
                  <a:srgbClr val="A855F7"/>
                </a:solidFill>
                <a:latin typeface="Courier New" pitchFamily="34" charset="0"/>
                <a:ea typeface="Courier New" pitchFamily="34" charset="-122"/>
                <a:cs typeface="Courier New" pitchFamily="34" charset="-120"/>
              </a:rPr>
              <a:t>MONTH 3 — Wk 9–12</a:t>
            </a:r>
            <a:endParaRPr lang="en-US" sz="1000" dirty="0"/>
          </a:p>
        </p:txBody>
      </p:sp>
      <p:sp>
        <p:nvSpPr>
          <p:cNvPr id="38" name="Shape 36"/>
          <p:cNvSpPr/>
          <p:nvPr/>
        </p:nvSpPr>
        <p:spPr>
          <a:xfrm>
            <a:off x="8394192" y="2258568"/>
            <a:ext cx="3383280" cy="1261872"/>
          </a:xfrm>
          <a:prstGeom prst="rect">
            <a:avLst/>
          </a:prstGeom>
          <a:solidFill>
            <a:srgbClr val="0A0A0F"/>
          </a:solidFill>
          <a:ln w="12700">
            <a:solidFill>
              <a:srgbClr val="2A2A40"/>
            </a:solidFill>
            <a:prstDash val="solid"/>
          </a:ln>
        </p:spPr>
      </p:sp>
      <p:sp>
        <p:nvSpPr>
          <p:cNvPr id="39" name="Text 37"/>
          <p:cNvSpPr/>
          <p:nvPr/>
        </p:nvSpPr>
        <p:spPr>
          <a:xfrm>
            <a:off x="8503920" y="2350008"/>
            <a:ext cx="1005840" cy="237744"/>
          </a:xfrm>
          <a:prstGeom prst="rect">
            <a:avLst/>
          </a:prstGeom>
          <a:noFill/>
          <a:ln/>
        </p:spPr>
        <p:txBody>
          <a:bodyPr wrap="square" rtlCol="0" anchor="ctr"/>
          <a:lstStyle/>
          <a:p>
            <a:pPr indent="0" marL="0">
              <a:buNone/>
            </a:pPr>
            <a:r>
              <a:rPr lang="en-US" sz="850" b="1" dirty="0">
                <a:solidFill>
                  <a:srgbClr val="A855F7"/>
                </a:solidFill>
                <a:latin typeface="Courier New" pitchFamily="34" charset="0"/>
                <a:ea typeface="Courier New" pitchFamily="34" charset="-122"/>
                <a:cs typeface="Courier New" pitchFamily="34" charset="-120"/>
              </a:rPr>
              <a:t>Wk 8–10</a:t>
            </a:r>
            <a:endParaRPr lang="en-US" sz="850" dirty="0"/>
          </a:p>
        </p:txBody>
      </p:sp>
      <p:sp>
        <p:nvSpPr>
          <p:cNvPr id="40" name="Text 38"/>
          <p:cNvSpPr/>
          <p:nvPr/>
        </p:nvSpPr>
        <p:spPr>
          <a:xfrm>
            <a:off x="8503920" y="257860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Cloud + GRC Deep Dive</a:t>
            </a:r>
            <a:endParaRPr lang="en-US" sz="1200" dirty="0"/>
          </a:p>
        </p:txBody>
      </p:sp>
      <p:sp>
        <p:nvSpPr>
          <p:cNvPr id="41" name="Text 39"/>
          <p:cNvSpPr/>
          <p:nvPr/>
        </p:nvSpPr>
        <p:spPr>
          <a:xfrm>
            <a:off x="8503920" y="296265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AWS/Azure security • ISO 27001 • DPDP 2023 • Risk register • SoA</a:t>
            </a:r>
            <a:endParaRPr lang="en-US" sz="950" dirty="0"/>
          </a:p>
        </p:txBody>
      </p:sp>
      <p:sp>
        <p:nvSpPr>
          <p:cNvPr id="42" name="Shape 40"/>
          <p:cNvSpPr/>
          <p:nvPr/>
        </p:nvSpPr>
        <p:spPr>
          <a:xfrm>
            <a:off x="8394192" y="3675888"/>
            <a:ext cx="3383280" cy="1261872"/>
          </a:xfrm>
          <a:prstGeom prst="rect">
            <a:avLst/>
          </a:prstGeom>
          <a:solidFill>
            <a:srgbClr val="0A0A0F"/>
          </a:solidFill>
          <a:ln w="12700">
            <a:solidFill>
              <a:srgbClr val="2A2A40"/>
            </a:solidFill>
            <a:prstDash val="solid"/>
          </a:ln>
        </p:spPr>
      </p:sp>
      <p:sp>
        <p:nvSpPr>
          <p:cNvPr id="43" name="Text 41"/>
          <p:cNvSpPr/>
          <p:nvPr/>
        </p:nvSpPr>
        <p:spPr>
          <a:xfrm>
            <a:off x="8503920" y="3767328"/>
            <a:ext cx="1005840" cy="237744"/>
          </a:xfrm>
          <a:prstGeom prst="rect">
            <a:avLst/>
          </a:prstGeom>
          <a:noFill/>
          <a:ln/>
        </p:spPr>
        <p:txBody>
          <a:bodyPr wrap="square" rtlCol="0" anchor="ctr"/>
          <a:lstStyle/>
          <a:p>
            <a:pPr indent="0" marL="0">
              <a:buNone/>
            </a:pPr>
            <a:r>
              <a:rPr lang="en-US" sz="850" b="1" dirty="0">
                <a:solidFill>
                  <a:srgbClr val="A855F7"/>
                </a:solidFill>
                <a:latin typeface="Courier New" pitchFamily="34" charset="0"/>
                <a:ea typeface="Courier New" pitchFamily="34" charset="-122"/>
                <a:cs typeface="Courier New" pitchFamily="34" charset="-120"/>
              </a:rPr>
              <a:t>Wk 10–11</a:t>
            </a:r>
            <a:endParaRPr lang="en-US" sz="850" dirty="0"/>
          </a:p>
        </p:txBody>
      </p:sp>
      <p:sp>
        <p:nvSpPr>
          <p:cNvPr id="44" name="Text 42"/>
          <p:cNvSpPr/>
          <p:nvPr/>
        </p:nvSpPr>
        <p:spPr>
          <a:xfrm>
            <a:off x="8503920" y="399592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AI-Augmented Security 🤖</a:t>
            </a:r>
            <a:endParaRPr lang="en-US" sz="1200" dirty="0"/>
          </a:p>
        </p:txBody>
      </p:sp>
      <p:sp>
        <p:nvSpPr>
          <p:cNvPr id="45" name="Text 43"/>
          <p:cNvSpPr/>
          <p:nvPr/>
        </p:nvSpPr>
        <p:spPr>
          <a:xfrm>
            <a:off x="8503920" y="437997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Claude MCP • LLM security • AI SOC triage • OWASP LLM Top 10</a:t>
            </a:r>
            <a:endParaRPr lang="en-US" sz="950" dirty="0"/>
          </a:p>
        </p:txBody>
      </p:sp>
      <p:sp>
        <p:nvSpPr>
          <p:cNvPr id="46" name="Shape 44"/>
          <p:cNvSpPr/>
          <p:nvPr/>
        </p:nvSpPr>
        <p:spPr>
          <a:xfrm>
            <a:off x="8394192" y="5093208"/>
            <a:ext cx="3383280" cy="1261872"/>
          </a:xfrm>
          <a:prstGeom prst="rect">
            <a:avLst/>
          </a:prstGeom>
          <a:solidFill>
            <a:srgbClr val="0A0A0F"/>
          </a:solidFill>
          <a:ln w="12700">
            <a:solidFill>
              <a:srgbClr val="2A2A40"/>
            </a:solidFill>
            <a:prstDash val="solid"/>
          </a:ln>
        </p:spPr>
      </p:sp>
      <p:sp>
        <p:nvSpPr>
          <p:cNvPr id="47" name="Text 45"/>
          <p:cNvSpPr/>
          <p:nvPr/>
        </p:nvSpPr>
        <p:spPr>
          <a:xfrm>
            <a:off x="8503920" y="5184648"/>
            <a:ext cx="1005840" cy="237744"/>
          </a:xfrm>
          <a:prstGeom prst="rect">
            <a:avLst/>
          </a:prstGeom>
          <a:noFill/>
          <a:ln/>
        </p:spPr>
        <p:txBody>
          <a:bodyPr wrap="square" rtlCol="0" anchor="ctr"/>
          <a:lstStyle/>
          <a:p>
            <a:pPr indent="0" marL="0">
              <a:buNone/>
            </a:pPr>
            <a:r>
              <a:rPr lang="en-US" sz="850" b="1" dirty="0">
                <a:solidFill>
                  <a:srgbClr val="A855F7"/>
                </a:solidFill>
                <a:latin typeface="Courier New" pitchFamily="34" charset="0"/>
                <a:ea typeface="Courier New" pitchFamily="34" charset="-122"/>
                <a:cs typeface="Courier New" pitchFamily="34" charset="-120"/>
              </a:rPr>
              <a:t>Wk 11–12</a:t>
            </a:r>
            <a:endParaRPr lang="en-US" sz="850" dirty="0"/>
          </a:p>
        </p:txBody>
      </p:sp>
      <p:sp>
        <p:nvSpPr>
          <p:cNvPr id="48" name="Text 46"/>
          <p:cNvSpPr/>
          <p:nvPr/>
        </p:nvSpPr>
        <p:spPr>
          <a:xfrm>
            <a:off x="8503920" y="5413248"/>
            <a:ext cx="3063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Capstone + Career Launch 🚀</a:t>
            </a:r>
            <a:endParaRPr lang="en-US" sz="1200" dirty="0"/>
          </a:p>
        </p:txBody>
      </p:sp>
      <p:sp>
        <p:nvSpPr>
          <p:cNvPr id="49" name="Text 47"/>
          <p:cNvSpPr/>
          <p:nvPr/>
        </p:nvSpPr>
        <p:spPr>
          <a:xfrm>
            <a:off x="8503920" y="5797296"/>
            <a:ext cx="3063240" cy="438912"/>
          </a:xfrm>
          <a:prstGeom prst="rect">
            <a:avLst/>
          </a:prstGeom>
          <a:noFill/>
          <a:ln/>
        </p:spPr>
        <p:txBody>
          <a:bodyPr wrap="square" rtlCol="0" anchor="ctr"/>
          <a:lstStyle/>
          <a:p>
            <a:pPr indent="0" marL="0">
              <a:lnSpc>
                <a:spcPct val="120000"/>
              </a:lnSpc>
              <a:buNone/>
            </a:pPr>
            <a:r>
              <a:rPr lang="en-US" sz="950" dirty="0">
                <a:solidFill>
                  <a:srgbClr val="8888AA"/>
                </a:solidFill>
                <a:latin typeface="Arial" pitchFamily="34" charset="0"/>
                <a:ea typeface="Arial" pitchFamily="34" charset="-122"/>
                <a:cs typeface="Arial" pitchFamily="34" charset="-120"/>
              </a:rPr>
              <a:t>8 portfolio projects • Mock interviews • LinkedIn • Job applications live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FB7185"/>
                </a:solidFill>
                <a:latin typeface="Courier New" pitchFamily="34" charset="0"/>
                <a:ea typeface="Courier New" pitchFamily="34" charset="-122"/>
                <a:cs typeface="Courier New" pitchFamily="34" charset="-120"/>
              </a:rPr>
              <a:t>BUILT FOR INDIA</a:t>
            </a:r>
            <a:endParaRPr lang="en-US" sz="1100" dirty="0"/>
          </a:p>
        </p:txBody>
      </p:sp>
      <p:sp>
        <p:nvSpPr>
          <p:cNvPr id="4" name="Text 2"/>
          <p:cNvSpPr/>
          <p:nvPr/>
        </p:nvSpPr>
        <p:spPr>
          <a:xfrm>
            <a:off x="457200" y="713232"/>
            <a:ext cx="8229600" cy="1325880"/>
          </a:xfrm>
          <a:prstGeom prst="rect">
            <a:avLst/>
          </a:prstGeom>
          <a:noFill/>
          <a:ln/>
        </p:spPr>
        <p:txBody>
          <a:bodyPr wrap="square" rtlCol="0" anchor="ctr"/>
          <a:lstStyle/>
          <a:p>
            <a:pPr indent="0" marL="0">
              <a:lnSpc>
                <a:spcPct val="100000"/>
              </a:lnSpc>
              <a:buNone/>
            </a:pPr>
            <a:r>
              <a:rPr lang="en-US" sz="4400" b="1" dirty="0">
                <a:solidFill>
                  <a:srgbClr val="FFFFFF"/>
                </a:solidFill>
                <a:latin typeface="Arial Black" pitchFamily="34" charset="0"/>
                <a:ea typeface="Arial Black" pitchFamily="34" charset="-122"/>
                <a:cs typeface="Arial Black" pitchFamily="34" charset="-120"/>
              </a:rPr>
              <a:t>What Global Courses Don't Teach You.</a:t>
            </a:r>
            <a:endParaRPr lang="en-US" sz="4400" dirty="0"/>
          </a:p>
          <a:p>
            <a:pPr indent="0" marL="0">
              <a:lnSpc>
                <a:spcPct val="100000"/>
              </a:lnSpc>
              <a:buNone/>
            </a:pPr>
            <a:r>
              <a:rPr lang="en-US" sz="4400" b="1" dirty="0">
                <a:solidFill>
                  <a:srgbClr val="FFFFFF"/>
                </a:solidFill>
                <a:latin typeface="Arial Black" pitchFamily="34" charset="0"/>
                <a:ea typeface="Arial Black" pitchFamily="34" charset="-122"/>
                <a:cs typeface="Arial Black" pitchFamily="34" charset="-120"/>
              </a:rPr>
              <a:t>We Do.</a:t>
            </a:r>
            <a:endParaRPr lang="en-US" sz="4400" dirty="0"/>
          </a:p>
        </p:txBody>
      </p:sp>
      <p:sp>
        <p:nvSpPr>
          <p:cNvPr id="5" name="Text 3"/>
          <p:cNvSpPr/>
          <p:nvPr/>
        </p:nvSpPr>
        <p:spPr>
          <a:xfrm>
            <a:off x="457200" y="2176272"/>
            <a:ext cx="7772400" cy="530352"/>
          </a:xfrm>
          <a:prstGeom prst="rect">
            <a:avLst/>
          </a:prstGeom>
          <a:noFill/>
          <a:ln/>
        </p:spPr>
        <p:txBody>
          <a:bodyPr wrap="square" rtlCol="0" anchor="ctr"/>
          <a:lstStyle/>
          <a:p>
            <a:pPr indent="0" marL="0">
              <a:lnSpc>
                <a:spcPct val="140000"/>
              </a:lnSpc>
              <a:buNone/>
            </a:pPr>
            <a:r>
              <a:rPr lang="en-US" sz="1300" dirty="0">
                <a:solidFill>
                  <a:srgbClr val="8888AA"/>
                </a:solidFill>
                <a:latin typeface="Arial" pitchFamily="34" charset="0"/>
                <a:ea typeface="Arial" pitchFamily="34" charset="-122"/>
                <a:cs typeface="Arial" pitchFamily="34" charset="-120"/>
              </a:rPr>
              <a:t>EC-Council, CompTIA, SANS — all excellent. All built for US/European markets. None of them cover what Indian employers actually ask about in round 2 interviews.</a:t>
            </a:r>
            <a:endParaRPr lang="en-US" sz="1300" dirty="0"/>
          </a:p>
        </p:txBody>
      </p:sp>
      <p:sp>
        <p:nvSpPr>
          <p:cNvPr id="6" name="Shape 4"/>
          <p:cNvSpPr/>
          <p:nvPr/>
        </p:nvSpPr>
        <p:spPr>
          <a:xfrm>
            <a:off x="457200" y="2880360"/>
            <a:ext cx="5486400" cy="1691640"/>
          </a:xfrm>
          <a:prstGeom prst="rect">
            <a:avLst/>
          </a:prstGeom>
          <a:solidFill>
            <a:srgbClr val="1A1A28"/>
          </a:solidFill>
          <a:ln w="12700">
            <a:solidFill>
              <a:srgbClr val="F5C518"/>
            </a:solidFill>
            <a:prstDash val="solid"/>
          </a:ln>
        </p:spPr>
      </p:sp>
      <p:sp>
        <p:nvSpPr>
          <p:cNvPr id="7" name="Shape 5"/>
          <p:cNvSpPr/>
          <p:nvPr/>
        </p:nvSpPr>
        <p:spPr>
          <a:xfrm>
            <a:off x="457200" y="2880360"/>
            <a:ext cx="45720" cy="1691640"/>
          </a:xfrm>
          <a:prstGeom prst="rect">
            <a:avLst/>
          </a:prstGeom>
          <a:solidFill>
            <a:srgbClr val="F5C518"/>
          </a:solidFill>
          <a:ln/>
        </p:spPr>
      </p:sp>
      <p:sp>
        <p:nvSpPr>
          <p:cNvPr id="8" name="Text 6"/>
          <p:cNvSpPr/>
          <p:nvPr/>
        </p:nvSpPr>
        <p:spPr>
          <a:xfrm>
            <a:off x="640080" y="2971800"/>
            <a:ext cx="5120640" cy="320040"/>
          </a:xfrm>
          <a:prstGeom prst="rect">
            <a:avLst/>
          </a:prstGeom>
          <a:noFill/>
          <a:ln/>
        </p:spPr>
        <p:txBody>
          <a:bodyPr wrap="square" rtlCol="0" anchor="ctr"/>
          <a:lstStyle/>
          <a:p>
            <a:pPr indent="0" marL="0">
              <a:buNone/>
            </a:pPr>
            <a:r>
              <a:rPr lang="en-US" sz="1300" b="1" dirty="0">
                <a:solidFill>
                  <a:srgbClr val="F5C518"/>
                </a:solidFill>
                <a:latin typeface="Arial" pitchFamily="34" charset="0"/>
                <a:ea typeface="Arial" pitchFamily="34" charset="-122"/>
                <a:cs typeface="Arial" pitchFamily="34" charset="-120"/>
              </a:rPr>
              <a:t>🇮🇳  DPDP Act 2023</a:t>
            </a:r>
            <a:endParaRPr lang="en-US" sz="1300" dirty="0"/>
          </a:p>
        </p:txBody>
      </p:sp>
      <p:sp>
        <p:nvSpPr>
          <p:cNvPr id="9" name="Text 7"/>
          <p:cNvSpPr/>
          <p:nvPr/>
        </p:nvSpPr>
        <p:spPr>
          <a:xfrm>
            <a:off x="640080" y="3337560"/>
            <a:ext cx="5120640" cy="1115568"/>
          </a:xfrm>
          <a:prstGeom prst="rect">
            <a:avLst/>
          </a:prstGeom>
          <a:noFill/>
          <a:ln/>
        </p:spPr>
        <p:txBody>
          <a:bodyPr wrap="square" rtlCol="0" anchor="ctr"/>
          <a:lstStyle/>
          <a:p>
            <a:pPr indent="0" marL="0">
              <a:lnSpc>
                <a:spcPct val="128000"/>
              </a:lnSpc>
              <a:buNone/>
            </a:pPr>
            <a:r>
              <a:rPr lang="en-US" sz="1050" dirty="0">
                <a:solidFill>
                  <a:srgbClr val="8888AA"/>
                </a:solidFill>
                <a:latin typeface="Arial" pitchFamily="34" charset="0"/>
                <a:ea typeface="Arial" pitchFamily="34" charset="-122"/>
                <a:cs typeface="Arial" pitchFamily="34" charset="-120"/>
              </a:rPr>
              <a:t>India's data privacy law — the most important new regulation for every Indian company. Full coverage including Data Fiduciaries, consent management, breach notification to DPBI, rights of Data Principals. No other cybersecurity course in India covers this depth.</a:t>
            </a:r>
            <a:endParaRPr lang="en-US" sz="1050" dirty="0"/>
          </a:p>
        </p:txBody>
      </p:sp>
      <p:sp>
        <p:nvSpPr>
          <p:cNvPr id="10" name="Shape 8"/>
          <p:cNvSpPr/>
          <p:nvPr/>
        </p:nvSpPr>
        <p:spPr>
          <a:xfrm>
            <a:off x="6126480" y="2880360"/>
            <a:ext cx="5486400" cy="1691640"/>
          </a:xfrm>
          <a:prstGeom prst="rect">
            <a:avLst/>
          </a:prstGeom>
          <a:solidFill>
            <a:srgbClr val="1A1A28"/>
          </a:solidFill>
          <a:ln w="12700">
            <a:solidFill>
              <a:srgbClr val="2DD4BF"/>
            </a:solidFill>
            <a:prstDash val="solid"/>
          </a:ln>
        </p:spPr>
      </p:sp>
      <p:sp>
        <p:nvSpPr>
          <p:cNvPr id="11" name="Shape 9"/>
          <p:cNvSpPr/>
          <p:nvPr/>
        </p:nvSpPr>
        <p:spPr>
          <a:xfrm>
            <a:off x="6126480" y="2880360"/>
            <a:ext cx="45720" cy="1691640"/>
          </a:xfrm>
          <a:prstGeom prst="rect">
            <a:avLst/>
          </a:prstGeom>
          <a:solidFill>
            <a:srgbClr val="2DD4BF"/>
          </a:solidFill>
          <a:ln/>
        </p:spPr>
      </p:sp>
      <p:sp>
        <p:nvSpPr>
          <p:cNvPr id="12" name="Text 10"/>
          <p:cNvSpPr/>
          <p:nvPr/>
        </p:nvSpPr>
        <p:spPr>
          <a:xfrm>
            <a:off x="6309360" y="2971800"/>
            <a:ext cx="5120640" cy="320040"/>
          </a:xfrm>
          <a:prstGeom prst="rect">
            <a:avLst/>
          </a:prstGeom>
          <a:noFill/>
          <a:ln/>
        </p:spPr>
        <p:txBody>
          <a:bodyPr wrap="square" rtlCol="0" anchor="ctr"/>
          <a:lstStyle/>
          <a:p>
            <a:pPr indent="0" marL="0">
              <a:buNone/>
            </a:pPr>
            <a:r>
              <a:rPr lang="en-US" sz="1300" b="1" dirty="0">
                <a:solidFill>
                  <a:srgbClr val="2DD4BF"/>
                </a:solidFill>
                <a:latin typeface="Arial" pitchFamily="34" charset="0"/>
                <a:ea typeface="Arial" pitchFamily="34" charset="-122"/>
                <a:cs typeface="Arial" pitchFamily="34" charset="-120"/>
              </a:rPr>
              <a:t>🇮🇳  CERT-In Directions 2022</a:t>
            </a:r>
            <a:endParaRPr lang="en-US" sz="1300" dirty="0"/>
          </a:p>
        </p:txBody>
      </p:sp>
      <p:sp>
        <p:nvSpPr>
          <p:cNvPr id="13" name="Text 11"/>
          <p:cNvSpPr/>
          <p:nvPr/>
        </p:nvSpPr>
        <p:spPr>
          <a:xfrm>
            <a:off x="6309360" y="3337560"/>
            <a:ext cx="5120640" cy="1115568"/>
          </a:xfrm>
          <a:prstGeom prst="rect">
            <a:avLst/>
          </a:prstGeom>
          <a:noFill/>
          <a:ln/>
        </p:spPr>
        <p:txBody>
          <a:bodyPr wrap="square" rtlCol="0" anchor="ctr"/>
          <a:lstStyle/>
          <a:p>
            <a:pPr indent="0" marL="0">
              <a:lnSpc>
                <a:spcPct val="128000"/>
              </a:lnSpc>
              <a:buNone/>
            </a:pPr>
            <a:r>
              <a:rPr lang="en-US" sz="1050" dirty="0">
                <a:solidFill>
                  <a:srgbClr val="8888AA"/>
                </a:solidFill>
                <a:latin typeface="Arial" pitchFamily="34" charset="0"/>
                <a:ea typeface="Arial" pitchFamily="34" charset="-122"/>
                <a:cs typeface="Arial" pitchFamily="34" charset="-120"/>
              </a:rPr>
              <a:t>Mandatory 6-hour breach reporting, 180-day log retention, VPN user logging requirements. Every SOC analyst in India operates under these directions. Every incident response engagement references them. Covered with implementation labs.</a:t>
            </a:r>
            <a:endParaRPr lang="en-US" sz="1050" dirty="0"/>
          </a:p>
        </p:txBody>
      </p:sp>
      <p:sp>
        <p:nvSpPr>
          <p:cNvPr id="14" name="Shape 12"/>
          <p:cNvSpPr/>
          <p:nvPr/>
        </p:nvSpPr>
        <p:spPr>
          <a:xfrm>
            <a:off x="457200" y="4754880"/>
            <a:ext cx="5486400" cy="1691640"/>
          </a:xfrm>
          <a:prstGeom prst="rect">
            <a:avLst/>
          </a:prstGeom>
          <a:solidFill>
            <a:srgbClr val="1A1A28"/>
          </a:solidFill>
          <a:ln w="12700">
            <a:solidFill>
              <a:srgbClr val="A855F7"/>
            </a:solidFill>
            <a:prstDash val="solid"/>
          </a:ln>
        </p:spPr>
      </p:sp>
      <p:sp>
        <p:nvSpPr>
          <p:cNvPr id="15" name="Shape 13"/>
          <p:cNvSpPr/>
          <p:nvPr/>
        </p:nvSpPr>
        <p:spPr>
          <a:xfrm>
            <a:off x="457200" y="4754880"/>
            <a:ext cx="45720" cy="1691640"/>
          </a:xfrm>
          <a:prstGeom prst="rect">
            <a:avLst/>
          </a:prstGeom>
          <a:solidFill>
            <a:srgbClr val="A855F7"/>
          </a:solidFill>
          <a:ln/>
        </p:spPr>
      </p:sp>
      <p:sp>
        <p:nvSpPr>
          <p:cNvPr id="16" name="Text 14"/>
          <p:cNvSpPr/>
          <p:nvPr/>
        </p:nvSpPr>
        <p:spPr>
          <a:xfrm>
            <a:off x="640080" y="4846320"/>
            <a:ext cx="5120640" cy="320040"/>
          </a:xfrm>
          <a:prstGeom prst="rect">
            <a:avLst/>
          </a:prstGeom>
          <a:noFill/>
          <a:ln/>
        </p:spPr>
        <p:txBody>
          <a:bodyPr wrap="square" rtlCol="0" anchor="ctr"/>
          <a:lstStyle/>
          <a:p>
            <a:pPr indent="0" marL="0">
              <a:buNone/>
            </a:pPr>
            <a:r>
              <a:rPr lang="en-US" sz="1300" b="1" dirty="0">
                <a:solidFill>
                  <a:srgbClr val="A855F7"/>
                </a:solidFill>
                <a:latin typeface="Arial" pitchFamily="34" charset="0"/>
                <a:ea typeface="Arial" pitchFamily="34" charset="-122"/>
                <a:cs typeface="Arial" pitchFamily="34" charset="-120"/>
              </a:rPr>
              <a:t>🇮🇳  IT Act 2000 + Amendments</a:t>
            </a:r>
            <a:endParaRPr lang="en-US" sz="1300" dirty="0"/>
          </a:p>
        </p:txBody>
      </p:sp>
      <p:sp>
        <p:nvSpPr>
          <p:cNvPr id="17" name="Text 15"/>
          <p:cNvSpPr/>
          <p:nvPr/>
        </p:nvSpPr>
        <p:spPr>
          <a:xfrm>
            <a:off x="640080" y="5212080"/>
            <a:ext cx="5120640" cy="1115568"/>
          </a:xfrm>
          <a:prstGeom prst="rect">
            <a:avLst/>
          </a:prstGeom>
          <a:noFill/>
          <a:ln/>
        </p:spPr>
        <p:txBody>
          <a:bodyPr wrap="square" rtlCol="0" anchor="ctr"/>
          <a:lstStyle/>
          <a:p>
            <a:pPr indent="0" marL="0">
              <a:lnSpc>
                <a:spcPct val="128000"/>
              </a:lnSpc>
              <a:buNone/>
            </a:pPr>
            <a:r>
              <a:rPr lang="en-US" sz="1050" dirty="0">
                <a:solidFill>
                  <a:srgbClr val="8888AA"/>
                </a:solidFill>
                <a:latin typeface="Arial" pitchFamily="34" charset="0"/>
                <a:ea typeface="Arial" pitchFamily="34" charset="-122"/>
                <a:cs typeface="Arial" pitchFamily="34" charset="-120"/>
              </a:rPr>
              <a:t>Section 43A (data protection liability), Section 66 (cyber offences), Section 72A (disclosure of information). Understanding what constitutes a cyber crime under Indian law before you do any security testing.</a:t>
            </a:r>
            <a:endParaRPr lang="en-US" sz="1050" dirty="0"/>
          </a:p>
        </p:txBody>
      </p:sp>
      <p:sp>
        <p:nvSpPr>
          <p:cNvPr id="18" name="Shape 16"/>
          <p:cNvSpPr/>
          <p:nvPr/>
        </p:nvSpPr>
        <p:spPr>
          <a:xfrm>
            <a:off x="6126480" y="4754880"/>
            <a:ext cx="5486400" cy="1691640"/>
          </a:xfrm>
          <a:prstGeom prst="rect">
            <a:avLst/>
          </a:prstGeom>
          <a:solidFill>
            <a:srgbClr val="1A1A28"/>
          </a:solidFill>
          <a:ln w="12700">
            <a:solidFill>
              <a:srgbClr val="FB7185"/>
            </a:solidFill>
            <a:prstDash val="solid"/>
          </a:ln>
        </p:spPr>
      </p:sp>
      <p:sp>
        <p:nvSpPr>
          <p:cNvPr id="19" name="Shape 17"/>
          <p:cNvSpPr/>
          <p:nvPr/>
        </p:nvSpPr>
        <p:spPr>
          <a:xfrm>
            <a:off x="6126480" y="4754880"/>
            <a:ext cx="45720" cy="1691640"/>
          </a:xfrm>
          <a:prstGeom prst="rect">
            <a:avLst/>
          </a:prstGeom>
          <a:solidFill>
            <a:srgbClr val="FB7185"/>
          </a:solidFill>
          <a:ln/>
        </p:spPr>
      </p:sp>
      <p:sp>
        <p:nvSpPr>
          <p:cNvPr id="20" name="Text 18"/>
          <p:cNvSpPr/>
          <p:nvPr/>
        </p:nvSpPr>
        <p:spPr>
          <a:xfrm>
            <a:off x="6309360" y="4846320"/>
            <a:ext cx="5120640" cy="320040"/>
          </a:xfrm>
          <a:prstGeom prst="rect">
            <a:avLst/>
          </a:prstGeom>
          <a:noFill/>
          <a:ln/>
        </p:spPr>
        <p:txBody>
          <a:bodyPr wrap="square" rtlCol="0" anchor="ctr"/>
          <a:lstStyle/>
          <a:p>
            <a:pPr indent="0" marL="0">
              <a:buNone/>
            </a:pPr>
            <a:r>
              <a:rPr lang="en-US" sz="1300" b="1" dirty="0">
                <a:solidFill>
                  <a:srgbClr val="FB7185"/>
                </a:solidFill>
                <a:latin typeface="Arial" pitchFamily="34" charset="0"/>
                <a:ea typeface="Arial" pitchFamily="34" charset="-122"/>
                <a:cs typeface="Arial" pitchFamily="34" charset="-120"/>
              </a:rPr>
              <a:t>🇮🇳  RBI Cybersecurity Framework</a:t>
            </a:r>
            <a:endParaRPr lang="en-US" sz="1300" dirty="0"/>
          </a:p>
        </p:txBody>
      </p:sp>
      <p:sp>
        <p:nvSpPr>
          <p:cNvPr id="21" name="Text 19"/>
          <p:cNvSpPr/>
          <p:nvPr/>
        </p:nvSpPr>
        <p:spPr>
          <a:xfrm>
            <a:off x="6309360" y="5212080"/>
            <a:ext cx="5120640" cy="1115568"/>
          </a:xfrm>
          <a:prstGeom prst="rect">
            <a:avLst/>
          </a:prstGeom>
          <a:noFill/>
          <a:ln/>
        </p:spPr>
        <p:txBody>
          <a:bodyPr wrap="square" rtlCol="0" anchor="ctr"/>
          <a:lstStyle/>
          <a:p>
            <a:pPr indent="0" marL="0">
              <a:lnSpc>
                <a:spcPct val="128000"/>
              </a:lnSpc>
              <a:buNone/>
            </a:pPr>
            <a:r>
              <a:rPr lang="en-US" sz="1050" dirty="0">
                <a:solidFill>
                  <a:srgbClr val="8888AA"/>
                </a:solidFill>
                <a:latin typeface="Arial" pitchFamily="34" charset="0"/>
                <a:ea typeface="Arial" pitchFamily="34" charset="-122"/>
                <a:cs typeface="Arial" pitchFamily="34" charset="-120"/>
              </a:rPr>
              <a:t>Banks, NBFCs, payment companies. India's biggest security employer segment. The RBI framework requires 24×7 SOC, vendor risk management, CISO appointment, board-level cyber risk reporting. BFSI-specific module included.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84CC16"/>
                </a:solidFill>
                <a:latin typeface="Courier New" pitchFamily="34" charset="0"/>
                <a:ea typeface="Courier New" pitchFamily="34" charset="-122"/>
                <a:cs typeface="Courier New" pitchFamily="34" charset="-120"/>
              </a:rPr>
              <a:t>WHAT YOU GRADUATE WITH</a:t>
            </a:r>
            <a:endParaRPr lang="en-US" sz="1100" dirty="0"/>
          </a:p>
        </p:txBody>
      </p:sp>
      <p:sp>
        <p:nvSpPr>
          <p:cNvPr id="4" name="Text 2"/>
          <p:cNvSpPr/>
          <p:nvPr/>
        </p:nvSpPr>
        <p:spPr>
          <a:xfrm>
            <a:off x="457200" y="713232"/>
            <a:ext cx="8229600" cy="1371600"/>
          </a:xfrm>
          <a:prstGeom prst="rect">
            <a:avLst/>
          </a:prstGeom>
          <a:noFill/>
          <a:ln/>
        </p:spPr>
        <p:txBody>
          <a:bodyPr wrap="square" rtlCol="0" anchor="ctr"/>
          <a:lstStyle/>
          <a:p>
            <a:pPr indent="0" marL="0">
              <a:lnSpc>
                <a:spcPct val="100000"/>
              </a:lnSpc>
              <a:buNone/>
            </a:pPr>
            <a:r>
              <a:rPr lang="en-US" sz="4200" b="1" dirty="0">
                <a:solidFill>
                  <a:srgbClr val="FFFFFF"/>
                </a:solidFill>
                <a:latin typeface="Arial Black" pitchFamily="34" charset="0"/>
                <a:ea typeface="Arial Black" pitchFamily="34" charset="-122"/>
                <a:cs typeface="Arial Black" pitchFamily="34" charset="-120"/>
              </a:rPr>
              <a:t>A Portfolio That Speaks Louder</a:t>
            </a:r>
            <a:endParaRPr lang="en-US" sz="4200" dirty="0"/>
          </a:p>
          <a:p>
            <a:pPr indent="0" marL="0">
              <a:lnSpc>
                <a:spcPct val="100000"/>
              </a:lnSpc>
              <a:buNone/>
            </a:pPr>
            <a:r>
              <a:rPr lang="en-US" sz="4200" b="1" dirty="0">
                <a:solidFill>
                  <a:srgbClr val="FFFFFF"/>
                </a:solidFill>
                <a:latin typeface="Arial Black" pitchFamily="34" charset="0"/>
                <a:ea typeface="Arial Black" pitchFamily="34" charset="-122"/>
                <a:cs typeface="Arial Black" pitchFamily="34" charset="-120"/>
              </a:rPr>
              <a:t>Than Any Certificate.</a:t>
            </a:r>
            <a:endParaRPr lang="en-US" sz="4200" dirty="0"/>
          </a:p>
        </p:txBody>
      </p:sp>
      <p:sp>
        <p:nvSpPr>
          <p:cNvPr id="5" name="Shape 3"/>
          <p:cNvSpPr/>
          <p:nvPr/>
        </p:nvSpPr>
        <p:spPr>
          <a:xfrm>
            <a:off x="457200" y="2395728"/>
            <a:ext cx="3657600" cy="1965960"/>
          </a:xfrm>
          <a:prstGeom prst="rect">
            <a:avLst/>
          </a:prstGeom>
          <a:solidFill>
            <a:srgbClr val="1A1A28"/>
          </a:solidFill>
          <a:ln w="12700">
            <a:solidFill>
              <a:srgbClr val="2A2A40"/>
            </a:solidFill>
            <a:prstDash val="solid"/>
          </a:ln>
        </p:spPr>
      </p:sp>
      <p:sp>
        <p:nvSpPr>
          <p:cNvPr id="6" name="Shape 4"/>
          <p:cNvSpPr/>
          <p:nvPr/>
        </p:nvSpPr>
        <p:spPr>
          <a:xfrm>
            <a:off x="457200" y="2395728"/>
            <a:ext cx="3657600" cy="36576"/>
          </a:xfrm>
          <a:prstGeom prst="rect">
            <a:avLst/>
          </a:prstGeom>
          <a:solidFill>
            <a:srgbClr val="FB7185"/>
          </a:solidFill>
          <a:ln/>
        </p:spPr>
      </p:sp>
      <p:sp>
        <p:nvSpPr>
          <p:cNvPr id="7" name="Text 5"/>
          <p:cNvSpPr/>
          <p:nvPr/>
        </p:nvSpPr>
        <p:spPr>
          <a:xfrm>
            <a:off x="594360" y="2505456"/>
            <a:ext cx="3429000" cy="384048"/>
          </a:xfrm>
          <a:prstGeom prst="rect">
            <a:avLst/>
          </a:prstGeom>
          <a:noFill/>
          <a:ln/>
        </p:spPr>
        <p:txBody>
          <a:bodyPr wrap="square" rtlCol="0" anchor="ctr"/>
          <a:lstStyle/>
          <a:p>
            <a:pPr indent="0" marL="0">
              <a:buNone/>
            </a:pPr>
            <a:r>
              <a:rPr lang="en-US" sz="1350" b="1" dirty="0">
                <a:solidFill>
                  <a:srgbClr val="FB7185"/>
                </a:solidFill>
                <a:latin typeface="Arial" pitchFamily="34" charset="0"/>
                <a:ea typeface="Arial" pitchFamily="34" charset="-122"/>
                <a:cs typeface="Arial" pitchFamily="34" charset="-120"/>
              </a:rPr>
              <a:t>📄  VAPT Report</a:t>
            </a:r>
            <a:endParaRPr lang="en-US" sz="1350" dirty="0"/>
          </a:p>
        </p:txBody>
      </p:sp>
      <p:sp>
        <p:nvSpPr>
          <p:cNvPr id="8" name="Text 6"/>
          <p:cNvSpPr/>
          <p:nvPr/>
        </p:nvSpPr>
        <p:spPr>
          <a:xfrm>
            <a:off x="594360" y="2944368"/>
            <a:ext cx="3429000" cy="1298448"/>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Full professional report for DVWA + Metasploitable2 — CVSS scores, PoC screenshots, remediation roadmap. Shows pentest skills to any employer.</a:t>
            </a:r>
            <a:endParaRPr lang="en-US" sz="1050" dirty="0"/>
          </a:p>
        </p:txBody>
      </p:sp>
      <p:sp>
        <p:nvSpPr>
          <p:cNvPr id="9" name="Shape 7"/>
          <p:cNvSpPr/>
          <p:nvPr/>
        </p:nvSpPr>
        <p:spPr>
          <a:xfrm>
            <a:off x="4297680" y="2395728"/>
            <a:ext cx="3657600" cy="1965960"/>
          </a:xfrm>
          <a:prstGeom prst="rect">
            <a:avLst/>
          </a:prstGeom>
          <a:solidFill>
            <a:srgbClr val="1A1A28"/>
          </a:solidFill>
          <a:ln w="12700">
            <a:solidFill>
              <a:srgbClr val="2A2A40"/>
            </a:solidFill>
            <a:prstDash val="solid"/>
          </a:ln>
        </p:spPr>
      </p:sp>
      <p:sp>
        <p:nvSpPr>
          <p:cNvPr id="10" name="Shape 8"/>
          <p:cNvSpPr/>
          <p:nvPr/>
        </p:nvSpPr>
        <p:spPr>
          <a:xfrm>
            <a:off x="4297680" y="2395728"/>
            <a:ext cx="3657600" cy="36576"/>
          </a:xfrm>
          <a:prstGeom prst="rect">
            <a:avLst/>
          </a:prstGeom>
          <a:solidFill>
            <a:srgbClr val="A855F7"/>
          </a:solidFill>
          <a:ln/>
        </p:spPr>
      </p:sp>
      <p:sp>
        <p:nvSpPr>
          <p:cNvPr id="11" name="Text 9"/>
          <p:cNvSpPr/>
          <p:nvPr/>
        </p:nvSpPr>
        <p:spPr>
          <a:xfrm>
            <a:off x="4434840" y="2505456"/>
            <a:ext cx="3429000" cy="384048"/>
          </a:xfrm>
          <a:prstGeom prst="rect">
            <a:avLst/>
          </a:prstGeom>
          <a:noFill/>
          <a:ln/>
        </p:spPr>
        <p:txBody>
          <a:bodyPr wrap="square" rtlCol="0" anchor="ctr"/>
          <a:lstStyle/>
          <a:p>
            <a:pPr indent="0" marL="0">
              <a:buNone/>
            </a:pPr>
            <a:r>
              <a:rPr lang="en-US" sz="1350" b="1" dirty="0">
                <a:solidFill>
                  <a:srgbClr val="A855F7"/>
                </a:solidFill>
                <a:latin typeface="Arial" pitchFamily="34" charset="0"/>
                <a:ea typeface="Arial" pitchFamily="34" charset="-122"/>
                <a:cs typeface="Arial" pitchFamily="34" charset="-120"/>
              </a:rPr>
              <a:t>🗂  ISO 27001 Package</a:t>
            </a:r>
            <a:endParaRPr lang="en-US" sz="1350" dirty="0"/>
          </a:p>
        </p:txBody>
      </p:sp>
      <p:sp>
        <p:nvSpPr>
          <p:cNvPr id="12" name="Text 10"/>
          <p:cNvSpPr/>
          <p:nvPr/>
        </p:nvSpPr>
        <p:spPr>
          <a:xfrm>
            <a:off x="4434840" y="2944368"/>
            <a:ext cx="3429000" cy="1298448"/>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Risk register, Statement of Applicability, and gap analysis for a fictional company. Immediately usable in a GRC interview.</a:t>
            </a:r>
            <a:endParaRPr lang="en-US" sz="1050" dirty="0"/>
          </a:p>
        </p:txBody>
      </p:sp>
      <p:sp>
        <p:nvSpPr>
          <p:cNvPr id="13" name="Shape 11"/>
          <p:cNvSpPr/>
          <p:nvPr/>
        </p:nvSpPr>
        <p:spPr>
          <a:xfrm>
            <a:off x="8138160" y="2395728"/>
            <a:ext cx="3657600" cy="1965960"/>
          </a:xfrm>
          <a:prstGeom prst="rect">
            <a:avLst/>
          </a:prstGeom>
          <a:solidFill>
            <a:srgbClr val="1A1A28"/>
          </a:solidFill>
          <a:ln w="12700">
            <a:solidFill>
              <a:srgbClr val="2A2A40"/>
            </a:solidFill>
            <a:prstDash val="solid"/>
          </a:ln>
        </p:spPr>
      </p:sp>
      <p:sp>
        <p:nvSpPr>
          <p:cNvPr id="14" name="Shape 12"/>
          <p:cNvSpPr/>
          <p:nvPr/>
        </p:nvSpPr>
        <p:spPr>
          <a:xfrm>
            <a:off x="8138160" y="2395728"/>
            <a:ext cx="3657600" cy="36576"/>
          </a:xfrm>
          <a:prstGeom prst="rect">
            <a:avLst/>
          </a:prstGeom>
          <a:solidFill>
            <a:srgbClr val="2DD4BF"/>
          </a:solidFill>
          <a:ln/>
        </p:spPr>
      </p:sp>
      <p:sp>
        <p:nvSpPr>
          <p:cNvPr id="15" name="Text 13"/>
          <p:cNvSpPr/>
          <p:nvPr/>
        </p:nvSpPr>
        <p:spPr>
          <a:xfrm>
            <a:off x="8275320" y="2505456"/>
            <a:ext cx="3429000" cy="384048"/>
          </a:xfrm>
          <a:prstGeom prst="rect">
            <a:avLst/>
          </a:prstGeom>
          <a:noFill/>
          <a:ln/>
        </p:spPr>
        <p:txBody>
          <a:bodyPr wrap="square" rtlCol="0" anchor="ctr"/>
          <a:lstStyle/>
          <a:p>
            <a:pPr indent="0" marL="0">
              <a:buNone/>
            </a:pPr>
            <a:r>
              <a:rPr lang="en-US" sz="1350" b="1" dirty="0">
                <a:solidFill>
                  <a:srgbClr val="2DD4BF"/>
                </a:solidFill>
                <a:latin typeface="Arial" pitchFamily="34" charset="0"/>
                <a:ea typeface="Arial" pitchFamily="34" charset="-122"/>
                <a:cs typeface="Arial" pitchFamily="34" charset="-120"/>
              </a:rPr>
              <a:t>📈  Wazuh Lab Report</a:t>
            </a:r>
            <a:endParaRPr lang="en-US" sz="1350" dirty="0"/>
          </a:p>
        </p:txBody>
      </p:sp>
      <p:sp>
        <p:nvSpPr>
          <p:cNvPr id="16" name="Text 14"/>
          <p:cNvSpPr/>
          <p:nvPr/>
        </p:nvSpPr>
        <p:spPr>
          <a:xfrm>
            <a:off x="8275320" y="2944368"/>
            <a:ext cx="3429000" cy="1298448"/>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SIEM deployment documentation + incident response report from simulated attacks. Shows SOC readiness without needing a job first.</a:t>
            </a:r>
            <a:endParaRPr lang="en-US" sz="1050" dirty="0"/>
          </a:p>
        </p:txBody>
      </p:sp>
      <p:sp>
        <p:nvSpPr>
          <p:cNvPr id="17" name="Shape 15"/>
          <p:cNvSpPr/>
          <p:nvPr/>
        </p:nvSpPr>
        <p:spPr>
          <a:xfrm>
            <a:off x="457200" y="4544568"/>
            <a:ext cx="3657600" cy="1965960"/>
          </a:xfrm>
          <a:prstGeom prst="rect">
            <a:avLst/>
          </a:prstGeom>
          <a:solidFill>
            <a:srgbClr val="1A1A28"/>
          </a:solidFill>
          <a:ln w="12700">
            <a:solidFill>
              <a:srgbClr val="2A2A40"/>
            </a:solidFill>
            <a:prstDash val="solid"/>
          </a:ln>
        </p:spPr>
      </p:sp>
      <p:sp>
        <p:nvSpPr>
          <p:cNvPr id="18" name="Shape 16"/>
          <p:cNvSpPr/>
          <p:nvPr/>
        </p:nvSpPr>
        <p:spPr>
          <a:xfrm>
            <a:off x="457200" y="4544568"/>
            <a:ext cx="3657600" cy="36576"/>
          </a:xfrm>
          <a:prstGeom prst="rect">
            <a:avLst/>
          </a:prstGeom>
          <a:solidFill>
            <a:srgbClr val="FBBF24"/>
          </a:solidFill>
          <a:ln/>
        </p:spPr>
      </p:sp>
      <p:sp>
        <p:nvSpPr>
          <p:cNvPr id="19" name="Text 17"/>
          <p:cNvSpPr/>
          <p:nvPr/>
        </p:nvSpPr>
        <p:spPr>
          <a:xfrm>
            <a:off x="594360" y="4654296"/>
            <a:ext cx="3429000" cy="384048"/>
          </a:xfrm>
          <a:prstGeom prst="rect">
            <a:avLst/>
          </a:prstGeom>
          <a:noFill/>
          <a:ln/>
        </p:spPr>
        <p:txBody>
          <a:bodyPr wrap="square" rtlCol="0" anchor="ctr"/>
          <a:lstStyle/>
          <a:p>
            <a:pPr indent="0" marL="0">
              <a:buNone/>
            </a:pPr>
            <a:r>
              <a:rPr lang="en-US" sz="1350" b="1" dirty="0">
                <a:solidFill>
                  <a:srgbClr val="FBBF24"/>
                </a:solidFill>
                <a:latin typeface="Arial" pitchFamily="34" charset="0"/>
                <a:ea typeface="Arial" pitchFamily="34" charset="-122"/>
                <a:cs typeface="Arial" pitchFamily="34" charset="-120"/>
              </a:rPr>
              <a:t>☁  Cloud Security Audit</a:t>
            </a:r>
            <a:endParaRPr lang="en-US" sz="1350" dirty="0"/>
          </a:p>
        </p:txBody>
      </p:sp>
      <p:sp>
        <p:nvSpPr>
          <p:cNvPr id="20" name="Text 18"/>
          <p:cNvSpPr/>
          <p:nvPr/>
        </p:nvSpPr>
        <p:spPr>
          <a:xfrm>
            <a:off x="594360" y="5093208"/>
            <a:ext cx="3429000" cy="1298448"/>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AWS/Azure CSPM audit using Prowler or ScoutSuite on a free-tier account. Real cloud security findings, real remediation steps.</a:t>
            </a:r>
            <a:endParaRPr lang="en-US" sz="1050" dirty="0"/>
          </a:p>
        </p:txBody>
      </p:sp>
      <p:sp>
        <p:nvSpPr>
          <p:cNvPr id="21" name="Shape 19"/>
          <p:cNvSpPr/>
          <p:nvPr/>
        </p:nvSpPr>
        <p:spPr>
          <a:xfrm>
            <a:off x="4297680" y="4544568"/>
            <a:ext cx="3657600" cy="1965960"/>
          </a:xfrm>
          <a:prstGeom prst="rect">
            <a:avLst/>
          </a:prstGeom>
          <a:solidFill>
            <a:srgbClr val="1A1A28"/>
          </a:solidFill>
          <a:ln w="12700">
            <a:solidFill>
              <a:srgbClr val="2A2A40"/>
            </a:solidFill>
            <a:prstDash val="solid"/>
          </a:ln>
        </p:spPr>
      </p:sp>
      <p:sp>
        <p:nvSpPr>
          <p:cNvPr id="22" name="Shape 20"/>
          <p:cNvSpPr/>
          <p:nvPr/>
        </p:nvSpPr>
        <p:spPr>
          <a:xfrm>
            <a:off x="4297680" y="4544568"/>
            <a:ext cx="3657600" cy="36576"/>
          </a:xfrm>
          <a:prstGeom prst="rect">
            <a:avLst/>
          </a:prstGeom>
          <a:solidFill>
            <a:srgbClr val="F5C518"/>
          </a:solidFill>
          <a:ln/>
        </p:spPr>
      </p:sp>
      <p:sp>
        <p:nvSpPr>
          <p:cNvPr id="23" name="Text 21"/>
          <p:cNvSpPr/>
          <p:nvPr/>
        </p:nvSpPr>
        <p:spPr>
          <a:xfrm>
            <a:off x="4434840" y="4654296"/>
            <a:ext cx="3429000" cy="384048"/>
          </a:xfrm>
          <a:prstGeom prst="rect">
            <a:avLst/>
          </a:prstGeom>
          <a:noFill/>
          <a:ln/>
        </p:spPr>
        <p:txBody>
          <a:bodyPr wrap="square" rtlCol="0" anchor="ctr"/>
          <a:lstStyle/>
          <a:p>
            <a:pPr indent="0" marL="0">
              <a:buNone/>
            </a:pPr>
            <a:r>
              <a:rPr lang="en-US" sz="1350" b="1" dirty="0">
                <a:solidFill>
                  <a:srgbClr val="F5C518"/>
                </a:solidFill>
                <a:latin typeface="Arial" pitchFamily="34" charset="0"/>
                <a:ea typeface="Arial" pitchFamily="34" charset="-122"/>
                <a:cs typeface="Arial" pitchFamily="34" charset="-120"/>
              </a:rPr>
              <a:t>📊  DPDP Compliance Report</a:t>
            </a:r>
            <a:endParaRPr lang="en-US" sz="1350" dirty="0"/>
          </a:p>
        </p:txBody>
      </p:sp>
      <p:sp>
        <p:nvSpPr>
          <p:cNvPr id="24" name="Text 22"/>
          <p:cNvSpPr/>
          <p:nvPr/>
        </p:nvSpPr>
        <p:spPr>
          <a:xfrm>
            <a:off x="4434840" y="5093208"/>
            <a:ext cx="3429000" cy="1298448"/>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DPDP Act 2023 gap assessment for a sample Indian SMB. Zero other candidates will have this. Instant differentiator.</a:t>
            </a:r>
            <a:endParaRPr lang="en-US" sz="1050" dirty="0"/>
          </a:p>
        </p:txBody>
      </p:sp>
      <p:sp>
        <p:nvSpPr>
          <p:cNvPr id="25" name="Shape 23"/>
          <p:cNvSpPr/>
          <p:nvPr/>
        </p:nvSpPr>
        <p:spPr>
          <a:xfrm>
            <a:off x="8138160" y="4544568"/>
            <a:ext cx="3657600" cy="1965960"/>
          </a:xfrm>
          <a:prstGeom prst="rect">
            <a:avLst/>
          </a:prstGeom>
          <a:solidFill>
            <a:srgbClr val="1A1A28"/>
          </a:solidFill>
          <a:ln w="12700">
            <a:solidFill>
              <a:srgbClr val="2A2A40"/>
            </a:solidFill>
            <a:prstDash val="solid"/>
          </a:ln>
        </p:spPr>
      </p:sp>
      <p:sp>
        <p:nvSpPr>
          <p:cNvPr id="26" name="Shape 24"/>
          <p:cNvSpPr/>
          <p:nvPr/>
        </p:nvSpPr>
        <p:spPr>
          <a:xfrm>
            <a:off x="8138160" y="4544568"/>
            <a:ext cx="3657600" cy="36576"/>
          </a:xfrm>
          <a:prstGeom prst="rect">
            <a:avLst/>
          </a:prstGeom>
          <a:solidFill>
            <a:srgbClr val="84CC16"/>
          </a:solidFill>
          <a:ln/>
        </p:spPr>
      </p:sp>
      <p:sp>
        <p:nvSpPr>
          <p:cNvPr id="27" name="Text 25"/>
          <p:cNvSpPr/>
          <p:nvPr/>
        </p:nvSpPr>
        <p:spPr>
          <a:xfrm>
            <a:off x="8275320" y="4654296"/>
            <a:ext cx="3429000" cy="384048"/>
          </a:xfrm>
          <a:prstGeom prst="rect">
            <a:avLst/>
          </a:prstGeom>
          <a:noFill/>
          <a:ln/>
        </p:spPr>
        <p:txBody>
          <a:bodyPr wrap="square" rtlCol="0" anchor="ctr"/>
          <a:lstStyle/>
          <a:p>
            <a:pPr indent="0" marL="0">
              <a:buNone/>
            </a:pPr>
            <a:r>
              <a:rPr lang="en-US" sz="1350" b="1" dirty="0">
                <a:solidFill>
                  <a:srgbClr val="84CC16"/>
                </a:solidFill>
                <a:latin typeface="Arial" pitchFamily="34" charset="0"/>
                <a:ea typeface="Arial" pitchFamily="34" charset="-122"/>
                <a:cs typeface="Arial" pitchFamily="34" charset="-120"/>
              </a:rPr>
              <a:t>🤖  AI Security Scripts</a:t>
            </a:r>
            <a:endParaRPr lang="en-US" sz="1350" dirty="0"/>
          </a:p>
        </p:txBody>
      </p:sp>
      <p:sp>
        <p:nvSpPr>
          <p:cNvPr id="28" name="Text 26"/>
          <p:cNvSpPr/>
          <p:nvPr/>
        </p:nvSpPr>
        <p:spPr>
          <a:xfrm>
            <a:off x="8275320" y="5093208"/>
            <a:ext cx="3429000" cy="1298448"/>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Working Python scripts: IOC enrichment pipeline, secure Claude API integration, AI recon pipeline. Proves you can build AI-powered security tools.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Shape 1"/>
          <p:cNvSpPr/>
          <p:nvPr/>
        </p:nvSpPr>
        <p:spPr>
          <a:xfrm>
            <a:off x="0" y="0"/>
            <a:ext cx="12161520" cy="6858000"/>
          </a:xfrm>
          <a:prstGeom prst="rect">
            <a:avLst/>
          </a:prstGeom>
          <a:solidFill>
            <a:srgbClr val="0A080F"/>
          </a:solidFill>
          <a:ln w="12700">
            <a:solidFill>
              <a:srgbClr val="0A080F"/>
            </a:solidFill>
            <a:prstDash val="solid"/>
          </a:ln>
        </p:spPr>
      </p:sp>
      <p:sp>
        <p:nvSpPr>
          <p:cNvPr id="4" name="Text 2"/>
          <p:cNvSpPr/>
          <p:nvPr/>
        </p:nvSpPr>
        <p:spPr>
          <a:xfrm>
            <a:off x="457200" y="347472"/>
            <a:ext cx="11247120" cy="320040"/>
          </a:xfrm>
          <a:prstGeom prst="rect">
            <a:avLst/>
          </a:prstGeom>
          <a:noFill/>
          <a:ln/>
        </p:spPr>
        <p:txBody>
          <a:bodyPr wrap="square" rtlCol="0" anchor="ctr"/>
          <a:lstStyle/>
          <a:p>
            <a:pPr indent="0" marL="0">
              <a:buNone/>
            </a:pPr>
            <a:r>
              <a:rPr lang="en-US" sz="1100" b="1" spc="500" kern="0" dirty="0">
                <a:solidFill>
                  <a:srgbClr val="FB7185"/>
                </a:solidFill>
                <a:latin typeface="Courier New" pitchFamily="34" charset="0"/>
                <a:ea typeface="Courier New" pitchFamily="34" charset="-122"/>
                <a:cs typeface="Courier New" pitchFamily="34" charset="-120"/>
              </a:rPr>
              <a:t>THE WINDOW IS CLOSING</a:t>
            </a:r>
            <a:endParaRPr lang="en-US" sz="1100" dirty="0"/>
          </a:p>
        </p:txBody>
      </p:sp>
      <p:sp>
        <p:nvSpPr>
          <p:cNvPr id="5" name="Text 3"/>
          <p:cNvSpPr/>
          <p:nvPr/>
        </p:nvSpPr>
        <p:spPr>
          <a:xfrm>
            <a:off x="457200" y="685800"/>
            <a:ext cx="8229600" cy="2286000"/>
          </a:xfrm>
          <a:prstGeom prst="rect">
            <a:avLst/>
          </a:prstGeom>
          <a:noFill/>
          <a:ln/>
        </p:spPr>
        <p:txBody>
          <a:bodyPr wrap="square" rtlCol="0" anchor="ctr"/>
          <a:lstStyle/>
          <a:p>
            <a:pPr indent="0" marL="0">
              <a:lnSpc>
                <a:spcPct val="95000"/>
              </a:lnSpc>
              <a:buNone/>
            </a:pPr>
            <a:r>
              <a:rPr lang="en-US" sz="4600" b="1" dirty="0">
                <a:solidFill>
                  <a:srgbClr val="FFFFFF"/>
                </a:solidFill>
                <a:latin typeface="Arial Black" pitchFamily="34" charset="0"/>
                <a:ea typeface="Arial Black" pitchFamily="34" charset="-122"/>
                <a:cs typeface="Arial Black" pitchFamily="34" charset="-120"/>
              </a:rPr>
              <a:t>The People Getting the</a:t>
            </a:r>
            <a:endParaRPr lang="en-US" sz="4600" dirty="0"/>
          </a:p>
          <a:p>
            <a:pPr indent="0" marL="0">
              <a:lnSpc>
                <a:spcPct val="95000"/>
              </a:lnSpc>
              <a:buNone/>
            </a:pPr>
            <a:r>
              <a:rPr lang="en-US" sz="4600" b="1" dirty="0">
                <a:solidFill>
                  <a:srgbClr val="FFFFFF"/>
                </a:solidFill>
                <a:latin typeface="Arial Black" pitchFamily="34" charset="0"/>
                <a:ea typeface="Arial Black" pitchFamily="34" charset="-122"/>
                <a:cs typeface="Arial Black" pitchFamily="34" charset="-120"/>
              </a:rPr>
              <a:t>₹12 LPA Offers in 2026 Are</a:t>
            </a:r>
            <a:endParaRPr lang="en-US" sz="4600" dirty="0"/>
          </a:p>
          <a:p>
            <a:pPr indent="0" marL="0">
              <a:lnSpc>
                <a:spcPct val="95000"/>
              </a:lnSpc>
              <a:buNone/>
            </a:pPr>
            <a:r>
              <a:rPr lang="en-US" sz="4600" b="1" dirty="0">
                <a:solidFill>
                  <a:srgbClr val="FFFFFF"/>
                </a:solidFill>
                <a:latin typeface="Arial Black" pitchFamily="34" charset="0"/>
                <a:ea typeface="Arial Black" pitchFamily="34" charset="-122"/>
                <a:cs typeface="Arial Black" pitchFamily="34" charset="-120"/>
              </a:rPr>
              <a:t>Studying Dual Track</a:t>
            </a:r>
            <a:endParaRPr lang="en-US" sz="4600" dirty="0"/>
          </a:p>
        </p:txBody>
      </p:sp>
      <p:sp>
        <p:nvSpPr>
          <p:cNvPr id="6" name="Text 4"/>
          <p:cNvSpPr/>
          <p:nvPr/>
        </p:nvSpPr>
        <p:spPr>
          <a:xfrm>
            <a:off x="457200" y="2944368"/>
            <a:ext cx="4572000" cy="640080"/>
          </a:xfrm>
          <a:prstGeom prst="rect">
            <a:avLst/>
          </a:prstGeom>
          <a:noFill/>
          <a:ln/>
        </p:spPr>
        <p:txBody>
          <a:bodyPr wrap="square" rtlCol="0" anchor="ctr"/>
          <a:lstStyle/>
          <a:p>
            <a:pPr indent="0" marL="0">
              <a:buNone/>
            </a:pPr>
            <a:r>
              <a:rPr lang="en-US" sz="4600" b="1" dirty="0">
                <a:solidFill>
                  <a:srgbClr val="F5C518"/>
                </a:solidFill>
                <a:latin typeface="Arial Black" pitchFamily="34" charset="0"/>
                <a:ea typeface="Arial Black" pitchFamily="34" charset="-122"/>
                <a:cs typeface="Arial Black" pitchFamily="34" charset="-120"/>
              </a:rPr>
              <a:t>Right Now.</a:t>
            </a:r>
            <a:endParaRPr lang="en-US" sz="4600" dirty="0"/>
          </a:p>
        </p:txBody>
      </p:sp>
      <p:sp>
        <p:nvSpPr>
          <p:cNvPr id="7" name="Shape 5"/>
          <p:cNvSpPr/>
          <p:nvPr/>
        </p:nvSpPr>
        <p:spPr>
          <a:xfrm>
            <a:off x="457200" y="3822192"/>
            <a:ext cx="2697480" cy="2697480"/>
          </a:xfrm>
          <a:prstGeom prst="rect">
            <a:avLst/>
          </a:prstGeom>
          <a:solidFill>
            <a:srgbClr val="1A1A28"/>
          </a:solidFill>
          <a:ln w="12700">
            <a:solidFill>
              <a:srgbClr val="F5C518"/>
            </a:solidFill>
            <a:prstDash val="solid"/>
          </a:ln>
        </p:spPr>
      </p:sp>
      <p:sp>
        <p:nvSpPr>
          <p:cNvPr id="8" name="Shape 6"/>
          <p:cNvSpPr/>
          <p:nvPr/>
        </p:nvSpPr>
        <p:spPr>
          <a:xfrm>
            <a:off x="457200" y="3822192"/>
            <a:ext cx="2697480" cy="45720"/>
          </a:xfrm>
          <a:prstGeom prst="rect">
            <a:avLst/>
          </a:prstGeom>
          <a:solidFill>
            <a:srgbClr val="F5C518"/>
          </a:solidFill>
          <a:ln/>
        </p:spPr>
      </p:sp>
      <p:sp>
        <p:nvSpPr>
          <p:cNvPr id="9" name="Text 7"/>
          <p:cNvSpPr/>
          <p:nvPr/>
        </p:nvSpPr>
        <p:spPr>
          <a:xfrm>
            <a:off x="594360" y="3913632"/>
            <a:ext cx="2468880" cy="640080"/>
          </a:xfrm>
          <a:prstGeom prst="rect">
            <a:avLst/>
          </a:prstGeom>
          <a:noFill/>
          <a:ln/>
        </p:spPr>
        <p:txBody>
          <a:bodyPr wrap="square" rtlCol="0" anchor="ctr"/>
          <a:lstStyle/>
          <a:p>
            <a:pPr indent="0" marL="0">
              <a:buNone/>
            </a:pPr>
            <a:r>
              <a:rPr lang="en-US" sz="3000" b="1" dirty="0">
                <a:solidFill>
                  <a:srgbClr val="F5C518"/>
                </a:solidFill>
                <a:latin typeface="Arial Black" pitchFamily="34" charset="0"/>
                <a:ea typeface="Arial Black" pitchFamily="34" charset="-122"/>
                <a:cs typeface="Arial Black" pitchFamily="34" charset="-120"/>
              </a:rPr>
              <a:t>2026</a:t>
            </a:r>
            <a:endParaRPr lang="en-US" sz="3000" dirty="0"/>
          </a:p>
        </p:txBody>
      </p:sp>
      <p:sp>
        <p:nvSpPr>
          <p:cNvPr id="10" name="Text 8"/>
          <p:cNvSpPr/>
          <p:nvPr/>
        </p:nvSpPr>
        <p:spPr>
          <a:xfrm>
            <a:off x="594360" y="4553712"/>
            <a:ext cx="2468880" cy="1828800"/>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DPDP Act full enforcement begins. Companies scramble. Those certified early get 2–3× interview calls.</a:t>
            </a:r>
            <a:endParaRPr lang="en-US" sz="1050" dirty="0"/>
          </a:p>
        </p:txBody>
      </p:sp>
      <p:sp>
        <p:nvSpPr>
          <p:cNvPr id="11" name="Shape 9"/>
          <p:cNvSpPr/>
          <p:nvPr/>
        </p:nvSpPr>
        <p:spPr>
          <a:xfrm>
            <a:off x="3337560" y="3822192"/>
            <a:ext cx="2697480" cy="2697480"/>
          </a:xfrm>
          <a:prstGeom prst="rect">
            <a:avLst/>
          </a:prstGeom>
          <a:solidFill>
            <a:srgbClr val="1A1A28"/>
          </a:solidFill>
          <a:ln w="12700">
            <a:solidFill>
              <a:srgbClr val="FB7185"/>
            </a:solidFill>
            <a:prstDash val="solid"/>
          </a:ln>
        </p:spPr>
      </p:sp>
      <p:sp>
        <p:nvSpPr>
          <p:cNvPr id="12" name="Shape 10"/>
          <p:cNvSpPr/>
          <p:nvPr/>
        </p:nvSpPr>
        <p:spPr>
          <a:xfrm>
            <a:off x="3337560" y="3822192"/>
            <a:ext cx="2697480" cy="45720"/>
          </a:xfrm>
          <a:prstGeom prst="rect">
            <a:avLst/>
          </a:prstGeom>
          <a:solidFill>
            <a:srgbClr val="FB7185"/>
          </a:solidFill>
          <a:ln/>
        </p:spPr>
      </p:sp>
      <p:sp>
        <p:nvSpPr>
          <p:cNvPr id="13" name="Text 11"/>
          <p:cNvSpPr/>
          <p:nvPr/>
        </p:nvSpPr>
        <p:spPr>
          <a:xfrm>
            <a:off x="3474720" y="3913632"/>
            <a:ext cx="2468880" cy="640080"/>
          </a:xfrm>
          <a:prstGeom prst="rect">
            <a:avLst/>
          </a:prstGeom>
          <a:noFill/>
          <a:ln/>
        </p:spPr>
        <p:txBody>
          <a:bodyPr wrap="square" rtlCol="0" anchor="ctr"/>
          <a:lstStyle/>
          <a:p>
            <a:pPr indent="0" marL="0">
              <a:buNone/>
            </a:pPr>
            <a:r>
              <a:rPr lang="en-US" sz="3000" b="1" dirty="0">
                <a:solidFill>
                  <a:srgbClr val="FB7185"/>
                </a:solidFill>
                <a:latin typeface="Arial Black" pitchFamily="34" charset="0"/>
                <a:ea typeface="Arial Black" pitchFamily="34" charset="-122"/>
                <a:cs typeface="Arial Black" pitchFamily="34" charset="-120"/>
              </a:rPr>
              <a:t>87%</a:t>
            </a:r>
            <a:endParaRPr lang="en-US" sz="3000" dirty="0"/>
          </a:p>
        </p:txBody>
      </p:sp>
      <p:sp>
        <p:nvSpPr>
          <p:cNvPr id="14" name="Text 12"/>
          <p:cNvSpPr/>
          <p:nvPr/>
        </p:nvSpPr>
        <p:spPr>
          <a:xfrm>
            <a:off x="3474720" y="4553712"/>
            <a:ext cx="2468880" cy="1828800"/>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of Indian cybersecurity job postings in 2024 mention at least one GRC framework. Pure technical skills don't clear the filter.</a:t>
            </a:r>
            <a:endParaRPr lang="en-US" sz="1050" dirty="0"/>
          </a:p>
        </p:txBody>
      </p:sp>
      <p:sp>
        <p:nvSpPr>
          <p:cNvPr id="15" name="Shape 13"/>
          <p:cNvSpPr/>
          <p:nvPr/>
        </p:nvSpPr>
        <p:spPr>
          <a:xfrm>
            <a:off x="6217920" y="3822192"/>
            <a:ext cx="2697480" cy="2697480"/>
          </a:xfrm>
          <a:prstGeom prst="rect">
            <a:avLst/>
          </a:prstGeom>
          <a:solidFill>
            <a:srgbClr val="1A1A28"/>
          </a:solidFill>
          <a:ln w="12700">
            <a:solidFill>
              <a:srgbClr val="2DD4BF"/>
            </a:solidFill>
            <a:prstDash val="solid"/>
          </a:ln>
        </p:spPr>
      </p:sp>
      <p:sp>
        <p:nvSpPr>
          <p:cNvPr id="16" name="Shape 14"/>
          <p:cNvSpPr/>
          <p:nvPr/>
        </p:nvSpPr>
        <p:spPr>
          <a:xfrm>
            <a:off x="6217920" y="3822192"/>
            <a:ext cx="2697480" cy="45720"/>
          </a:xfrm>
          <a:prstGeom prst="rect">
            <a:avLst/>
          </a:prstGeom>
          <a:solidFill>
            <a:srgbClr val="2DD4BF"/>
          </a:solidFill>
          <a:ln/>
        </p:spPr>
      </p:sp>
      <p:sp>
        <p:nvSpPr>
          <p:cNvPr id="17" name="Text 15"/>
          <p:cNvSpPr/>
          <p:nvPr/>
        </p:nvSpPr>
        <p:spPr>
          <a:xfrm>
            <a:off x="6355080" y="3913632"/>
            <a:ext cx="2468880" cy="640080"/>
          </a:xfrm>
          <a:prstGeom prst="rect">
            <a:avLst/>
          </a:prstGeom>
          <a:noFill/>
          <a:ln/>
        </p:spPr>
        <p:txBody>
          <a:bodyPr wrap="square" rtlCol="0" anchor="ctr"/>
          <a:lstStyle/>
          <a:p>
            <a:pPr indent="0" marL="0">
              <a:buNone/>
            </a:pPr>
            <a:r>
              <a:rPr lang="en-US" sz="3000" b="1" dirty="0">
                <a:solidFill>
                  <a:srgbClr val="2DD4BF"/>
                </a:solidFill>
                <a:latin typeface="Arial Black" pitchFamily="34" charset="0"/>
                <a:ea typeface="Arial Black" pitchFamily="34" charset="-122"/>
                <a:cs typeface="Arial Black" pitchFamily="34" charset="-120"/>
              </a:rPr>
              <a:t>197 days</a:t>
            </a:r>
            <a:endParaRPr lang="en-US" sz="3000" dirty="0"/>
          </a:p>
        </p:txBody>
      </p:sp>
      <p:sp>
        <p:nvSpPr>
          <p:cNvPr id="18" name="Text 16"/>
          <p:cNvSpPr/>
          <p:nvPr/>
        </p:nvSpPr>
        <p:spPr>
          <a:xfrm>
            <a:off x="6355080" y="4553712"/>
            <a:ext cx="2468880" cy="1828800"/>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Average breach dwell time without proper SOC monitoring. Every org needs someone watching — that someone should be you.</a:t>
            </a:r>
            <a:endParaRPr lang="en-US" sz="1050" dirty="0"/>
          </a:p>
        </p:txBody>
      </p:sp>
      <p:sp>
        <p:nvSpPr>
          <p:cNvPr id="19" name="Shape 17"/>
          <p:cNvSpPr/>
          <p:nvPr/>
        </p:nvSpPr>
        <p:spPr>
          <a:xfrm>
            <a:off x="9098280" y="3822192"/>
            <a:ext cx="2697480" cy="2697480"/>
          </a:xfrm>
          <a:prstGeom prst="rect">
            <a:avLst/>
          </a:prstGeom>
          <a:solidFill>
            <a:srgbClr val="1A1A28"/>
          </a:solidFill>
          <a:ln w="12700">
            <a:solidFill>
              <a:srgbClr val="84CC16"/>
            </a:solidFill>
            <a:prstDash val="solid"/>
          </a:ln>
        </p:spPr>
      </p:sp>
      <p:sp>
        <p:nvSpPr>
          <p:cNvPr id="20" name="Shape 18"/>
          <p:cNvSpPr/>
          <p:nvPr/>
        </p:nvSpPr>
        <p:spPr>
          <a:xfrm>
            <a:off x="9098280" y="3822192"/>
            <a:ext cx="2697480" cy="45720"/>
          </a:xfrm>
          <a:prstGeom prst="rect">
            <a:avLst/>
          </a:prstGeom>
          <a:solidFill>
            <a:srgbClr val="84CC16"/>
          </a:solidFill>
          <a:ln/>
        </p:spPr>
      </p:sp>
      <p:sp>
        <p:nvSpPr>
          <p:cNvPr id="21" name="Text 19"/>
          <p:cNvSpPr/>
          <p:nvPr/>
        </p:nvSpPr>
        <p:spPr>
          <a:xfrm>
            <a:off x="9235440" y="3913632"/>
            <a:ext cx="2468880" cy="640080"/>
          </a:xfrm>
          <a:prstGeom prst="rect">
            <a:avLst/>
          </a:prstGeom>
          <a:noFill/>
          <a:ln/>
        </p:spPr>
        <p:txBody>
          <a:bodyPr wrap="square" rtlCol="0" anchor="ctr"/>
          <a:lstStyle/>
          <a:p>
            <a:pPr indent="0" marL="0">
              <a:buNone/>
            </a:pPr>
            <a:r>
              <a:rPr lang="en-US" sz="3000" b="1" dirty="0">
                <a:solidFill>
                  <a:srgbClr val="84CC16"/>
                </a:solidFill>
                <a:latin typeface="Arial Black" pitchFamily="34" charset="0"/>
                <a:ea typeface="Arial Black" pitchFamily="34" charset="-122"/>
                <a:cs typeface="Arial Black" pitchFamily="34" charset="-120"/>
              </a:rPr>
              <a:t>3 months</a:t>
            </a:r>
            <a:endParaRPr lang="en-US" sz="3000" dirty="0"/>
          </a:p>
        </p:txBody>
      </p:sp>
      <p:sp>
        <p:nvSpPr>
          <p:cNvPr id="22" name="Text 20"/>
          <p:cNvSpPr/>
          <p:nvPr/>
        </p:nvSpPr>
        <p:spPr>
          <a:xfrm>
            <a:off x="9235440" y="4553712"/>
            <a:ext cx="2468880" cy="1828800"/>
          </a:xfrm>
          <a:prstGeom prst="rect">
            <a:avLst/>
          </a:prstGeom>
          <a:noFill/>
          <a:ln/>
        </p:spPr>
        <p:txBody>
          <a:bodyPr wrap="square" rtlCol="0" anchor="ctr"/>
          <a:lstStyle/>
          <a:p>
            <a:pPr indent="0" marL="0">
              <a:lnSpc>
                <a:spcPct val="130000"/>
              </a:lnSpc>
              <a:buNone/>
            </a:pPr>
            <a:r>
              <a:rPr lang="en-US" sz="1050" dirty="0">
                <a:solidFill>
                  <a:srgbClr val="8888AA"/>
                </a:solidFill>
                <a:latin typeface="Arial" pitchFamily="34" charset="0"/>
                <a:ea typeface="Arial" pitchFamily="34" charset="-122"/>
                <a:cs typeface="Arial" pitchFamily="34" charset="-120"/>
              </a:rPr>
              <a:t>From now, a student who enrolls today has a GitHub portfolio and interview offers. The one who waited has a wish list.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p:spPr>
      </p:sp>
      <p:sp>
        <p:nvSpPr>
          <p:cNvPr id="3" name="Text 1"/>
          <p:cNvSpPr/>
          <p:nvPr/>
        </p:nvSpPr>
        <p:spPr>
          <a:xfrm>
            <a:off x="457200" y="640080"/>
            <a:ext cx="6858000" cy="2194560"/>
          </a:xfrm>
          <a:prstGeom prst="rect">
            <a:avLst/>
          </a:prstGeom>
          <a:noFill/>
          <a:ln/>
        </p:spPr>
        <p:txBody>
          <a:bodyPr wrap="square" rtlCol="0" anchor="ctr"/>
          <a:lstStyle/>
          <a:p>
            <a:pPr indent="0" marL="0">
              <a:lnSpc>
                <a:spcPct val="92000"/>
              </a:lnSpc>
              <a:buNone/>
            </a:pPr>
            <a:r>
              <a:rPr lang="en-US" sz="5800" b="1" dirty="0">
                <a:solidFill>
                  <a:srgbClr val="FFFFFF"/>
                </a:solidFill>
                <a:latin typeface="Arial Black" pitchFamily="34" charset="0"/>
                <a:ea typeface="Arial Black" pitchFamily="34" charset="-122"/>
                <a:cs typeface="Arial Black" pitchFamily="34" charset="-120"/>
              </a:rPr>
              <a:t>YOUR CAREER STARTS</a:t>
            </a:r>
            <a:endParaRPr lang="en-US" sz="5800" dirty="0"/>
          </a:p>
          <a:p>
            <a:pPr indent="0" marL="0">
              <a:lnSpc>
                <a:spcPct val="92000"/>
              </a:lnSpc>
              <a:buNone/>
            </a:pPr>
            <a:r>
              <a:rPr lang="en-US" sz="5800" b="1" dirty="0">
                <a:solidFill>
                  <a:srgbClr val="FFFFFF"/>
                </a:solidFill>
                <a:latin typeface="Arial Black" pitchFamily="34" charset="0"/>
                <a:ea typeface="Arial Black" pitchFamily="34" charset="-122"/>
                <a:cs typeface="Arial Black" pitchFamily="34" charset="-120"/>
              </a:rPr>
              <a:t>IN 12 WEEKS.</a:t>
            </a:r>
            <a:endParaRPr lang="en-US" sz="5800" dirty="0"/>
          </a:p>
        </p:txBody>
      </p:sp>
      <p:sp>
        <p:nvSpPr>
          <p:cNvPr id="4" name="Text 2"/>
          <p:cNvSpPr/>
          <p:nvPr/>
        </p:nvSpPr>
        <p:spPr>
          <a:xfrm>
            <a:off x="457200" y="2944368"/>
            <a:ext cx="6400800" cy="384048"/>
          </a:xfrm>
          <a:prstGeom prst="rect">
            <a:avLst/>
          </a:prstGeom>
          <a:noFill/>
          <a:ln/>
        </p:spPr>
        <p:txBody>
          <a:bodyPr wrap="square" rtlCol="0" anchor="ctr"/>
          <a:lstStyle/>
          <a:p>
            <a:pPr indent="0" marL="0">
              <a:buNone/>
            </a:pPr>
            <a:r>
              <a:rPr lang="en-US" sz="1500" dirty="0">
                <a:solidFill>
                  <a:srgbClr val="8888AA"/>
                </a:solidFill>
                <a:latin typeface="Arial" pitchFamily="34" charset="0"/>
                <a:ea typeface="Arial" pitchFamily="34" charset="-122"/>
                <a:cs typeface="Arial" pitchFamily="34" charset="-120"/>
              </a:rPr>
              <a:t>Next batch enrolling now. Early Bird seats limited.</a:t>
            </a:r>
            <a:endParaRPr lang="en-US" sz="1500" dirty="0"/>
          </a:p>
        </p:txBody>
      </p:sp>
      <p:sp>
        <p:nvSpPr>
          <p:cNvPr id="5" name="Text 3"/>
          <p:cNvSpPr/>
          <p:nvPr/>
        </p:nvSpPr>
        <p:spPr>
          <a:xfrm>
            <a:off x="457200" y="3493008"/>
            <a:ext cx="5029200" cy="365760"/>
          </a:xfrm>
          <a:prstGeom prst="rect">
            <a:avLst/>
          </a:prstGeom>
          <a:noFill/>
          <a:ln/>
        </p:spPr>
        <p:txBody>
          <a:bodyPr wrap="square" rtlCol="0" anchor="ctr"/>
          <a:lstStyle/>
          <a:p>
            <a:pPr indent="0" marL="0">
              <a:buNone/>
            </a:pPr>
            <a:r>
              <a:rPr lang="en-US" sz="1250" dirty="0">
                <a:solidFill>
                  <a:srgbClr val="84CC16"/>
                </a:solidFill>
                <a:latin typeface="Courier New" pitchFamily="34" charset="0"/>
                <a:ea typeface="Courier New" pitchFamily="34" charset="-122"/>
                <a:cs typeface="Courier New" pitchFamily="34" charset="-120"/>
              </a:rPr>
              <a:t>✓  7-day refund guarantee</a:t>
            </a:r>
            <a:endParaRPr lang="en-US" sz="1250" dirty="0"/>
          </a:p>
        </p:txBody>
      </p:sp>
      <p:sp>
        <p:nvSpPr>
          <p:cNvPr id="6" name="Text 4"/>
          <p:cNvSpPr/>
          <p:nvPr/>
        </p:nvSpPr>
        <p:spPr>
          <a:xfrm>
            <a:off x="457200" y="3895344"/>
            <a:ext cx="5029200" cy="365760"/>
          </a:xfrm>
          <a:prstGeom prst="rect">
            <a:avLst/>
          </a:prstGeom>
          <a:noFill/>
          <a:ln/>
        </p:spPr>
        <p:txBody>
          <a:bodyPr wrap="square" rtlCol="0" anchor="ctr"/>
          <a:lstStyle/>
          <a:p>
            <a:pPr indent="0" marL="0">
              <a:buNone/>
            </a:pPr>
            <a:r>
              <a:rPr lang="en-US" sz="1250" dirty="0">
                <a:solidFill>
                  <a:srgbClr val="84CC16"/>
                </a:solidFill>
                <a:latin typeface="Courier New" pitchFamily="34" charset="0"/>
                <a:ea typeface="Courier New" pitchFamily="34" charset="-122"/>
                <a:cs typeface="Courier New" pitchFamily="34" charset="-120"/>
              </a:rPr>
              <a:t>✓  Lifetime module access</a:t>
            </a:r>
            <a:endParaRPr lang="en-US" sz="1250" dirty="0"/>
          </a:p>
        </p:txBody>
      </p:sp>
      <p:sp>
        <p:nvSpPr>
          <p:cNvPr id="7" name="Text 5"/>
          <p:cNvSpPr/>
          <p:nvPr/>
        </p:nvSpPr>
        <p:spPr>
          <a:xfrm>
            <a:off x="457200" y="4297680"/>
            <a:ext cx="5029200" cy="365760"/>
          </a:xfrm>
          <a:prstGeom prst="rect">
            <a:avLst/>
          </a:prstGeom>
          <a:noFill/>
          <a:ln/>
        </p:spPr>
        <p:txBody>
          <a:bodyPr wrap="square" rtlCol="0" anchor="ctr"/>
          <a:lstStyle/>
          <a:p>
            <a:pPr indent="0" marL="0">
              <a:buNone/>
            </a:pPr>
            <a:r>
              <a:rPr lang="en-US" sz="1250" dirty="0">
                <a:solidFill>
                  <a:srgbClr val="84CC16"/>
                </a:solidFill>
                <a:latin typeface="Courier New" pitchFamily="34" charset="0"/>
                <a:ea typeface="Courier New" pitchFamily="34" charset="-122"/>
                <a:cs typeface="Courier New" pitchFamily="34" charset="-120"/>
              </a:rPr>
              <a:t>✓  GitHub portfolio deliverables</a:t>
            </a:r>
            <a:endParaRPr lang="en-US" sz="1250" dirty="0"/>
          </a:p>
        </p:txBody>
      </p:sp>
      <p:sp>
        <p:nvSpPr>
          <p:cNvPr id="8" name="Text 6"/>
          <p:cNvSpPr/>
          <p:nvPr/>
        </p:nvSpPr>
        <p:spPr>
          <a:xfrm>
            <a:off x="457200" y="4700016"/>
            <a:ext cx="5029200" cy="365760"/>
          </a:xfrm>
          <a:prstGeom prst="rect">
            <a:avLst/>
          </a:prstGeom>
          <a:noFill/>
          <a:ln/>
        </p:spPr>
        <p:txBody>
          <a:bodyPr wrap="square" rtlCol="0" anchor="ctr"/>
          <a:lstStyle/>
          <a:p>
            <a:pPr indent="0" marL="0">
              <a:buNone/>
            </a:pPr>
            <a:r>
              <a:rPr lang="en-US" sz="1250" dirty="0">
                <a:solidFill>
                  <a:srgbClr val="84CC16"/>
                </a:solidFill>
                <a:latin typeface="Courier New" pitchFamily="34" charset="0"/>
                <a:ea typeface="Courier New" pitchFamily="34" charset="-122"/>
                <a:cs typeface="Courier New" pitchFamily="34" charset="-120"/>
              </a:rPr>
              <a:t>✓  CEH v13 + OWASP aligned</a:t>
            </a:r>
            <a:endParaRPr lang="en-US" sz="1250" dirty="0"/>
          </a:p>
        </p:txBody>
      </p:sp>
      <p:sp>
        <p:nvSpPr>
          <p:cNvPr id="9" name="Text 7"/>
          <p:cNvSpPr/>
          <p:nvPr/>
        </p:nvSpPr>
        <p:spPr>
          <a:xfrm>
            <a:off x="457200" y="5102352"/>
            <a:ext cx="5029200" cy="365760"/>
          </a:xfrm>
          <a:prstGeom prst="rect">
            <a:avLst/>
          </a:prstGeom>
          <a:noFill/>
          <a:ln/>
        </p:spPr>
        <p:txBody>
          <a:bodyPr wrap="square" rtlCol="0" anchor="ctr"/>
          <a:lstStyle/>
          <a:p>
            <a:pPr indent="0" marL="0">
              <a:buNone/>
            </a:pPr>
            <a:r>
              <a:rPr lang="en-US" sz="1250" dirty="0">
                <a:solidFill>
                  <a:srgbClr val="84CC16"/>
                </a:solidFill>
                <a:latin typeface="Courier New" pitchFamily="34" charset="0"/>
                <a:ea typeface="Courier New" pitchFamily="34" charset="-122"/>
                <a:cs typeface="Courier New" pitchFamily="34" charset="-120"/>
              </a:rPr>
              <a:t>✓  India-first content (DPDP, CERT-In)</a:t>
            </a:r>
            <a:endParaRPr lang="en-US" sz="1250" dirty="0"/>
          </a:p>
        </p:txBody>
      </p:sp>
      <p:sp>
        <p:nvSpPr>
          <p:cNvPr id="10" name="Text 8"/>
          <p:cNvSpPr/>
          <p:nvPr/>
        </p:nvSpPr>
        <p:spPr>
          <a:xfrm>
            <a:off x="457200" y="5742432"/>
            <a:ext cx="5486400" cy="411480"/>
          </a:xfrm>
          <a:prstGeom prst="rect">
            <a:avLst/>
          </a:prstGeom>
          <a:noFill/>
          <a:ln/>
        </p:spPr>
        <p:txBody>
          <a:bodyPr wrap="square" rtlCol="0" anchor="ctr"/>
          <a:lstStyle/>
          <a:p>
            <a:pPr indent="0" marL="0">
              <a:buNone/>
            </a:pPr>
            <a:r>
              <a:rPr lang="en-US" sz="1350" b="1" dirty="0">
                <a:solidFill>
                  <a:srgbClr val="F5C518"/>
                </a:solidFill>
                <a:latin typeface="Courier New" pitchFamily="34" charset="0"/>
                <a:ea typeface="Courier New" pitchFamily="34" charset="-122"/>
                <a:cs typeface="Courier New" pitchFamily="34" charset="-120"/>
              </a:rPr>
              <a:t>📩  Enroll at: cybersecpro.in/enroll</a:t>
            </a:r>
            <a:endParaRPr lang="en-US" sz="1350" dirty="0"/>
          </a:p>
        </p:txBody>
      </p:sp>
      <p:sp>
        <p:nvSpPr>
          <p:cNvPr id="11" name="Shape 9"/>
          <p:cNvSpPr/>
          <p:nvPr/>
        </p:nvSpPr>
        <p:spPr>
          <a:xfrm>
            <a:off x="7406640" y="548640"/>
            <a:ext cx="4434840" cy="5989320"/>
          </a:xfrm>
          <a:prstGeom prst="rect">
            <a:avLst/>
          </a:prstGeom>
          <a:solidFill>
            <a:srgbClr val="1A1A28"/>
          </a:solidFill>
          <a:ln w="12700">
            <a:solidFill>
              <a:srgbClr val="F5C518"/>
            </a:solidFill>
            <a:prstDash val="solid"/>
          </a:ln>
        </p:spPr>
      </p:sp>
      <p:sp>
        <p:nvSpPr>
          <p:cNvPr id="12" name="Shape 10"/>
          <p:cNvSpPr/>
          <p:nvPr/>
        </p:nvSpPr>
        <p:spPr>
          <a:xfrm>
            <a:off x="7406640" y="548640"/>
            <a:ext cx="4434840" cy="45720"/>
          </a:xfrm>
          <a:prstGeom prst="rect">
            <a:avLst/>
          </a:prstGeom>
          <a:solidFill>
            <a:srgbClr val="F5C518"/>
          </a:solidFill>
          <a:ln/>
        </p:spPr>
      </p:sp>
      <p:sp>
        <p:nvSpPr>
          <p:cNvPr id="13" name="Text 11"/>
          <p:cNvSpPr/>
          <p:nvPr/>
        </p:nvSpPr>
        <p:spPr>
          <a:xfrm>
            <a:off x="7589520" y="685800"/>
            <a:ext cx="4114800" cy="365760"/>
          </a:xfrm>
          <a:prstGeom prst="rect">
            <a:avLst/>
          </a:prstGeom>
          <a:noFill/>
          <a:ln/>
        </p:spPr>
        <p:txBody>
          <a:bodyPr wrap="square" rtlCol="0" anchor="ctr"/>
          <a:lstStyle/>
          <a:p>
            <a:pPr indent="0" marL="0">
              <a:buNone/>
            </a:pPr>
            <a:r>
              <a:rPr lang="en-US" sz="1300" b="1" dirty="0">
                <a:solidFill>
                  <a:srgbClr val="F5C518"/>
                </a:solidFill>
                <a:latin typeface="Arial" pitchFamily="34" charset="0"/>
                <a:ea typeface="Arial" pitchFamily="34" charset="-122"/>
                <a:cs typeface="Arial" pitchFamily="34" charset="-120"/>
              </a:rPr>
              <a:t>Programme Summary</a:t>
            </a:r>
            <a:endParaRPr lang="en-US" sz="1300" dirty="0"/>
          </a:p>
        </p:txBody>
      </p:sp>
      <p:sp>
        <p:nvSpPr>
          <p:cNvPr id="14" name="Shape 12"/>
          <p:cNvSpPr/>
          <p:nvPr/>
        </p:nvSpPr>
        <p:spPr>
          <a:xfrm>
            <a:off x="7452360" y="1207008"/>
            <a:ext cx="4343400" cy="9144"/>
          </a:xfrm>
          <a:prstGeom prst="rect">
            <a:avLst/>
          </a:prstGeom>
          <a:solidFill>
            <a:srgbClr val="2A2A40"/>
          </a:solidFill>
          <a:ln w="12700">
            <a:solidFill>
              <a:srgbClr val="2A2A40"/>
            </a:solidFill>
            <a:prstDash val="solid"/>
          </a:ln>
        </p:spPr>
      </p:sp>
      <p:sp>
        <p:nvSpPr>
          <p:cNvPr id="15" name="Text 13"/>
          <p:cNvSpPr/>
          <p:nvPr/>
        </p:nvSpPr>
        <p:spPr>
          <a:xfrm>
            <a:off x="7589520" y="1234440"/>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Duration</a:t>
            </a:r>
            <a:endParaRPr lang="en-US" sz="950" dirty="0"/>
          </a:p>
        </p:txBody>
      </p:sp>
      <p:sp>
        <p:nvSpPr>
          <p:cNvPr id="16" name="Text 14"/>
          <p:cNvSpPr/>
          <p:nvPr/>
        </p:nvSpPr>
        <p:spPr>
          <a:xfrm>
            <a:off x="9098280" y="1234440"/>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12 Weeks / 3 Months</a:t>
            </a:r>
            <a:endParaRPr lang="en-US" sz="950" dirty="0"/>
          </a:p>
        </p:txBody>
      </p:sp>
      <p:sp>
        <p:nvSpPr>
          <p:cNvPr id="17" name="Shape 15"/>
          <p:cNvSpPr/>
          <p:nvPr/>
        </p:nvSpPr>
        <p:spPr>
          <a:xfrm>
            <a:off x="7452360" y="1600200"/>
            <a:ext cx="4343400" cy="9144"/>
          </a:xfrm>
          <a:prstGeom prst="rect">
            <a:avLst/>
          </a:prstGeom>
          <a:solidFill>
            <a:srgbClr val="2A2A40"/>
          </a:solidFill>
          <a:ln w="12700">
            <a:solidFill>
              <a:srgbClr val="2A2A40"/>
            </a:solidFill>
            <a:prstDash val="solid"/>
          </a:ln>
        </p:spPr>
      </p:sp>
      <p:sp>
        <p:nvSpPr>
          <p:cNvPr id="18" name="Text 16"/>
          <p:cNvSpPr/>
          <p:nvPr/>
        </p:nvSpPr>
        <p:spPr>
          <a:xfrm>
            <a:off x="7589520" y="1627632"/>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Daily Effort</a:t>
            </a:r>
            <a:endParaRPr lang="en-US" sz="950" dirty="0"/>
          </a:p>
        </p:txBody>
      </p:sp>
      <p:sp>
        <p:nvSpPr>
          <p:cNvPr id="19" name="Text 17"/>
          <p:cNvSpPr/>
          <p:nvPr/>
        </p:nvSpPr>
        <p:spPr>
          <a:xfrm>
            <a:off x="9098280" y="1627632"/>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2–3 hrs/day</a:t>
            </a:r>
            <a:endParaRPr lang="en-US" sz="950" dirty="0"/>
          </a:p>
        </p:txBody>
      </p:sp>
      <p:sp>
        <p:nvSpPr>
          <p:cNvPr id="20" name="Shape 18"/>
          <p:cNvSpPr/>
          <p:nvPr/>
        </p:nvSpPr>
        <p:spPr>
          <a:xfrm>
            <a:off x="7452360" y="1993392"/>
            <a:ext cx="4343400" cy="9144"/>
          </a:xfrm>
          <a:prstGeom prst="rect">
            <a:avLst/>
          </a:prstGeom>
          <a:solidFill>
            <a:srgbClr val="2A2A40"/>
          </a:solidFill>
          <a:ln w="12700">
            <a:solidFill>
              <a:srgbClr val="2A2A40"/>
            </a:solidFill>
            <a:prstDash val="solid"/>
          </a:ln>
        </p:spPr>
      </p:sp>
      <p:sp>
        <p:nvSpPr>
          <p:cNvPr id="21" name="Text 19"/>
          <p:cNvSpPr/>
          <p:nvPr/>
        </p:nvSpPr>
        <p:spPr>
          <a:xfrm>
            <a:off x="7589520" y="2020824"/>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Total Hours</a:t>
            </a:r>
            <a:endParaRPr lang="en-US" sz="950" dirty="0"/>
          </a:p>
        </p:txBody>
      </p:sp>
      <p:sp>
        <p:nvSpPr>
          <p:cNvPr id="22" name="Text 20"/>
          <p:cNvSpPr/>
          <p:nvPr/>
        </p:nvSpPr>
        <p:spPr>
          <a:xfrm>
            <a:off x="9098280" y="2020824"/>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~120–130 hours</a:t>
            </a:r>
            <a:endParaRPr lang="en-US" sz="950" dirty="0"/>
          </a:p>
        </p:txBody>
      </p:sp>
      <p:sp>
        <p:nvSpPr>
          <p:cNvPr id="23" name="Shape 21"/>
          <p:cNvSpPr/>
          <p:nvPr/>
        </p:nvSpPr>
        <p:spPr>
          <a:xfrm>
            <a:off x="7452360" y="2386584"/>
            <a:ext cx="4343400" cy="9144"/>
          </a:xfrm>
          <a:prstGeom prst="rect">
            <a:avLst/>
          </a:prstGeom>
          <a:solidFill>
            <a:srgbClr val="2A2A40"/>
          </a:solidFill>
          <a:ln w="12700">
            <a:solidFill>
              <a:srgbClr val="2A2A40"/>
            </a:solidFill>
            <a:prstDash val="solid"/>
          </a:ln>
        </p:spPr>
      </p:sp>
      <p:sp>
        <p:nvSpPr>
          <p:cNvPr id="24" name="Text 22"/>
          <p:cNvSpPr/>
          <p:nvPr/>
        </p:nvSpPr>
        <p:spPr>
          <a:xfrm>
            <a:off x="7589520" y="2414016"/>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Topics</a:t>
            </a:r>
            <a:endParaRPr lang="en-US" sz="950" dirty="0"/>
          </a:p>
        </p:txBody>
      </p:sp>
      <p:sp>
        <p:nvSpPr>
          <p:cNvPr id="25" name="Text 23"/>
          <p:cNvSpPr/>
          <p:nvPr/>
        </p:nvSpPr>
        <p:spPr>
          <a:xfrm>
            <a:off x="9098280" y="2414016"/>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231 checkable topics</a:t>
            </a:r>
            <a:endParaRPr lang="en-US" sz="950" dirty="0"/>
          </a:p>
        </p:txBody>
      </p:sp>
      <p:sp>
        <p:nvSpPr>
          <p:cNvPr id="26" name="Shape 24"/>
          <p:cNvSpPr/>
          <p:nvPr/>
        </p:nvSpPr>
        <p:spPr>
          <a:xfrm>
            <a:off x="7452360" y="2779776"/>
            <a:ext cx="4343400" cy="9144"/>
          </a:xfrm>
          <a:prstGeom prst="rect">
            <a:avLst/>
          </a:prstGeom>
          <a:solidFill>
            <a:srgbClr val="2A2A40"/>
          </a:solidFill>
          <a:ln w="12700">
            <a:solidFill>
              <a:srgbClr val="2A2A40"/>
            </a:solidFill>
            <a:prstDash val="solid"/>
          </a:ln>
        </p:spPr>
      </p:sp>
      <p:sp>
        <p:nvSpPr>
          <p:cNvPr id="27" name="Text 25"/>
          <p:cNvSpPr/>
          <p:nvPr/>
        </p:nvSpPr>
        <p:spPr>
          <a:xfrm>
            <a:off x="7589520" y="2807208"/>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Labs</a:t>
            </a:r>
            <a:endParaRPr lang="en-US" sz="950" dirty="0"/>
          </a:p>
        </p:txBody>
      </p:sp>
      <p:sp>
        <p:nvSpPr>
          <p:cNvPr id="28" name="Text 26"/>
          <p:cNvSpPr/>
          <p:nvPr/>
        </p:nvSpPr>
        <p:spPr>
          <a:xfrm>
            <a:off x="9098280" y="2807208"/>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50+ hands-on labs</a:t>
            </a:r>
            <a:endParaRPr lang="en-US" sz="950" dirty="0"/>
          </a:p>
        </p:txBody>
      </p:sp>
      <p:sp>
        <p:nvSpPr>
          <p:cNvPr id="29" name="Shape 27"/>
          <p:cNvSpPr/>
          <p:nvPr/>
        </p:nvSpPr>
        <p:spPr>
          <a:xfrm>
            <a:off x="7452360" y="3172968"/>
            <a:ext cx="4343400" cy="9144"/>
          </a:xfrm>
          <a:prstGeom prst="rect">
            <a:avLst/>
          </a:prstGeom>
          <a:solidFill>
            <a:srgbClr val="2A2A40"/>
          </a:solidFill>
          <a:ln w="12700">
            <a:solidFill>
              <a:srgbClr val="2A2A40"/>
            </a:solidFill>
            <a:prstDash val="solid"/>
          </a:ln>
        </p:spPr>
      </p:sp>
      <p:sp>
        <p:nvSpPr>
          <p:cNvPr id="30" name="Text 28"/>
          <p:cNvSpPr/>
          <p:nvPr/>
        </p:nvSpPr>
        <p:spPr>
          <a:xfrm>
            <a:off x="7589520" y="3200400"/>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Portfolio</a:t>
            </a:r>
            <a:endParaRPr lang="en-US" sz="950" dirty="0"/>
          </a:p>
        </p:txBody>
      </p:sp>
      <p:sp>
        <p:nvSpPr>
          <p:cNvPr id="31" name="Text 29"/>
          <p:cNvSpPr/>
          <p:nvPr/>
        </p:nvSpPr>
        <p:spPr>
          <a:xfrm>
            <a:off x="9098280" y="3200400"/>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8 deliverables</a:t>
            </a:r>
            <a:endParaRPr lang="en-US" sz="950" dirty="0"/>
          </a:p>
        </p:txBody>
      </p:sp>
      <p:sp>
        <p:nvSpPr>
          <p:cNvPr id="32" name="Shape 30"/>
          <p:cNvSpPr/>
          <p:nvPr/>
        </p:nvSpPr>
        <p:spPr>
          <a:xfrm>
            <a:off x="7452360" y="3566160"/>
            <a:ext cx="4343400" cy="9144"/>
          </a:xfrm>
          <a:prstGeom prst="rect">
            <a:avLst/>
          </a:prstGeom>
          <a:solidFill>
            <a:srgbClr val="2A2A40"/>
          </a:solidFill>
          <a:ln w="12700">
            <a:solidFill>
              <a:srgbClr val="2A2A40"/>
            </a:solidFill>
            <a:prstDash val="solid"/>
          </a:ln>
        </p:spPr>
      </p:sp>
      <p:sp>
        <p:nvSpPr>
          <p:cNvPr id="33" name="Text 31"/>
          <p:cNvSpPr/>
          <p:nvPr/>
        </p:nvSpPr>
        <p:spPr>
          <a:xfrm>
            <a:off x="7589520" y="3593592"/>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Tech Track</a:t>
            </a:r>
            <a:endParaRPr lang="en-US" sz="950" dirty="0"/>
          </a:p>
        </p:txBody>
      </p:sp>
      <p:sp>
        <p:nvSpPr>
          <p:cNvPr id="34" name="Text 32"/>
          <p:cNvSpPr/>
          <p:nvPr/>
        </p:nvSpPr>
        <p:spPr>
          <a:xfrm>
            <a:off x="9098280" y="3593592"/>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Security → VAPT → CEH → SOC → Cloud</a:t>
            </a:r>
            <a:endParaRPr lang="en-US" sz="950" dirty="0"/>
          </a:p>
        </p:txBody>
      </p:sp>
      <p:sp>
        <p:nvSpPr>
          <p:cNvPr id="35" name="Shape 33"/>
          <p:cNvSpPr/>
          <p:nvPr/>
        </p:nvSpPr>
        <p:spPr>
          <a:xfrm>
            <a:off x="7452360" y="3959352"/>
            <a:ext cx="4343400" cy="9144"/>
          </a:xfrm>
          <a:prstGeom prst="rect">
            <a:avLst/>
          </a:prstGeom>
          <a:solidFill>
            <a:srgbClr val="2A2A40"/>
          </a:solidFill>
          <a:ln w="12700">
            <a:solidFill>
              <a:srgbClr val="2A2A40"/>
            </a:solidFill>
            <a:prstDash val="solid"/>
          </a:ln>
        </p:spPr>
      </p:sp>
      <p:sp>
        <p:nvSpPr>
          <p:cNvPr id="36" name="Text 34"/>
          <p:cNvSpPr/>
          <p:nvPr/>
        </p:nvSpPr>
        <p:spPr>
          <a:xfrm>
            <a:off x="7589520" y="3986784"/>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GRC Track</a:t>
            </a:r>
            <a:endParaRPr lang="en-US" sz="950" dirty="0"/>
          </a:p>
        </p:txBody>
      </p:sp>
      <p:sp>
        <p:nvSpPr>
          <p:cNvPr id="37" name="Text 35"/>
          <p:cNvSpPr/>
          <p:nvPr/>
        </p:nvSpPr>
        <p:spPr>
          <a:xfrm>
            <a:off x="9098280" y="3986784"/>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ISO 27001 → NIST → DPDP → RBI</a:t>
            </a:r>
            <a:endParaRPr lang="en-US" sz="950" dirty="0"/>
          </a:p>
        </p:txBody>
      </p:sp>
      <p:sp>
        <p:nvSpPr>
          <p:cNvPr id="38" name="Shape 36"/>
          <p:cNvSpPr/>
          <p:nvPr/>
        </p:nvSpPr>
        <p:spPr>
          <a:xfrm>
            <a:off x="7452360" y="4352544"/>
            <a:ext cx="4343400" cy="9144"/>
          </a:xfrm>
          <a:prstGeom prst="rect">
            <a:avLst/>
          </a:prstGeom>
          <a:solidFill>
            <a:srgbClr val="2A2A40"/>
          </a:solidFill>
          <a:ln w="12700">
            <a:solidFill>
              <a:srgbClr val="2A2A40"/>
            </a:solidFill>
            <a:prstDash val="solid"/>
          </a:ln>
        </p:spPr>
      </p:sp>
      <p:sp>
        <p:nvSpPr>
          <p:cNvPr id="39" name="Text 37"/>
          <p:cNvSpPr/>
          <p:nvPr/>
        </p:nvSpPr>
        <p:spPr>
          <a:xfrm>
            <a:off x="7589520" y="4379976"/>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AI Track</a:t>
            </a:r>
            <a:endParaRPr lang="en-US" sz="950" dirty="0"/>
          </a:p>
        </p:txBody>
      </p:sp>
      <p:sp>
        <p:nvSpPr>
          <p:cNvPr id="40" name="Text 38"/>
          <p:cNvSpPr/>
          <p:nvPr/>
        </p:nvSpPr>
        <p:spPr>
          <a:xfrm>
            <a:off x="9098280" y="4379976"/>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Claude MCP · LLM Security · Automation</a:t>
            </a:r>
            <a:endParaRPr lang="en-US" sz="950" dirty="0"/>
          </a:p>
        </p:txBody>
      </p:sp>
      <p:sp>
        <p:nvSpPr>
          <p:cNvPr id="41" name="Shape 39"/>
          <p:cNvSpPr/>
          <p:nvPr/>
        </p:nvSpPr>
        <p:spPr>
          <a:xfrm>
            <a:off x="7452360" y="4745736"/>
            <a:ext cx="4343400" cy="9144"/>
          </a:xfrm>
          <a:prstGeom prst="rect">
            <a:avLst/>
          </a:prstGeom>
          <a:solidFill>
            <a:srgbClr val="2A2A40"/>
          </a:solidFill>
          <a:ln w="12700">
            <a:solidFill>
              <a:srgbClr val="2A2A40"/>
            </a:solidFill>
            <a:prstDash val="solid"/>
          </a:ln>
        </p:spPr>
      </p:sp>
      <p:sp>
        <p:nvSpPr>
          <p:cNvPr id="42" name="Text 40"/>
          <p:cNvSpPr/>
          <p:nvPr/>
        </p:nvSpPr>
        <p:spPr>
          <a:xfrm>
            <a:off x="7589520" y="4773168"/>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Certifications</a:t>
            </a:r>
            <a:endParaRPr lang="en-US" sz="950" dirty="0"/>
          </a:p>
        </p:txBody>
      </p:sp>
      <p:sp>
        <p:nvSpPr>
          <p:cNvPr id="43" name="Text 41"/>
          <p:cNvSpPr/>
          <p:nvPr/>
        </p:nvSpPr>
        <p:spPr>
          <a:xfrm>
            <a:off x="9098280" y="4773168"/>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CEH aligned · ISO 27001 · Security+</a:t>
            </a:r>
            <a:endParaRPr lang="en-US" sz="950" dirty="0"/>
          </a:p>
        </p:txBody>
      </p:sp>
      <p:sp>
        <p:nvSpPr>
          <p:cNvPr id="44" name="Shape 42"/>
          <p:cNvSpPr/>
          <p:nvPr/>
        </p:nvSpPr>
        <p:spPr>
          <a:xfrm>
            <a:off x="7452360" y="5138928"/>
            <a:ext cx="4343400" cy="9144"/>
          </a:xfrm>
          <a:prstGeom prst="rect">
            <a:avLst/>
          </a:prstGeom>
          <a:solidFill>
            <a:srgbClr val="2A2A40"/>
          </a:solidFill>
          <a:ln w="12700">
            <a:solidFill>
              <a:srgbClr val="2A2A40"/>
            </a:solidFill>
            <a:prstDash val="solid"/>
          </a:ln>
        </p:spPr>
      </p:sp>
      <p:sp>
        <p:nvSpPr>
          <p:cNvPr id="45" name="Text 43"/>
          <p:cNvSpPr/>
          <p:nvPr/>
        </p:nvSpPr>
        <p:spPr>
          <a:xfrm>
            <a:off x="7589520" y="5166360"/>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India Laws</a:t>
            </a:r>
            <a:endParaRPr lang="en-US" sz="950" dirty="0"/>
          </a:p>
        </p:txBody>
      </p:sp>
      <p:sp>
        <p:nvSpPr>
          <p:cNvPr id="46" name="Text 44"/>
          <p:cNvSpPr/>
          <p:nvPr/>
        </p:nvSpPr>
        <p:spPr>
          <a:xfrm>
            <a:off x="9098280" y="5166360"/>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DPDP 2023 · CERT-In · IT Act · RBI</a:t>
            </a:r>
            <a:endParaRPr lang="en-US" sz="950" dirty="0"/>
          </a:p>
        </p:txBody>
      </p:sp>
      <p:sp>
        <p:nvSpPr>
          <p:cNvPr id="47" name="Shape 45"/>
          <p:cNvSpPr/>
          <p:nvPr/>
        </p:nvSpPr>
        <p:spPr>
          <a:xfrm>
            <a:off x="7452360" y="5532120"/>
            <a:ext cx="4343400" cy="9144"/>
          </a:xfrm>
          <a:prstGeom prst="rect">
            <a:avLst/>
          </a:prstGeom>
          <a:solidFill>
            <a:srgbClr val="2A2A40"/>
          </a:solidFill>
          <a:ln w="12700">
            <a:solidFill>
              <a:srgbClr val="2A2A40"/>
            </a:solidFill>
            <a:prstDash val="solid"/>
          </a:ln>
        </p:spPr>
      </p:sp>
      <p:sp>
        <p:nvSpPr>
          <p:cNvPr id="48" name="Text 46"/>
          <p:cNvSpPr/>
          <p:nvPr/>
        </p:nvSpPr>
        <p:spPr>
          <a:xfrm>
            <a:off x="7589520" y="5559552"/>
            <a:ext cx="1463040" cy="347472"/>
          </a:xfrm>
          <a:prstGeom prst="rect">
            <a:avLst/>
          </a:prstGeom>
          <a:noFill/>
          <a:ln/>
        </p:spPr>
        <p:txBody>
          <a:bodyPr wrap="square" rtlCol="0" anchor="ctr"/>
          <a:lstStyle/>
          <a:p>
            <a:pPr indent="0" marL="0">
              <a:buNone/>
            </a:pPr>
            <a:r>
              <a:rPr lang="en-US" sz="950" dirty="0">
                <a:solidFill>
                  <a:srgbClr val="8888AA"/>
                </a:solidFill>
                <a:latin typeface="Courier New" pitchFamily="34" charset="0"/>
                <a:ea typeface="Courier New" pitchFamily="34" charset="-122"/>
                <a:cs typeface="Courier New" pitchFamily="34" charset="-120"/>
              </a:rPr>
              <a:t>Career Paths</a:t>
            </a:r>
            <a:endParaRPr lang="en-US" sz="950" dirty="0"/>
          </a:p>
        </p:txBody>
      </p:sp>
      <p:sp>
        <p:nvSpPr>
          <p:cNvPr id="49" name="Text 47"/>
          <p:cNvSpPr/>
          <p:nvPr/>
        </p:nvSpPr>
        <p:spPr>
          <a:xfrm>
            <a:off x="9098280" y="5559552"/>
            <a:ext cx="2560320" cy="347472"/>
          </a:xfrm>
          <a:prstGeom prst="rect">
            <a:avLst/>
          </a:prstGeom>
          <a:noFill/>
          <a:ln/>
        </p:spPr>
        <p:txBody>
          <a:bodyPr wrap="square"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SOC · VAPT · GRC · Cloud · DPDP · Freelance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2026-08-02T18:49:03Z</dcterms:created>
  <dcterms:modified xsi:type="dcterms:W3CDTF">2026-08-02T18:49:03Z</dcterms:modified>
</cp:coreProperties>
</file>